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internship context. Emphasize that LPAI Nexus is a fully working prototype built during the internship — not a concept or proposal document. This presentation covers the platform built, the problem it solves, and recommended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the extraordinary scale of India's land border challenge. The 15-fold trade increase is the most powerful number here — it shows that LPAI is managing explosive growth with infrastructure and processes designed for a fraction of current volumes. The case for AI is not theoretical; it is operational necessity.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 LPAI's strong existing digital foundation — LPMS, PIFS, and Suvidha are real achievements. Frame LPAI Nexus not as replacing these systems but as building the AI intelligence and unified command layer that connects and enhances them. This avoids any perception that the work dismisses existing investments.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card represents a real operational gap documented in LPAI's own reports and CBIC studies. The 31-hour import clearance time is the most striking — contrast it with Singapore's 4.5-hour average. Do not dwell here; acknowledge the gaps and pivot to the solution LPAI Nexus provides.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time the audience sees the actual platform. Let the screenshot speak for itself — pause for 10-15 seconds. Then point out the ICP selector (top), the Axiom briefing (center), and the module tabs (left nav). Emphasize that everything shown is fully functional and demonstrable right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Axiom is the differentiator between a data dashboard and an intelligence platform. Emphasize the 95% faster cargo processing figure — this is not aspirational, it reflects the speed difference between AI-assisted OCR and manual document review. The quote at the bottom is important for any officer in the room concerned about job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home screen every LPAI officer will see when they log in. Point out that the ICP selector (top right) instantly switches the entire dashboard to any of the 12 ICPs. The Axiom briefing at center replaces the morning MIS report — it synthesises overnight data into 4-5 actionable sentences.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Axiom assigns a risk score to every consignment automatically — the officer does not need to review all 847, only the 37 flagged. This is the operational transformation: attention directed by AI, not wasted on low-risk cargo. The four-lane system mirrors the established WCO risk management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queue prediction capability is the most impactful for passenger flow. Emphasize that Axiom analyses historical patterns, current arrival rates, and staffing to forecast 6 hours ahead. The ICP Commander can pre-deploy counters at 8am knowing that peak will hit at 2pm — currently this decision is reactive and too late.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surveillance gap is a genuine security risk — ICP perimeters are large and camera networks are expanding faster than officer rosters. Axiom does not make fatigue-related errors. The five detection types listed are based on standard computer vision capabilities deployable on Jetson Orin edge devices at remote ICPs with low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ANPR + VAHAN integration is the key capability here. Every vehicle entering the ICP is cross-checked against the VAHAN database and the blacklist in under 2 seconds — something that currently takes an officer 3-5 minutes per vehicle with manual checks. The weighbridge integration prevents the common fraud of mis-declaring cargo weight.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shown are from LPAI's own Annual Report 2023-24 — real operational data, not estimates. Point out that currently this data is only available after month-end consolidation. LPAI Nexus makes it available in real time, letting senior officials make decisions on current performance rather than last month's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walkthrough system is often the most impressive feature for non-technical audiences. The spotlight overlay and step-by-step guidance means any officer — even a Secretary who has never used a dashboard before — can self-onboard in 8 minutes. This directly addresses the change management risk in any government technology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about what is built vs what is planned. Layer 1 (the full platform) is working today. Layer 2 (Axiom) is implemented as a concept engine in the prototype. Layers 3-4 (live API integrations) require inter-agency data agreements and are Phase 2 work. This transparency builds credibility with a senior government audience.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CBIC Time Release Study 2023 figure (31 hours import clearance) as the anchor. These are real numbers from real government studies — LPAI Nexus targets represent international best-practice benchmarks. The improvements are conservative estimates based on comparable implementations at Singapore and EU smart border programs.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complete — the prototype exists and works. The ask to this audience is approval to proceed to Phase 2. Petrapole and Attari are the right pilot ICPs because they are the highest-volume ICPs on the Bangladesh and Pakistan borders respectively — success there validates the model for all 12. Phase 2 requires MOU agreements with CBIC and BoI.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important for a Secretary-level audience — it shows LPAI Nexus is not a student project but aligns with the highest levels of national policy direction. Cite the LPAI Annual Report line directly if asked: it explicitly calls for AI/ML integration in LPMS. LPAI Nexus is the prototype implementation of that stated vision.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benchmarks anchor LPAI Nexus in an international context. Singapore's Portnet is the gold standard — it required $200M+ investment over 5 years. LPAI Nexus proposes an AI-first approach that can reach equivalent outcomes faster by building on LPAI's existing LPMS infrastructure. Bangladesh's success with digital clearance is particularly relevant — it demonstrates the model works in the South Asian operational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Proactively addressing challenges signals technical credibility. The connectivity issue is real — do not dismiss it. Edge AI on Jetson Orin devices is a proven solution used by NVidia and Indian Railways. The data agreement lead time is the most critical challenge — it must begin before Phase 2 starts, not after.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recommendations are sequenced intentionally: Recommendation 1 is the immediate ask. Recommendation 2 is the structural ask for long-term success. Recommendation 3 is the parallel track that must start now regardless of the timeline for 1 and 2. Present them as a package — all three are needed for LPAI Nexus to reach its full potential.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impact slide before the conclusion — let the numbers land. Pause on '95% faster' and explain: 45 minutes becomes 2 minutes, for every single consignment, every day. The final banner is a call to action — offer the live demo explicitly. Senior officials are more likely to approve what they have seen working.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central argument of this presentation: the next leap in LPAI's effectiveness will come from intelligence, not more concrete. The three deliverable boxes show tangible output from the internship — not just ideas. Leave the audience with a clear mental model: prototype built, pilot ready, your approval needed.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offering a live demonstration of the platform. Have a browser tab open with the LPAI Nexus prototype ready — offer to walk through any module in detail. Leave the room knowing the three recommendations: pilot approval, technology division, and data sharing agreements. Thank the audience for their time and LPAI for the internship opportunity.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88952" cy="54864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02920"/>
            <a:ext cx="11274552" cy="365760"/>
          </a:xfrm>
          <a:prstGeom prst="rect">
            <a:avLst/>
          </a:prstGeom>
          <a:noFill/>
        </p:spPr>
        <p:txBody>
          <a:bodyPr wrap="square">
            <a:spAutoFit/>
          </a:bodyPr>
          <a:lstStyle/>
          <a:p>
            <a:pPr algn="ctr"/>
            <a:r>
              <a:rPr sz="1400" b="1" i="0">
                <a:solidFill>
                  <a:srgbClr val="FFFFFF"/>
                </a:solidFill>
                <a:latin typeface="Calibri"/>
              </a:rPr>
              <a:t>  GOVERNMENT OF INDIA</a:t>
            </a:r>
          </a:p>
        </p:txBody>
      </p:sp>
      <p:sp>
        <p:nvSpPr>
          <p:cNvPr id="6" name="TextBox 5"/>
          <p:cNvSpPr txBox="1"/>
          <p:nvPr/>
        </p:nvSpPr>
        <p:spPr>
          <a:xfrm>
            <a:off x="457200" y="914400"/>
            <a:ext cx="11274552" cy="320040"/>
          </a:xfrm>
          <a:prstGeom prst="rect">
            <a:avLst/>
          </a:prstGeom>
          <a:noFill/>
        </p:spPr>
        <p:txBody>
          <a:bodyPr wrap="square">
            <a:spAutoFit/>
          </a:bodyPr>
          <a:lstStyle/>
          <a:p>
            <a:pPr algn="ctr"/>
            <a:r>
              <a:rPr sz="1200" b="0" i="0">
                <a:solidFill>
                  <a:srgbClr val="CCDDFF"/>
                </a:solidFill>
                <a:latin typeface="Calibri"/>
              </a:rPr>
              <a:t>Ministry of Home Affairs  |  Land Port Authority of India</a:t>
            </a:r>
          </a:p>
        </p:txBody>
      </p:sp>
      <p:sp>
        <p:nvSpPr>
          <p:cNvPr id="7" name="Rectangle 6"/>
          <p:cNvSpPr/>
          <p:nvPr/>
        </p:nvSpPr>
        <p:spPr>
          <a:xfrm>
            <a:off x="3200400" y="1325880"/>
            <a:ext cx="5788152"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11274552" cy="777240"/>
          </a:xfrm>
          <a:prstGeom prst="rect">
            <a:avLst/>
          </a:prstGeom>
          <a:noFill/>
        </p:spPr>
        <p:txBody>
          <a:bodyPr wrap="square">
            <a:spAutoFit/>
          </a:bodyPr>
          <a:lstStyle/>
          <a:p>
            <a:pPr algn="ctr"/>
            <a:r>
              <a:rPr sz="3400" b="1" i="0">
                <a:solidFill>
                  <a:srgbClr val="FFFFFF"/>
                </a:solidFill>
                <a:latin typeface="Calibri"/>
              </a:rPr>
              <a:t>AI Integration in Land Port Authority of India</a:t>
            </a:r>
          </a:p>
        </p:txBody>
      </p:sp>
      <p:sp>
        <p:nvSpPr>
          <p:cNvPr id="9" name="TextBox 8"/>
          <p:cNvSpPr txBox="1"/>
          <p:nvPr/>
        </p:nvSpPr>
        <p:spPr>
          <a:xfrm>
            <a:off x="457200" y="2286000"/>
            <a:ext cx="11274552" cy="594360"/>
          </a:xfrm>
          <a:prstGeom prst="rect">
            <a:avLst/>
          </a:prstGeom>
          <a:noFill/>
        </p:spPr>
        <p:txBody>
          <a:bodyPr wrap="square">
            <a:spAutoFit/>
          </a:bodyPr>
          <a:lstStyle/>
          <a:p>
            <a:pPr algn="ctr"/>
            <a:r>
              <a:rPr sz="2600" b="1" i="0">
                <a:solidFill>
                  <a:srgbClr val="D4881A"/>
                </a:solidFill>
                <a:latin typeface="Calibri"/>
              </a:rPr>
              <a:t>LPAI Nexus — Smart Border Command Platform</a:t>
            </a:r>
          </a:p>
        </p:txBody>
      </p:sp>
      <p:sp>
        <p:nvSpPr>
          <p:cNvPr id="10" name="Rectangle 9"/>
          <p:cNvSpPr/>
          <p:nvPr/>
        </p:nvSpPr>
        <p:spPr>
          <a:xfrm>
            <a:off x="3200400" y="2971800"/>
            <a:ext cx="5788152"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108960"/>
            <a:ext cx="11274552" cy="320040"/>
          </a:xfrm>
          <a:prstGeom prst="rect">
            <a:avLst/>
          </a:prstGeom>
          <a:noFill/>
        </p:spPr>
        <p:txBody>
          <a:bodyPr wrap="square">
            <a:spAutoFit/>
          </a:bodyPr>
          <a:lstStyle/>
          <a:p>
            <a:pPr algn="ctr"/>
            <a:r>
              <a:rPr sz="1300" b="0" i="1">
                <a:solidFill>
                  <a:srgbClr val="CCDDFF"/>
                </a:solidFill>
                <a:latin typeface="Calibri"/>
              </a:rPr>
              <a:t>Internship Technical Presentation</a:t>
            </a:r>
          </a:p>
        </p:txBody>
      </p:sp>
      <p:sp>
        <p:nvSpPr>
          <p:cNvPr id="12" name="TextBox 11"/>
          <p:cNvSpPr txBox="1"/>
          <p:nvPr/>
        </p:nvSpPr>
        <p:spPr>
          <a:xfrm>
            <a:off x="457200" y="3520440"/>
            <a:ext cx="11274552" cy="365760"/>
          </a:xfrm>
          <a:prstGeom prst="rect">
            <a:avLst/>
          </a:prstGeom>
          <a:noFill/>
        </p:spPr>
        <p:txBody>
          <a:bodyPr wrap="square">
            <a:spAutoFit/>
          </a:bodyPr>
          <a:lstStyle/>
          <a:p>
            <a:pPr algn="ctr"/>
            <a:r>
              <a:rPr sz="1500" b="1" i="0">
                <a:solidFill>
                  <a:srgbClr val="FFFFFF"/>
                </a:solidFill>
                <a:latin typeface="Calibri"/>
              </a:rPr>
              <a:t>Himanshu  |  AI &amp; Software Engineering Intern, LPAI</a:t>
            </a:r>
          </a:p>
        </p:txBody>
      </p:sp>
      <p:sp>
        <p:nvSpPr>
          <p:cNvPr id="13" name="TextBox 12"/>
          <p:cNvSpPr txBox="1"/>
          <p:nvPr/>
        </p:nvSpPr>
        <p:spPr>
          <a:xfrm>
            <a:off x="457200" y="3931920"/>
            <a:ext cx="11274552" cy="320040"/>
          </a:xfrm>
          <a:prstGeom prst="rect">
            <a:avLst/>
          </a:prstGeom>
          <a:noFill/>
        </p:spPr>
        <p:txBody>
          <a:bodyPr wrap="square">
            <a:spAutoFit/>
          </a:bodyPr>
          <a:lstStyle/>
          <a:p>
            <a:pPr algn="ctr"/>
            <a:r>
              <a:rPr sz="1300" b="0" i="0">
                <a:solidFill>
                  <a:srgbClr val="CCDDFF"/>
                </a:solidFill>
                <a:latin typeface="Calibri"/>
              </a:rPr>
              <a:t>June 2026</a:t>
            </a:r>
          </a:p>
        </p:txBody>
      </p:sp>
      <p:sp>
        <p:nvSpPr>
          <p:cNvPr id="14" name="TextBox 13"/>
          <p:cNvSpPr txBox="1"/>
          <p:nvPr/>
        </p:nvSpPr>
        <p:spPr>
          <a:xfrm>
            <a:off x="274320" y="6355080"/>
            <a:ext cx="11612880" cy="365760"/>
          </a:xfrm>
          <a:prstGeom prst="rect">
            <a:avLst/>
          </a:prstGeom>
          <a:noFill/>
        </p:spPr>
        <p:txBody>
          <a:bodyPr wrap="square">
            <a:spAutoFit/>
          </a:bodyPr>
          <a:lstStyle/>
          <a:p>
            <a:pPr algn="ctr"/>
            <a:r>
              <a:rPr sz="1000" b="0" i="0">
                <a:solidFill>
                  <a:srgbClr val="8899BB"/>
                </a:solidFill>
                <a:latin typeface="Calibri"/>
              </a:rPr>
              <a:t>Land Port Authority of India  |  Ministry of Home Affairs  |  Government of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India's Land Borders — The Scale of the Challenge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2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India's Land Borders — The Scale of the Challenge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2651760" cy="15544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115568"/>
            <a:ext cx="2468880" cy="640080"/>
          </a:xfrm>
          <a:prstGeom prst="rect">
            <a:avLst/>
          </a:prstGeom>
          <a:noFill/>
        </p:spPr>
        <p:txBody>
          <a:bodyPr wrap="square">
            <a:spAutoFit/>
          </a:bodyPr>
          <a:lstStyle/>
          <a:p>
            <a:pPr algn="ctr"/>
            <a:r>
              <a:rPr sz="2800" b="1" i="0">
                <a:solidFill>
                  <a:srgbClr val="FFFFFF"/>
                </a:solidFill>
                <a:latin typeface="Calibri"/>
              </a:rPr>
              <a:t>15,200 KM</a:t>
            </a:r>
          </a:p>
        </p:txBody>
      </p:sp>
      <p:sp>
        <p:nvSpPr>
          <p:cNvPr id="14" name="TextBox 13"/>
          <p:cNvSpPr txBox="1"/>
          <p:nvPr/>
        </p:nvSpPr>
        <p:spPr>
          <a:xfrm>
            <a:off x="365760" y="1783080"/>
            <a:ext cx="2468880" cy="640080"/>
          </a:xfrm>
          <a:prstGeom prst="rect">
            <a:avLst/>
          </a:prstGeom>
          <a:noFill/>
        </p:spPr>
        <p:txBody>
          <a:bodyPr wrap="square">
            <a:spAutoFit/>
          </a:bodyPr>
          <a:lstStyle/>
          <a:p>
            <a:pPr algn="ctr"/>
            <a:r>
              <a:rPr sz="1000" b="0" i="0">
                <a:solidFill>
                  <a:srgbClr val="FFFFFF"/>
                </a:solidFill>
                <a:latin typeface="Calibri"/>
              </a:rPr>
              <a:t>International Land Border</a:t>
            </a:r>
          </a:p>
        </p:txBody>
      </p:sp>
      <p:sp>
        <p:nvSpPr>
          <p:cNvPr id="15" name="Rectangle 14"/>
          <p:cNvSpPr/>
          <p:nvPr/>
        </p:nvSpPr>
        <p:spPr>
          <a:xfrm>
            <a:off x="3108960" y="1005840"/>
            <a:ext cx="2651760" cy="155448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1115568"/>
            <a:ext cx="2468880" cy="640080"/>
          </a:xfrm>
          <a:prstGeom prst="rect">
            <a:avLst/>
          </a:prstGeom>
          <a:noFill/>
        </p:spPr>
        <p:txBody>
          <a:bodyPr wrap="square">
            <a:spAutoFit/>
          </a:bodyPr>
          <a:lstStyle/>
          <a:p>
            <a:pPr algn="ctr"/>
            <a:r>
              <a:rPr sz="2800" b="1" i="0">
                <a:solidFill>
                  <a:srgbClr val="1C1C2E"/>
                </a:solidFill>
                <a:latin typeface="Calibri"/>
              </a:rPr>
              <a:t>7 Countries</a:t>
            </a:r>
          </a:p>
        </p:txBody>
      </p:sp>
      <p:sp>
        <p:nvSpPr>
          <p:cNvPr id="17" name="TextBox 16"/>
          <p:cNvSpPr txBox="1"/>
          <p:nvPr/>
        </p:nvSpPr>
        <p:spPr>
          <a:xfrm>
            <a:off x="3200400" y="1783080"/>
            <a:ext cx="2468880" cy="640080"/>
          </a:xfrm>
          <a:prstGeom prst="rect">
            <a:avLst/>
          </a:prstGeom>
          <a:noFill/>
        </p:spPr>
        <p:txBody>
          <a:bodyPr wrap="square">
            <a:spAutoFit/>
          </a:bodyPr>
          <a:lstStyle/>
          <a:p>
            <a:pPr algn="ctr"/>
            <a:r>
              <a:rPr sz="1000" b="0" i="0">
                <a:solidFill>
                  <a:srgbClr val="1C1C2E"/>
                </a:solidFill>
                <a:latin typeface="Calibri"/>
              </a:rPr>
              <a:t>Afghanistan · Bangladesh · Bhutan
China · Myanmar · Nepal · Pakistan</a:t>
            </a:r>
          </a:p>
        </p:txBody>
      </p:sp>
      <p:sp>
        <p:nvSpPr>
          <p:cNvPr id="18" name="Rectangle 17"/>
          <p:cNvSpPr/>
          <p:nvPr/>
        </p:nvSpPr>
        <p:spPr>
          <a:xfrm>
            <a:off x="274320" y="2697480"/>
            <a:ext cx="2651760" cy="15544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807208"/>
            <a:ext cx="2468880" cy="640080"/>
          </a:xfrm>
          <a:prstGeom prst="rect">
            <a:avLst/>
          </a:prstGeom>
          <a:noFill/>
        </p:spPr>
        <p:txBody>
          <a:bodyPr wrap="square">
            <a:spAutoFit/>
          </a:bodyPr>
          <a:lstStyle/>
          <a:p>
            <a:pPr algn="ctr"/>
            <a:r>
              <a:rPr sz="2800" b="1" i="0">
                <a:solidFill>
                  <a:srgbClr val="FFFFFF"/>
                </a:solidFill>
                <a:latin typeface="Calibri"/>
              </a:rPr>
              <a:t>12 ICPs</a:t>
            </a:r>
          </a:p>
        </p:txBody>
      </p:sp>
      <p:sp>
        <p:nvSpPr>
          <p:cNvPr id="20" name="TextBox 19"/>
          <p:cNvSpPr txBox="1"/>
          <p:nvPr/>
        </p:nvSpPr>
        <p:spPr>
          <a:xfrm>
            <a:off x="365760" y="3474720"/>
            <a:ext cx="2468880" cy="640080"/>
          </a:xfrm>
          <a:prstGeom prst="rect">
            <a:avLst/>
          </a:prstGeom>
          <a:noFill/>
        </p:spPr>
        <p:txBody>
          <a:bodyPr wrap="square">
            <a:spAutoFit/>
          </a:bodyPr>
          <a:lstStyle/>
          <a:p>
            <a:pPr algn="ctr"/>
            <a:r>
              <a:rPr sz="1000" b="0" i="0">
                <a:solidFill>
                  <a:srgbClr val="FFFFFF"/>
                </a:solidFill>
                <a:latin typeface="Calibri"/>
              </a:rPr>
              <a:t>Operational Integrated Check Posts</a:t>
            </a:r>
          </a:p>
        </p:txBody>
      </p:sp>
      <p:sp>
        <p:nvSpPr>
          <p:cNvPr id="21" name="Rectangle 20"/>
          <p:cNvSpPr/>
          <p:nvPr/>
        </p:nvSpPr>
        <p:spPr>
          <a:xfrm>
            <a:off x="3108960" y="2697480"/>
            <a:ext cx="2651760" cy="15544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2807208"/>
            <a:ext cx="2468880" cy="640080"/>
          </a:xfrm>
          <a:prstGeom prst="rect">
            <a:avLst/>
          </a:prstGeom>
          <a:noFill/>
        </p:spPr>
        <p:txBody>
          <a:bodyPr wrap="square">
            <a:spAutoFit/>
          </a:bodyPr>
          <a:lstStyle/>
          <a:p>
            <a:pPr algn="ctr"/>
            <a:r>
              <a:rPr sz="2800" b="1" i="0">
                <a:solidFill>
                  <a:srgbClr val="FFFFFF"/>
                </a:solidFill>
                <a:latin typeface="Calibri"/>
              </a:rPr>
              <a:t>23 Sanctioned</a:t>
            </a:r>
          </a:p>
        </p:txBody>
      </p:sp>
      <p:sp>
        <p:nvSpPr>
          <p:cNvPr id="23" name="TextBox 22"/>
          <p:cNvSpPr txBox="1"/>
          <p:nvPr/>
        </p:nvSpPr>
        <p:spPr>
          <a:xfrm>
            <a:off x="3200400" y="3474720"/>
            <a:ext cx="2468880" cy="640080"/>
          </a:xfrm>
          <a:prstGeom prst="rect">
            <a:avLst/>
          </a:prstGeom>
          <a:noFill/>
        </p:spPr>
        <p:txBody>
          <a:bodyPr wrap="square">
            <a:spAutoFit/>
          </a:bodyPr>
          <a:lstStyle/>
          <a:p>
            <a:pPr algn="ctr"/>
            <a:r>
              <a:rPr sz="1000" b="0" i="0">
                <a:solidFill>
                  <a:srgbClr val="FFFFFF"/>
                </a:solidFill>
                <a:latin typeface="Calibri"/>
              </a:rPr>
              <a:t>Total Land Ports Approved</a:t>
            </a:r>
          </a:p>
        </p:txBody>
      </p:sp>
      <p:sp>
        <p:nvSpPr>
          <p:cNvPr id="24" name="Rectangle 23"/>
          <p:cNvSpPr/>
          <p:nvPr/>
        </p:nvSpPr>
        <p:spPr>
          <a:xfrm>
            <a:off x="5989320" y="960120"/>
            <a:ext cx="603504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024128"/>
            <a:ext cx="5852160" cy="347472"/>
          </a:xfrm>
          <a:prstGeom prst="rect">
            <a:avLst/>
          </a:prstGeom>
          <a:noFill/>
        </p:spPr>
        <p:txBody>
          <a:bodyPr wrap="square">
            <a:spAutoFit/>
          </a:bodyPr>
          <a:lstStyle/>
          <a:p>
            <a:pPr algn="ctr"/>
            <a:r>
              <a:rPr sz="1200" b="1" i="0">
                <a:solidFill>
                  <a:srgbClr val="1A3A6A"/>
                </a:solidFill>
                <a:latin typeface="Calibri"/>
              </a:rPr>
              <a:t>Operational ICPs Across Land Borders</a:t>
            </a:r>
          </a:p>
        </p:txBody>
      </p:sp>
      <p:sp>
        <p:nvSpPr>
          <p:cNvPr id="26" name="Rectangle 25"/>
          <p:cNvSpPr/>
          <p:nvPr/>
        </p:nvSpPr>
        <p:spPr>
          <a:xfrm>
            <a:off x="6080760" y="1371600"/>
            <a:ext cx="5760720" cy="27432"/>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463040"/>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28" name="TextBox 27"/>
          <p:cNvSpPr txBox="1"/>
          <p:nvPr/>
        </p:nvSpPr>
        <p:spPr>
          <a:xfrm>
            <a:off x="6327648" y="1463040"/>
            <a:ext cx="2468880" cy="274320"/>
          </a:xfrm>
          <a:prstGeom prst="rect">
            <a:avLst/>
          </a:prstGeom>
          <a:noFill/>
        </p:spPr>
        <p:txBody>
          <a:bodyPr wrap="square">
            <a:spAutoFit/>
          </a:bodyPr>
          <a:lstStyle/>
          <a:p>
            <a:pPr algn="l"/>
            <a:r>
              <a:rPr sz="1000" b="1" i="0">
                <a:solidFill>
                  <a:srgbClr val="1A3A6A"/>
                </a:solidFill>
                <a:latin typeface="Calibri"/>
              </a:rPr>
              <a:t>Attari–Wagah</a:t>
            </a:r>
          </a:p>
        </p:txBody>
      </p:sp>
      <p:sp>
        <p:nvSpPr>
          <p:cNvPr id="29" name="TextBox 28"/>
          <p:cNvSpPr txBox="1"/>
          <p:nvPr/>
        </p:nvSpPr>
        <p:spPr>
          <a:xfrm>
            <a:off x="6327648" y="1719072"/>
            <a:ext cx="2468880" cy="237744"/>
          </a:xfrm>
          <a:prstGeom prst="rect">
            <a:avLst/>
          </a:prstGeom>
          <a:noFill/>
        </p:spPr>
        <p:txBody>
          <a:bodyPr wrap="square">
            <a:spAutoFit/>
          </a:bodyPr>
          <a:lstStyle/>
          <a:p>
            <a:pPr algn="l"/>
            <a:r>
              <a:rPr sz="850" b="0" i="0">
                <a:solidFill>
                  <a:srgbClr val="666666"/>
                </a:solidFill>
                <a:latin typeface="Calibri"/>
              </a:rPr>
              <a:t>Punjab — Pakistan Border</a:t>
            </a:r>
          </a:p>
        </p:txBody>
      </p:sp>
      <p:sp>
        <p:nvSpPr>
          <p:cNvPr id="30" name="TextBox 29"/>
          <p:cNvSpPr txBox="1"/>
          <p:nvPr/>
        </p:nvSpPr>
        <p:spPr>
          <a:xfrm>
            <a:off x="6126480" y="2121408"/>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31" name="TextBox 30"/>
          <p:cNvSpPr txBox="1"/>
          <p:nvPr/>
        </p:nvSpPr>
        <p:spPr>
          <a:xfrm>
            <a:off x="6327648" y="2121408"/>
            <a:ext cx="2468880" cy="274320"/>
          </a:xfrm>
          <a:prstGeom prst="rect">
            <a:avLst/>
          </a:prstGeom>
          <a:noFill/>
        </p:spPr>
        <p:txBody>
          <a:bodyPr wrap="square">
            <a:spAutoFit/>
          </a:bodyPr>
          <a:lstStyle/>
          <a:p>
            <a:pPr algn="l"/>
            <a:r>
              <a:rPr sz="1000" b="1" i="0">
                <a:solidFill>
                  <a:srgbClr val="1A3A6A"/>
                </a:solidFill>
                <a:latin typeface="Calibri"/>
              </a:rPr>
              <a:t>Petrapole</a:t>
            </a:r>
          </a:p>
        </p:txBody>
      </p:sp>
      <p:sp>
        <p:nvSpPr>
          <p:cNvPr id="32" name="TextBox 31"/>
          <p:cNvSpPr txBox="1"/>
          <p:nvPr/>
        </p:nvSpPr>
        <p:spPr>
          <a:xfrm>
            <a:off x="6327648" y="2377440"/>
            <a:ext cx="2468880" cy="237744"/>
          </a:xfrm>
          <a:prstGeom prst="rect">
            <a:avLst/>
          </a:prstGeom>
          <a:noFill/>
        </p:spPr>
        <p:txBody>
          <a:bodyPr wrap="square">
            <a:spAutoFit/>
          </a:bodyPr>
          <a:lstStyle/>
          <a:p>
            <a:pPr algn="l"/>
            <a:r>
              <a:rPr sz="850" b="0" i="0">
                <a:solidFill>
                  <a:srgbClr val="666666"/>
                </a:solidFill>
                <a:latin typeface="Calibri"/>
              </a:rPr>
              <a:t>West Bengal — Bangladesh</a:t>
            </a:r>
          </a:p>
        </p:txBody>
      </p:sp>
      <p:sp>
        <p:nvSpPr>
          <p:cNvPr id="33" name="TextBox 32"/>
          <p:cNvSpPr txBox="1"/>
          <p:nvPr/>
        </p:nvSpPr>
        <p:spPr>
          <a:xfrm>
            <a:off x="6126480" y="2779776"/>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34" name="TextBox 33"/>
          <p:cNvSpPr txBox="1"/>
          <p:nvPr/>
        </p:nvSpPr>
        <p:spPr>
          <a:xfrm>
            <a:off x="6327648" y="2779776"/>
            <a:ext cx="2468880" cy="274320"/>
          </a:xfrm>
          <a:prstGeom prst="rect">
            <a:avLst/>
          </a:prstGeom>
          <a:noFill/>
        </p:spPr>
        <p:txBody>
          <a:bodyPr wrap="square">
            <a:spAutoFit/>
          </a:bodyPr>
          <a:lstStyle/>
          <a:p>
            <a:pPr algn="l"/>
            <a:r>
              <a:rPr sz="1000" b="1" i="0">
                <a:solidFill>
                  <a:srgbClr val="1A3A6A"/>
                </a:solidFill>
                <a:latin typeface="Calibri"/>
              </a:rPr>
              <a:t>Raxaul</a:t>
            </a:r>
          </a:p>
        </p:txBody>
      </p:sp>
      <p:sp>
        <p:nvSpPr>
          <p:cNvPr id="35" name="TextBox 34"/>
          <p:cNvSpPr txBox="1"/>
          <p:nvPr/>
        </p:nvSpPr>
        <p:spPr>
          <a:xfrm>
            <a:off x="6327648" y="3035808"/>
            <a:ext cx="2468880" cy="237744"/>
          </a:xfrm>
          <a:prstGeom prst="rect">
            <a:avLst/>
          </a:prstGeom>
          <a:noFill/>
        </p:spPr>
        <p:txBody>
          <a:bodyPr wrap="square">
            <a:spAutoFit/>
          </a:bodyPr>
          <a:lstStyle/>
          <a:p>
            <a:pPr algn="l"/>
            <a:r>
              <a:rPr sz="850" b="0" i="0">
                <a:solidFill>
                  <a:srgbClr val="666666"/>
                </a:solidFill>
                <a:latin typeface="Calibri"/>
              </a:rPr>
              <a:t>Bihar — Nepal Border</a:t>
            </a:r>
          </a:p>
        </p:txBody>
      </p:sp>
      <p:sp>
        <p:nvSpPr>
          <p:cNvPr id="36" name="TextBox 35"/>
          <p:cNvSpPr txBox="1"/>
          <p:nvPr/>
        </p:nvSpPr>
        <p:spPr>
          <a:xfrm>
            <a:off x="6126480" y="3438144"/>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37" name="TextBox 36"/>
          <p:cNvSpPr txBox="1"/>
          <p:nvPr/>
        </p:nvSpPr>
        <p:spPr>
          <a:xfrm>
            <a:off x="6327648" y="3438144"/>
            <a:ext cx="2468880" cy="274320"/>
          </a:xfrm>
          <a:prstGeom prst="rect">
            <a:avLst/>
          </a:prstGeom>
          <a:noFill/>
        </p:spPr>
        <p:txBody>
          <a:bodyPr wrap="square">
            <a:spAutoFit/>
          </a:bodyPr>
          <a:lstStyle/>
          <a:p>
            <a:pPr algn="l"/>
            <a:r>
              <a:rPr sz="1000" b="1" i="0">
                <a:solidFill>
                  <a:srgbClr val="1A3A6A"/>
                </a:solidFill>
                <a:latin typeface="Calibri"/>
              </a:rPr>
              <a:t>Moreh</a:t>
            </a:r>
          </a:p>
        </p:txBody>
      </p:sp>
      <p:sp>
        <p:nvSpPr>
          <p:cNvPr id="38" name="TextBox 37"/>
          <p:cNvSpPr txBox="1"/>
          <p:nvPr/>
        </p:nvSpPr>
        <p:spPr>
          <a:xfrm>
            <a:off x="6327648" y="3694176"/>
            <a:ext cx="2468880" cy="237744"/>
          </a:xfrm>
          <a:prstGeom prst="rect">
            <a:avLst/>
          </a:prstGeom>
          <a:noFill/>
        </p:spPr>
        <p:txBody>
          <a:bodyPr wrap="square">
            <a:spAutoFit/>
          </a:bodyPr>
          <a:lstStyle/>
          <a:p>
            <a:pPr algn="l"/>
            <a:r>
              <a:rPr sz="850" b="0" i="0">
                <a:solidFill>
                  <a:srgbClr val="666666"/>
                </a:solidFill>
                <a:latin typeface="Calibri"/>
              </a:rPr>
              <a:t>Manipur — Myanmar Border</a:t>
            </a:r>
          </a:p>
        </p:txBody>
      </p:sp>
      <p:sp>
        <p:nvSpPr>
          <p:cNvPr id="39" name="TextBox 38"/>
          <p:cNvSpPr txBox="1"/>
          <p:nvPr/>
        </p:nvSpPr>
        <p:spPr>
          <a:xfrm>
            <a:off x="6126480" y="4096512"/>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40" name="TextBox 39"/>
          <p:cNvSpPr txBox="1"/>
          <p:nvPr/>
        </p:nvSpPr>
        <p:spPr>
          <a:xfrm>
            <a:off x="6327648" y="4096512"/>
            <a:ext cx="2468880" cy="274320"/>
          </a:xfrm>
          <a:prstGeom prst="rect">
            <a:avLst/>
          </a:prstGeom>
          <a:noFill/>
        </p:spPr>
        <p:txBody>
          <a:bodyPr wrap="square">
            <a:spAutoFit/>
          </a:bodyPr>
          <a:lstStyle/>
          <a:p>
            <a:pPr algn="l"/>
            <a:r>
              <a:rPr sz="1000" b="1" i="0">
                <a:solidFill>
                  <a:srgbClr val="1A3A6A"/>
                </a:solidFill>
                <a:latin typeface="Calibri"/>
              </a:rPr>
              <a:t>Dawki</a:t>
            </a:r>
          </a:p>
        </p:txBody>
      </p:sp>
      <p:sp>
        <p:nvSpPr>
          <p:cNvPr id="41" name="TextBox 40"/>
          <p:cNvSpPr txBox="1"/>
          <p:nvPr/>
        </p:nvSpPr>
        <p:spPr>
          <a:xfrm>
            <a:off x="6327648" y="4352544"/>
            <a:ext cx="2468880" cy="237744"/>
          </a:xfrm>
          <a:prstGeom prst="rect">
            <a:avLst/>
          </a:prstGeom>
          <a:noFill/>
        </p:spPr>
        <p:txBody>
          <a:bodyPr wrap="square">
            <a:spAutoFit/>
          </a:bodyPr>
          <a:lstStyle/>
          <a:p>
            <a:pPr algn="l"/>
            <a:r>
              <a:rPr sz="850" b="0" i="0">
                <a:solidFill>
                  <a:srgbClr val="666666"/>
                </a:solidFill>
                <a:latin typeface="Calibri"/>
              </a:rPr>
              <a:t>Meghalaya — Bangladesh</a:t>
            </a:r>
          </a:p>
        </p:txBody>
      </p:sp>
      <p:sp>
        <p:nvSpPr>
          <p:cNvPr id="42" name="TextBox 41"/>
          <p:cNvSpPr txBox="1"/>
          <p:nvPr/>
        </p:nvSpPr>
        <p:spPr>
          <a:xfrm>
            <a:off x="6126480" y="4754880"/>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43" name="TextBox 42"/>
          <p:cNvSpPr txBox="1"/>
          <p:nvPr/>
        </p:nvSpPr>
        <p:spPr>
          <a:xfrm>
            <a:off x="6327648" y="4754880"/>
            <a:ext cx="2468880" cy="274320"/>
          </a:xfrm>
          <a:prstGeom prst="rect">
            <a:avLst/>
          </a:prstGeom>
          <a:noFill/>
        </p:spPr>
        <p:txBody>
          <a:bodyPr wrap="square">
            <a:spAutoFit/>
          </a:bodyPr>
          <a:lstStyle/>
          <a:p>
            <a:pPr algn="l"/>
            <a:r>
              <a:rPr sz="1000" b="1" i="0">
                <a:solidFill>
                  <a:srgbClr val="1A3A6A"/>
                </a:solidFill>
                <a:latin typeface="Calibri"/>
              </a:rPr>
              <a:t>Sutarkhandi</a:t>
            </a:r>
          </a:p>
        </p:txBody>
      </p:sp>
      <p:sp>
        <p:nvSpPr>
          <p:cNvPr id="44" name="TextBox 43"/>
          <p:cNvSpPr txBox="1"/>
          <p:nvPr/>
        </p:nvSpPr>
        <p:spPr>
          <a:xfrm>
            <a:off x="6327648" y="5010912"/>
            <a:ext cx="2468880" cy="237744"/>
          </a:xfrm>
          <a:prstGeom prst="rect">
            <a:avLst/>
          </a:prstGeom>
          <a:noFill/>
        </p:spPr>
        <p:txBody>
          <a:bodyPr wrap="square">
            <a:spAutoFit/>
          </a:bodyPr>
          <a:lstStyle/>
          <a:p>
            <a:pPr algn="l"/>
            <a:r>
              <a:rPr sz="850" b="0" i="0">
                <a:solidFill>
                  <a:srgbClr val="666666"/>
                </a:solidFill>
                <a:latin typeface="Calibri"/>
              </a:rPr>
              <a:t>Assam — Bangladesh</a:t>
            </a:r>
          </a:p>
        </p:txBody>
      </p:sp>
      <p:sp>
        <p:nvSpPr>
          <p:cNvPr id="45" name="TextBox 44"/>
          <p:cNvSpPr txBox="1"/>
          <p:nvPr/>
        </p:nvSpPr>
        <p:spPr>
          <a:xfrm>
            <a:off x="9006840" y="1463040"/>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46" name="TextBox 45"/>
          <p:cNvSpPr txBox="1"/>
          <p:nvPr/>
        </p:nvSpPr>
        <p:spPr>
          <a:xfrm>
            <a:off x="9208008" y="1463040"/>
            <a:ext cx="2468880" cy="274320"/>
          </a:xfrm>
          <a:prstGeom prst="rect">
            <a:avLst/>
          </a:prstGeom>
          <a:noFill/>
        </p:spPr>
        <p:txBody>
          <a:bodyPr wrap="square">
            <a:spAutoFit/>
          </a:bodyPr>
          <a:lstStyle/>
          <a:p>
            <a:pPr algn="l"/>
            <a:r>
              <a:rPr sz="1000" b="1" i="0">
                <a:solidFill>
                  <a:srgbClr val="1A3A6A"/>
                </a:solidFill>
                <a:latin typeface="Calibri"/>
              </a:rPr>
              <a:t>Agartala</a:t>
            </a:r>
          </a:p>
        </p:txBody>
      </p:sp>
      <p:sp>
        <p:nvSpPr>
          <p:cNvPr id="47" name="TextBox 46"/>
          <p:cNvSpPr txBox="1"/>
          <p:nvPr/>
        </p:nvSpPr>
        <p:spPr>
          <a:xfrm>
            <a:off x="9208008" y="1719072"/>
            <a:ext cx="2468880" cy="237744"/>
          </a:xfrm>
          <a:prstGeom prst="rect">
            <a:avLst/>
          </a:prstGeom>
          <a:noFill/>
        </p:spPr>
        <p:txBody>
          <a:bodyPr wrap="square">
            <a:spAutoFit/>
          </a:bodyPr>
          <a:lstStyle/>
          <a:p>
            <a:pPr algn="l"/>
            <a:r>
              <a:rPr sz="850" b="0" i="0">
                <a:solidFill>
                  <a:srgbClr val="666666"/>
                </a:solidFill>
                <a:latin typeface="Calibri"/>
              </a:rPr>
              <a:t>Tripura — Bangladesh</a:t>
            </a:r>
          </a:p>
        </p:txBody>
      </p:sp>
      <p:sp>
        <p:nvSpPr>
          <p:cNvPr id="48" name="TextBox 47"/>
          <p:cNvSpPr txBox="1"/>
          <p:nvPr/>
        </p:nvSpPr>
        <p:spPr>
          <a:xfrm>
            <a:off x="9006840" y="2121408"/>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49" name="TextBox 48"/>
          <p:cNvSpPr txBox="1"/>
          <p:nvPr/>
        </p:nvSpPr>
        <p:spPr>
          <a:xfrm>
            <a:off x="9208008" y="2121408"/>
            <a:ext cx="2468880" cy="274320"/>
          </a:xfrm>
          <a:prstGeom prst="rect">
            <a:avLst/>
          </a:prstGeom>
          <a:noFill/>
        </p:spPr>
        <p:txBody>
          <a:bodyPr wrap="square">
            <a:spAutoFit/>
          </a:bodyPr>
          <a:lstStyle/>
          <a:p>
            <a:pPr algn="l"/>
            <a:r>
              <a:rPr sz="1000" b="1" i="0">
                <a:solidFill>
                  <a:srgbClr val="1A3A6A"/>
                </a:solidFill>
                <a:latin typeface="Calibri"/>
              </a:rPr>
              <a:t>Jogbani</a:t>
            </a:r>
          </a:p>
        </p:txBody>
      </p:sp>
      <p:sp>
        <p:nvSpPr>
          <p:cNvPr id="50" name="TextBox 49"/>
          <p:cNvSpPr txBox="1"/>
          <p:nvPr/>
        </p:nvSpPr>
        <p:spPr>
          <a:xfrm>
            <a:off x="9208008" y="2377440"/>
            <a:ext cx="2468880" cy="237744"/>
          </a:xfrm>
          <a:prstGeom prst="rect">
            <a:avLst/>
          </a:prstGeom>
          <a:noFill/>
        </p:spPr>
        <p:txBody>
          <a:bodyPr wrap="square">
            <a:spAutoFit/>
          </a:bodyPr>
          <a:lstStyle/>
          <a:p>
            <a:pPr algn="l"/>
            <a:r>
              <a:rPr sz="850" b="0" i="0">
                <a:solidFill>
                  <a:srgbClr val="666666"/>
                </a:solidFill>
                <a:latin typeface="Calibri"/>
              </a:rPr>
              <a:t>Bihar — Nepal Border</a:t>
            </a:r>
          </a:p>
        </p:txBody>
      </p:sp>
      <p:sp>
        <p:nvSpPr>
          <p:cNvPr id="51" name="TextBox 50"/>
          <p:cNvSpPr txBox="1"/>
          <p:nvPr/>
        </p:nvSpPr>
        <p:spPr>
          <a:xfrm>
            <a:off x="9006840" y="2779776"/>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52" name="TextBox 51"/>
          <p:cNvSpPr txBox="1"/>
          <p:nvPr/>
        </p:nvSpPr>
        <p:spPr>
          <a:xfrm>
            <a:off x="9208008" y="2779776"/>
            <a:ext cx="2468880" cy="274320"/>
          </a:xfrm>
          <a:prstGeom prst="rect">
            <a:avLst/>
          </a:prstGeom>
          <a:noFill/>
        </p:spPr>
        <p:txBody>
          <a:bodyPr wrap="square">
            <a:spAutoFit/>
          </a:bodyPr>
          <a:lstStyle/>
          <a:p>
            <a:pPr algn="l"/>
            <a:r>
              <a:rPr sz="1000" b="1" i="0">
                <a:solidFill>
                  <a:srgbClr val="1A3A6A"/>
                </a:solidFill>
                <a:latin typeface="Calibri"/>
              </a:rPr>
              <a:t>Rupaidiha</a:t>
            </a:r>
          </a:p>
        </p:txBody>
      </p:sp>
      <p:sp>
        <p:nvSpPr>
          <p:cNvPr id="53" name="TextBox 52"/>
          <p:cNvSpPr txBox="1"/>
          <p:nvPr/>
        </p:nvSpPr>
        <p:spPr>
          <a:xfrm>
            <a:off x="9208008" y="3035808"/>
            <a:ext cx="2468880" cy="237744"/>
          </a:xfrm>
          <a:prstGeom prst="rect">
            <a:avLst/>
          </a:prstGeom>
          <a:noFill/>
        </p:spPr>
        <p:txBody>
          <a:bodyPr wrap="square">
            <a:spAutoFit/>
          </a:bodyPr>
          <a:lstStyle/>
          <a:p>
            <a:pPr algn="l"/>
            <a:r>
              <a:rPr sz="850" b="0" i="0">
                <a:solidFill>
                  <a:srgbClr val="666666"/>
                </a:solidFill>
                <a:latin typeface="Calibri"/>
              </a:rPr>
              <a:t>Uttar Pradesh — Nepal</a:t>
            </a:r>
          </a:p>
        </p:txBody>
      </p:sp>
      <p:sp>
        <p:nvSpPr>
          <p:cNvPr id="54" name="TextBox 53"/>
          <p:cNvSpPr txBox="1"/>
          <p:nvPr/>
        </p:nvSpPr>
        <p:spPr>
          <a:xfrm>
            <a:off x="9006840" y="3438144"/>
            <a:ext cx="228600" cy="292608"/>
          </a:xfrm>
          <a:prstGeom prst="rect">
            <a:avLst/>
          </a:prstGeom>
          <a:noFill/>
        </p:spPr>
        <p:txBody>
          <a:bodyPr wrap="square">
            <a:spAutoFit/>
          </a:bodyPr>
          <a:lstStyle/>
          <a:p>
            <a:pPr algn="l"/>
            <a:r>
              <a:rPr sz="1000" b="1" i="0">
                <a:solidFill>
                  <a:srgbClr val="1A6A3A"/>
                </a:solidFill>
                <a:latin typeface="Calibri"/>
              </a:rPr>
              <a:t>●</a:t>
            </a:r>
          </a:p>
        </p:txBody>
      </p:sp>
      <p:sp>
        <p:nvSpPr>
          <p:cNvPr id="55" name="TextBox 54"/>
          <p:cNvSpPr txBox="1"/>
          <p:nvPr/>
        </p:nvSpPr>
        <p:spPr>
          <a:xfrm>
            <a:off x="9208008" y="3438144"/>
            <a:ext cx="2468880" cy="274320"/>
          </a:xfrm>
          <a:prstGeom prst="rect">
            <a:avLst/>
          </a:prstGeom>
          <a:noFill/>
        </p:spPr>
        <p:txBody>
          <a:bodyPr wrap="square">
            <a:spAutoFit/>
          </a:bodyPr>
          <a:lstStyle/>
          <a:p>
            <a:pPr algn="l"/>
            <a:r>
              <a:rPr sz="1000" b="1" i="0">
                <a:solidFill>
                  <a:srgbClr val="1A3A6A"/>
                </a:solidFill>
                <a:latin typeface="Calibri"/>
              </a:rPr>
              <a:t>Hili</a:t>
            </a:r>
          </a:p>
        </p:txBody>
      </p:sp>
      <p:sp>
        <p:nvSpPr>
          <p:cNvPr id="56" name="TextBox 55"/>
          <p:cNvSpPr txBox="1"/>
          <p:nvPr/>
        </p:nvSpPr>
        <p:spPr>
          <a:xfrm>
            <a:off x="9208008" y="3694176"/>
            <a:ext cx="2468880" cy="237744"/>
          </a:xfrm>
          <a:prstGeom prst="rect">
            <a:avLst/>
          </a:prstGeom>
          <a:noFill/>
        </p:spPr>
        <p:txBody>
          <a:bodyPr wrap="square">
            <a:spAutoFit/>
          </a:bodyPr>
          <a:lstStyle/>
          <a:p>
            <a:pPr algn="l"/>
            <a:r>
              <a:rPr sz="850" b="0" i="0">
                <a:solidFill>
                  <a:srgbClr val="666666"/>
                </a:solidFill>
                <a:latin typeface="Calibri"/>
              </a:rPr>
              <a:t>West Bengal — Bangladesh</a:t>
            </a:r>
          </a:p>
        </p:txBody>
      </p:sp>
      <p:sp>
        <p:nvSpPr>
          <p:cNvPr id="57" name="TextBox 56"/>
          <p:cNvSpPr txBox="1"/>
          <p:nvPr/>
        </p:nvSpPr>
        <p:spPr>
          <a:xfrm>
            <a:off x="9006840" y="4096512"/>
            <a:ext cx="228600" cy="292608"/>
          </a:xfrm>
          <a:prstGeom prst="rect">
            <a:avLst/>
          </a:prstGeom>
          <a:noFill/>
        </p:spPr>
        <p:txBody>
          <a:bodyPr wrap="square">
            <a:spAutoFit/>
          </a:bodyPr>
          <a:lstStyle/>
          <a:p>
            <a:pPr algn="l"/>
            <a:r>
              <a:rPr sz="1000" b="1" i="0">
                <a:solidFill>
                  <a:srgbClr val="F39C12"/>
                </a:solidFill>
                <a:latin typeface="Calibri"/>
              </a:rPr>
              <a:t>◌</a:t>
            </a:r>
          </a:p>
        </p:txBody>
      </p:sp>
      <p:sp>
        <p:nvSpPr>
          <p:cNvPr id="58" name="TextBox 57"/>
          <p:cNvSpPr txBox="1"/>
          <p:nvPr/>
        </p:nvSpPr>
        <p:spPr>
          <a:xfrm>
            <a:off x="9208008" y="4096512"/>
            <a:ext cx="2468880" cy="274320"/>
          </a:xfrm>
          <a:prstGeom prst="rect">
            <a:avLst/>
          </a:prstGeom>
          <a:noFill/>
        </p:spPr>
        <p:txBody>
          <a:bodyPr wrap="square">
            <a:spAutoFit/>
          </a:bodyPr>
          <a:lstStyle/>
          <a:p>
            <a:pPr algn="l"/>
            <a:r>
              <a:rPr sz="1000" b="1" i="0">
                <a:solidFill>
                  <a:srgbClr val="1A3A6A"/>
                </a:solidFill>
                <a:latin typeface="Calibri"/>
              </a:rPr>
              <a:t>Mahendragarh</a:t>
            </a:r>
          </a:p>
        </p:txBody>
      </p:sp>
      <p:sp>
        <p:nvSpPr>
          <p:cNvPr id="59" name="TextBox 58"/>
          <p:cNvSpPr txBox="1"/>
          <p:nvPr/>
        </p:nvSpPr>
        <p:spPr>
          <a:xfrm>
            <a:off x="9208008" y="4352544"/>
            <a:ext cx="2468880" cy="237744"/>
          </a:xfrm>
          <a:prstGeom prst="rect">
            <a:avLst/>
          </a:prstGeom>
          <a:noFill/>
        </p:spPr>
        <p:txBody>
          <a:bodyPr wrap="square">
            <a:spAutoFit/>
          </a:bodyPr>
          <a:lstStyle/>
          <a:p>
            <a:pPr algn="l"/>
            <a:r>
              <a:rPr sz="850" b="0" i="0">
                <a:solidFill>
                  <a:srgbClr val="666666"/>
                </a:solidFill>
                <a:latin typeface="Calibri"/>
              </a:rPr>
              <a:t>Uttarakhand — Nepal</a:t>
            </a:r>
          </a:p>
        </p:txBody>
      </p:sp>
      <p:sp>
        <p:nvSpPr>
          <p:cNvPr id="60" name="TextBox 59"/>
          <p:cNvSpPr txBox="1"/>
          <p:nvPr/>
        </p:nvSpPr>
        <p:spPr>
          <a:xfrm>
            <a:off x="9006840" y="4754880"/>
            <a:ext cx="228600" cy="292608"/>
          </a:xfrm>
          <a:prstGeom prst="rect">
            <a:avLst/>
          </a:prstGeom>
          <a:noFill/>
        </p:spPr>
        <p:txBody>
          <a:bodyPr wrap="square">
            <a:spAutoFit/>
          </a:bodyPr>
          <a:lstStyle/>
          <a:p>
            <a:pPr algn="l"/>
            <a:r>
              <a:rPr sz="1000" b="1" i="0">
                <a:solidFill>
                  <a:srgbClr val="F39C12"/>
                </a:solidFill>
                <a:latin typeface="Calibri"/>
              </a:rPr>
              <a:t>◌</a:t>
            </a:r>
          </a:p>
        </p:txBody>
      </p:sp>
      <p:sp>
        <p:nvSpPr>
          <p:cNvPr id="61" name="TextBox 60"/>
          <p:cNvSpPr txBox="1"/>
          <p:nvPr/>
        </p:nvSpPr>
        <p:spPr>
          <a:xfrm>
            <a:off x="9208008" y="4754880"/>
            <a:ext cx="2468880" cy="274320"/>
          </a:xfrm>
          <a:prstGeom prst="rect">
            <a:avLst/>
          </a:prstGeom>
          <a:noFill/>
        </p:spPr>
        <p:txBody>
          <a:bodyPr wrap="square">
            <a:spAutoFit/>
          </a:bodyPr>
          <a:lstStyle/>
          <a:p>
            <a:pPr algn="l"/>
            <a:r>
              <a:rPr sz="1000" b="1" i="0">
                <a:solidFill>
                  <a:srgbClr val="1A3A6A"/>
                </a:solidFill>
                <a:latin typeface="Calibri"/>
              </a:rPr>
              <a:t>Sabroom</a:t>
            </a:r>
          </a:p>
        </p:txBody>
      </p:sp>
      <p:sp>
        <p:nvSpPr>
          <p:cNvPr id="62" name="TextBox 61"/>
          <p:cNvSpPr txBox="1"/>
          <p:nvPr/>
        </p:nvSpPr>
        <p:spPr>
          <a:xfrm>
            <a:off x="9208008" y="5010912"/>
            <a:ext cx="2468880" cy="237744"/>
          </a:xfrm>
          <a:prstGeom prst="rect">
            <a:avLst/>
          </a:prstGeom>
          <a:noFill/>
        </p:spPr>
        <p:txBody>
          <a:bodyPr wrap="square">
            <a:spAutoFit/>
          </a:bodyPr>
          <a:lstStyle/>
          <a:p>
            <a:pPr algn="l"/>
            <a:r>
              <a:rPr sz="850" b="0" i="0">
                <a:solidFill>
                  <a:srgbClr val="666666"/>
                </a:solidFill>
                <a:latin typeface="Calibri"/>
              </a:rPr>
              <a:t>Tripura — Bangladesh</a:t>
            </a:r>
          </a:p>
        </p:txBody>
      </p:sp>
      <p:sp>
        <p:nvSpPr>
          <p:cNvPr id="63" name="TextBox 62"/>
          <p:cNvSpPr txBox="1"/>
          <p:nvPr/>
        </p:nvSpPr>
        <p:spPr>
          <a:xfrm>
            <a:off x="6126480" y="5321808"/>
            <a:ext cx="5669280" cy="201168"/>
          </a:xfrm>
          <a:prstGeom prst="rect">
            <a:avLst/>
          </a:prstGeom>
          <a:noFill/>
        </p:spPr>
        <p:txBody>
          <a:bodyPr wrap="square">
            <a:spAutoFit/>
          </a:bodyPr>
          <a:lstStyle/>
          <a:p>
            <a:pPr algn="l"/>
            <a:r>
              <a:rPr sz="800" b="0" i="1">
                <a:solidFill>
                  <a:srgbClr val="666666"/>
                </a:solidFill>
                <a:latin typeface="Calibri"/>
              </a:rPr>
              <a:t>* Commissioning phase</a:t>
            </a:r>
          </a:p>
        </p:txBody>
      </p:sp>
      <p:sp>
        <p:nvSpPr>
          <p:cNvPr id="64" name="Rectangle 63"/>
          <p:cNvSpPr/>
          <p:nvPr/>
        </p:nvSpPr>
        <p:spPr>
          <a:xfrm>
            <a:off x="274320" y="4645152"/>
            <a:ext cx="11795760" cy="749808"/>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60" y="4700016"/>
            <a:ext cx="11612880" cy="274320"/>
          </a:xfrm>
          <a:prstGeom prst="rect">
            <a:avLst/>
          </a:prstGeom>
          <a:noFill/>
        </p:spPr>
        <p:txBody>
          <a:bodyPr wrap="square">
            <a:spAutoFit/>
          </a:bodyPr>
          <a:lstStyle/>
          <a:p>
            <a:pPr algn="l"/>
            <a:r>
              <a:rPr sz="1100" b="1" i="0">
                <a:solidFill>
                  <a:srgbClr val="D4881A"/>
                </a:solidFill>
                <a:latin typeface="Calibri"/>
              </a:rPr>
              <a:t>FY 2023-24 Highlights</a:t>
            </a:r>
          </a:p>
        </p:txBody>
      </p:sp>
      <p:sp>
        <p:nvSpPr>
          <p:cNvPr id="66" name="TextBox 65"/>
          <p:cNvSpPr txBox="1"/>
          <p:nvPr/>
        </p:nvSpPr>
        <p:spPr>
          <a:xfrm>
            <a:off x="365760" y="4974336"/>
            <a:ext cx="11612880" cy="365760"/>
          </a:xfrm>
          <a:prstGeom prst="rect">
            <a:avLst/>
          </a:prstGeom>
          <a:noFill/>
        </p:spPr>
        <p:txBody>
          <a:bodyPr wrap="square">
            <a:spAutoFit/>
          </a:bodyPr>
          <a:lstStyle/>
          <a:p>
            <a:pPr algn="ctr"/>
            <a:r>
              <a:rPr sz="1200" b="1" i="0">
                <a:solidFill>
                  <a:srgbClr val="FFFFFF"/>
                </a:solidFill>
                <a:latin typeface="Calibri"/>
              </a:rPr>
              <a:t>₹70,952 Crore trade facilitated  ·  30.46 Lakh passengers processed  ·  ₹62.17 Crore revenue collected  —  15-fold trade increase from 2014-15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LPAI's Digital Transformation — Strong Foundations</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3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LPAI's Digital Transformation — Strong Foundations</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3749039"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3749039" cy="8229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69848"/>
            <a:ext cx="3566159" cy="365760"/>
          </a:xfrm>
          <a:prstGeom prst="rect">
            <a:avLst/>
          </a:prstGeom>
          <a:noFill/>
        </p:spPr>
        <p:txBody>
          <a:bodyPr wrap="square">
            <a:spAutoFit/>
          </a:bodyPr>
          <a:lstStyle/>
          <a:p>
            <a:pPr algn="ctr"/>
            <a:r>
              <a:rPr sz="2000" b="1" i="0">
                <a:solidFill>
                  <a:srgbClr val="FFFFFF"/>
                </a:solidFill>
                <a:latin typeface="Calibri"/>
              </a:rPr>
              <a:t>LPMS</a:t>
            </a:r>
          </a:p>
        </p:txBody>
      </p:sp>
      <p:sp>
        <p:nvSpPr>
          <p:cNvPr id="15" name="TextBox 14"/>
          <p:cNvSpPr txBox="1"/>
          <p:nvPr/>
        </p:nvSpPr>
        <p:spPr>
          <a:xfrm>
            <a:off x="365760" y="1444752"/>
            <a:ext cx="3566159" cy="320040"/>
          </a:xfrm>
          <a:prstGeom prst="rect">
            <a:avLst/>
          </a:prstGeom>
          <a:noFill/>
        </p:spPr>
        <p:txBody>
          <a:bodyPr wrap="square">
            <a:spAutoFit/>
          </a:bodyPr>
          <a:lstStyle/>
          <a:p>
            <a:pPr algn="ctr"/>
            <a:r>
              <a:rPr sz="900" b="0" i="1">
                <a:solidFill>
                  <a:srgbClr val="FFFFFF"/>
                </a:solidFill>
                <a:latin typeface="Calibri"/>
              </a:rPr>
              <a:t>Land Port Management System</a:t>
            </a:r>
          </a:p>
        </p:txBody>
      </p:sp>
      <p:sp>
        <p:nvSpPr>
          <p:cNvPr id="16" name="Rectangle 15"/>
          <p:cNvSpPr/>
          <p:nvPr/>
        </p:nvSpPr>
        <p:spPr>
          <a:xfrm>
            <a:off x="411480" y="2057400"/>
            <a:ext cx="64008" cy="6400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965960"/>
            <a:ext cx="3383279" cy="685800"/>
          </a:xfrm>
          <a:prstGeom prst="rect">
            <a:avLst/>
          </a:prstGeom>
          <a:noFill/>
        </p:spPr>
        <p:txBody>
          <a:bodyPr wrap="square">
            <a:spAutoFit/>
          </a:bodyPr>
          <a:lstStyle/>
          <a:p>
            <a:pPr algn="l"/>
            <a:r>
              <a:rPr sz="1100" b="0" i="0">
                <a:solidFill>
                  <a:srgbClr val="1C1C2E"/>
                </a:solidFill>
                <a:latin typeface="Calibri"/>
              </a:rPr>
              <a:t>Single window for all port operations</a:t>
            </a:r>
          </a:p>
        </p:txBody>
      </p:sp>
      <p:sp>
        <p:nvSpPr>
          <p:cNvPr id="18" name="Rectangle 17"/>
          <p:cNvSpPr/>
          <p:nvPr/>
        </p:nvSpPr>
        <p:spPr>
          <a:xfrm>
            <a:off x="411480" y="2834640"/>
            <a:ext cx="64008" cy="6400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43200"/>
            <a:ext cx="3383279" cy="685800"/>
          </a:xfrm>
          <a:prstGeom prst="rect">
            <a:avLst/>
          </a:prstGeom>
          <a:noFill/>
        </p:spPr>
        <p:txBody>
          <a:bodyPr wrap="square">
            <a:spAutoFit/>
          </a:bodyPr>
          <a:lstStyle/>
          <a:p>
            <a:pPr algn="l"/>
            <a:r>
              <a:rPr sz="1100" b="0" i="0">
                <a:solidFill>
                  <a:srgbClr val="1C1C2E"/>
                </a:solidFill>
                <a:latin typeface="Calibri"/>
              </a:rPr>
              <a:t>ANPR cameras + VAHAN vehicle integration</a:t>
            </a:r>
          </a:p>
        </p:txBody>
      </p:sp>
      <p:sp>
        <p:nvSpPr>
          <p:cNvPr id="20" name="Rectangle 19"/>
          <p:cNvSpPr/>
          <p:nvPr/>
        </p:nvSpPr>
        <p:spPr>
          <a:xfrm>
            <a:off x="411480" y="3611880"/>
            <a:ext cx="64008" cy="6400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520440"/>
            <a:ext cx="3383279" cy="685800"/>
          </a:xfrm>
          <a:prstGeom prst="rect">
            <a:avLst/>
          </a:prstGeom>
          <a:noFill/>
        </p:spPr>
        <p:txBody>
          <a:bodyPr wrap="square">
            <a:spAutoFit/>
          </a:bodyPr>
          <a:lstStyle/>
          <a:p>
            <a:pPr algn="l"/>
            <a:r>
              <a:rPr sz="1100" b="0" i="0">
                <a:solidFill>
                  <a:srgbClr val="1C1C2E"/>
                </a:solidFill>
                <a:latin typeface="Calibri"/>
              </a:rPr>
              <a:t>Slot booking deployed for trucks</a:t>
            </a:r>
          </a:p>
        </p:txBody>
      </p:sp>
      <p:sp>
        <p:nvSpPr>
          <p:cNvPr id="22" name="Rectangle 21"/>
          <p:cNvSpPr/>
          <p:nvPr/>
        </p:nvSpPr>
        <p:spPr>
          <a:xfrm>
            <a:off x="411480" y="4389120"/>
            <a:ext cx="64008" cy="6400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297680"/>
            <a:ext cx="3383279" cy="685800"/>
          </a:xfrm>
          <a:prstGeom prst="rect">
            <a:avLst/>
          </a:prstGeom>
          <a:noFill/>
        </p:spPr>
        <p:txBody>
          <a:bodyPr wrap="square">
            <a:spAutoFit/>
          </a:bodyPr>
          <a:lstStyle/>
          <a:p>
            <a:pPr algn="l"/>
            <a:r>
              <a:rPr sz="1100" b="0" i="0">
                <a:solidFill>
                  <a:srgbClr val="1C1C2E"/>
                </a:solidFill>
                <a:latin typeface="Calibri"/>
              </a:rPr>
              <a:t>Significant reduction in wait times</a:t>
            </a:r>
          </a:p>
        </p:txBody>
      </p:sp>
      <p:sp>
        <p:nvSpPr>
          <p:cNvPr id="24" name="Rectangle 23"/>
          <p:cNvSpPr/>
          <p:nvPr/>
        </p:nvSpPr>
        <p:spPr>
          <a:xfrm>
            <a:off x="4251959" y="1005840"/>
            <a:ext cx="3749039"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59" y="1005840"/>
            <a:ext cx="3749039" cy="82296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399" y="1069848"/>
            <a:ext cx="3566159" cy="365760"/>
          </a:xfrm>
          <a:prstGeom prst="rect">
            <a:avLst/>
          </a:prstGeom>
          <a:noFill/>
        </p:spPr>
        <p:txBody>
          <a:bodyPr wrap="square">
            <a:spAutoFit/>
          </a:bodyPr>
          <a:lstStyle/>
          <a:p>
            <a:pPr algn="ctr"/>
            <a:r>
              <a:rPr sz="2000" b="1" i="0">
                <a:solidFill>
                  <a:srgbClr val="FFFFFF"/>
                </a:solidFill>
                <a:latin typeface="Calibri"/>
              </a:rPr>
              <a:t>PIFS</a:t>
            </a:r>
          </a:p>
        </p:txBody>
      </p:sp>
      <p:sp>
        <p:nvSpPr>
          <p:cNvPr id="27" name="TextBox 26"/>
          <p:cNvSpPr txBox="1"/>
          <p:nvPr/>
        </p:nvSpPr>
        <p:spPr>
          <a:xfrm>
            <a:off x="4343399" y="1444752"/>
            <a:ext cx="3566159" cy="320040"/>
          </a:xfrm>
          <a:prstGeom prst="rect">
            <a:avLst/>
          </a:prstGeom>
          <a:noFill/>
        </p:spPr>
        <p:txBody>
          <a:bodyPr wrap="square">
            <a:spAutoFit/>
          </a:bodyPr>
          <a:lstStyle/>
          <a:p>
            <a:pPr algn="ctr"/>
            <a:r>
              <a:rPr sz="900" b="0" i="1">
                <a:solidFill>
                  <a:srgbClr val="FFFFFF"/>
                </a:solidFill>
                <a:latin typeface="Calibri"/>
              </a:rPr>
              <a:t>Passenger Integrated Facilitation System</a:t>
            </a:r>
          </a:p>
        </p:txBody>
      </p:sp>
      <p:sp>
        <p:nvSpPr>
          <p:cNvPr id="28" name="Rectangle 27"/>
          <p:cNvSpPr/>
          <p:nvPr/>
        </p:nvSpPr>
        <p:spPr>
          <a:xfrm>
            <a:off x="4389119" y="2057400"/>
            <a:ext cx="64008" cy="64008"/>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79" y="1965960"/>
            <a:ext cx="3383279" cy="685800"/>
          </a:xfrm>
          <a:prstGeom prst="rect">
            <a:avLst/>
          </a:prstGeom>
          <a:noFill/>
        </p:spPr>
        <p:txBody>
          <a:bodyPr wrap="square">
            <a:spAutoFit/>
          </a:bodyPr>
          <a:lstStyle/>
          <a:p>
            <a:pPr algn="l"/>
            <a:r>
              <a:rPr sz="1100" b="0" i="0">
                <a:solidFill>
                  <a:srgbClr val="1C1C2E"/>
                </a:solidFill>
                <a:latin typeface="Calibri"/>
              </a:rPr>
              <a:t>Aadhaar + passport digital registration</a:t>
            </a:r>
          </a:p>
        </p:txBody>
      </p:sp>
      <p:sp>
        <p:nvSpPr>
          <p:cNvPr id="30" name="Rectangle 29"/>
          <p:cNvSpPr/>
          <p:nvPr/>
        </p:nvSpPr>
        <p:spPr>
          <a:xfrm>
            <a:off x="4389119" y="2834640"/>
            <a:ext cx="64008" cy="64008"/>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79" y="2743200"/>
            <a:ext cx="3383279" cy="685800"/>
          </a:xfrm>
          <a:prstGeom prst="rect">
            <a:avLst/>
          </a:prstGeom>
          <a:noFill/>
        </p:spPr>
        <p:txBody>
          <a:bodyPr wrap="square">
            <a:spAutoFit/>
          </a:bodyPr>
          <a:lstStyle/>
          <a:p>
            <a:pPr algn="l"/>
            <a:r>
              <a:rPr sz="1100" b="0" i="0">
                <a:solidFill>
                  <a:srgbClr val="1C1C2E"/>
                </a:solidFill>
                <a:latin typeface="Calibri"/>
              </a:rPr>
              <a:t>Facial recognition at entry/exit points</a:t>
            </a:r>
          </a:p>
        </p:txBody>
      </p:sp>
      <p:sp>
        <p:nvSpPr>
          <p:cNvPr id="32" name="Rectangle 31"/>
          <p:cNvSpPr/>
          <p:nvPr/>
        </p:nvSpPr>
        <p:spPr>
          <a:xfrm>
            <a:off x="4389119" y="3611880"/>
            <a:ext cx="64008" cy="64008"/>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79" y="3520440"/>
            <a:ext cx="3383279" cy="685800"/>
          </a:xfrm>
          <a:prstGeom prst="rect">
            <a:avLst/>
          </a:prstGeom>
          <a:noFill/>
        </p:spPr>
        <p:txBody>
          <a:bodyPr wrap="square">
            <a:spAutoFit/>
          </a:bodyPr>
          <a:lstStyle/>
          <a:p>
            <a:pPr algn="l"/>
            <a:r>
              <a:rPr sz="1100" b="0" i="0">
                <a:solidFill>
                  <a:srgbClr val="1C1C2E"/>
                </a:solidFill>
                <a:latin typeface="Calibri"/>
              </a:rPr>
              <a:t>Pilot at Petrapole — successful rollout</a:t>
            </a:r>
          </a:p>
        </p:txBody>
      </p:sp>
      <p:sp>
        <p:nvSpPr>
          <p:cNvPr id="34" name="Rectangle 33"/>
          <p:cNvSpPr/>
          <p:nvPr/>
        </p:nvSpPr>
        <p:spPr>
          <a:xfrm>
            <a:off x="4389119" y="4389120"/>
            <a:ext cx="64008" cy="64008"/>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79" y="4297680"/>
            <a:ext cx="3383279" cy="685800"/>
          </a:xfrm>
          <a:prstGeom prst="rect">
            <a:avLst/>
          </a:prstGeom>
          <a:noFill/>
        </p:spPr>
        <p:txBody>
          <a:bodyPr wrap="square">
            <a:spAutoFit/>
          </a:bodyPr>
          <a:lstStyle/>
          <a:p>
            <a:pPr algn="l"/>
            <a:r>
              <a:rPr sz="1100" b="0" i="0">
                <a:solidFill>
                  <a:srgbClr val="1C1C2E"/>
                </a:solidFill>
                <a:latin typeface="Calibri"/>
              </a:rPr>
              <a:t>Real-time queue visibility enabled</a:t>
            </a:r>
          </a:p>
        </p:txBody>
      </p:sp>
      <p:sp>
        <p:nvSpPr>
          <p:cNvPr id="36" name="Rectangle 35"/>
          <p:cNvSpPr/>
          <p:nvPr/>
        </p:nvSpPr>
        <p:spPr>
          <a:xfrm>
            <a:off x="8229598" y="1005840"/>
            <a:ext cx="3749039"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9598" y="1005840"/>
            <a:ext cx="3749039" cy="82296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21038" y="1069848"/>
            <a:ext cx="3566159" cy="365760"/>
          </a:xfrm>
          <a:prstGeom prst="rect">
            <a:avLst/>
          </a:prstGeom>
          <a:noFill/>
        </p:spPr>
        <p:txBody>
          <a:bodyPr wrap="square">
            <a:spAutoFit/>
          </a:bodyPr>
          <a:lstStyle/>
          <a:p>
            <a:pPr algn="ctr"/>
            <a:r>
              <a:rPr sz="2000" b="1" i="0">
                <a:solidFill>
                  <a:srgbClr val="FFFFFF"/>
                </a:solidFill>
                <a:latin typeface="Calibri"/>
              </a:rPr>
              <a:t>Suvidha Portal</a:t>
            </a:r>
          </a:p>
        </p:txBody>
      </p:sp>
      <p:sp>
        <p:nvSpPr>
          <p:cNvPr id="39" name="TextBox 38"/>
          <p:cNvSpPr txBox="1"/>
          <p:nvPr/>
        </p:nvSpPr>
        <p:spPr>
          <a:xfrm>
            <a:off x="8321038" y="1444752"/>
            <a:ext cx="3566159" cy="320040"/>
          </a:xfrm>
          <a:prstGeom prst="rect">
            <a:avLst/>
          </a:prstGeom>
          <a:noFill/>
        </p:spPr>
        <p:txBody>
          <a:bodyPr wrap="square">
            <a:spAutoFit/>
          </a:bodyPr>
          <a:lstStyle/>
          <a:p>
            <a:pPr algn="ctr"/>
            <a:r>
              <a:rPr sz="900" b="0" i="1">
                <a:solidFill>
                  <a:srgbClr val="FFFFFF"/>
                </a:solidFill>
                <a:latin typeface="Calibri"/>
              </a:rPr>
              <a:t>Trader Self-Service Platform</a:t>
            </a:r>
          </a:p>
        </p:txBody>
      </p:sp>
      <p:sp>
        <p:nvSpPr>
          <p:cNvPr id="40" name="Rectangle 39"/>
          <p:cNvSpPr/>
          <p:nvPr/>
        </p:nvSpPr>
        <p:spPr>
          <a:xfrm>
            <a:off x="8366758" y="2057400"/>
            <a:ext cx="64008" cy="6400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18" y="1965960"/>
            <a:ext cx="3383279" cy="685800"/>
          </a:xfrm>
          <a:prstGeom prst="rect">
            <a:avLst/>
          </a:prstGeom>
          <a:noFill/>
        </p:spPr>
        <p:txBody>
          <a:bodyPr wrap="square">
            <a:spAutoFit/>
          </a:bodyPr>
          <a:lstStyle/>
          <a:p>
            <a:pPr algn="l"/>
            <a:r>
              <a:rPr sz="1100" b="0" i="0">
                <a:solidFill>
                  <a:srgbClr val="1C1C2E"/>
                </a:solidFill>
                <a:latin typeface="Calibri"/>
              </a:rPr>
              <a:t>Slot booking live at Bangladesh ICPs</a:t>
            </a:r>
          </a:p>
        </p:txBody>
      </p:sp>
      <p:sp>
        <p:nvSpPr>
          <p:cNvPr id="42" name="Rectangle 41"/>
          <p:cNvSpPr/>
          <p:nvPr/>
        </p:nvSpPr>
        <p:spPr>
          <a:xfrm>
            <a:off x="8366758" y="2834640"/>
            <a:ext cx="64008" cy="6400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18" y="2743200"/>
            <a:ext cx="3383279" cy="685800"/>
          </a:xfrm>
          <a:prstGeom prst="rect">
            <a:avLst/>
          </a:prstGeom>
          <a:noFill/>
        </p:spPr>
        <p:txBody>
          <a:bodyPr wrap="square">
            <a:spAutoFit/>
          </a:bodyPr>
          <a:lstStyle/>
          <a:p>
            <a:pPr algn="l"/>
            <a:r>
              <a:rPr sz="1100" b="0" i="0">
                <a:solidFill>
                  <a:srgbClr val="1C1C2E"/>
                </a:solidFill>
                <a:latin typeface="Calibri"/>
              </a:rPr>
              <a:t>Petrapole export: 110 hrs → 14 hrs</a:t>
            </a:r>
          </a:p>
        </p:txBody>
      </p:sp>
      <p:sp>
        <p:nvSpPr>
          <p:cNvPr id="44" name="Rectangle 43"/>
          <p:cNvSpPr/>
          <p:nvPr/>
        </p:nvSpPr>
        <p:spPr>
          <a:xfrm>
            <a:off x="8366758" y="3611880"/>
            <a:ext cx="64008" cy="6400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18" y="3520440"/>
            <a:ext cx="3383279" cy="685800"/>
          </a:xfrm>
          <a:prstGeom prst="rect">
            <a:avLst/>
          </a:prstGeom>
          <a:noFill/>
        </p:spPr>
        <p:txBody>
          <a:bodyPr wrap="square">
            <a:spAutoFit/>
          </a:bodyPr>
          <a:lstStyle/>
          <a:p>
            <a:pPr algn="l"/>
            <a:r>
              <a:rPr sz="1100" b="0" i="0">
                <a:solidFill>
                  <a:srgbClr val="1C1C2E"/>
                </a:solidFill>
                <a:latin typeface="Calibri"/>
              </a:rPr>
              <a:t>80% reduction in truck waiting time</a:t>
            </a:r>
          </a:p>
        </p:txBody>
      </p:sp>
      <p:sp>
        <p:nvSpPr>
          <p:cNvPr id="46" name="Rectangle 45"/>
          <p:cNvSpPr/>
          <p:nvPr/>
        </p:nvSpPr>
        <p:spPr>
          <a:xfrm>
            <a:off x="8366758" y="4389120"/>
            <a:ext cx="64008" cy="6400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03918" y="4297680"/>
            <a:ext cx="3383279" cy="685800"/>
          </a:xfrm>
          <a:prstGeom prst="rect">
            <a:avLst/>
          </a:prstGeom>
          <a:noFill/>
        </p:spPr>
        <p:txBody>
          <a:bodyPr wrap="square">
            <a:spAutoFit/>
          </a:bodyPr>
          <a:lstStyle/>
          <a:p>
            <a:pPr algn="l"/>
            <a:r>
              <a:rPr sz="1100" b="0" i="0">
                <a:solidFill>
                  <a:srgbClr val="1C1C2E"/>
                </a:solidFill>
                <a:latin typeface="Calibri"/>
              </a:rPr>
              <a:t>Proven model — replicable across ICPs</a:t>
            </a:r>
          </a:p>
        </p:txBody>
      </p:sp>
      <p:sp>
        <p:nvSpPr>
          <p:cNvPr id="48" name="Rectangle 47"/>
          <p:cNvSpPr/>
          <p:nvPr/>
        </p:nvSpPr>
        <p:spPr>
          <a:xfrm>
            <a:off x="274320" y="5577840"/>
            <a:ext cx="11795760" cy="73152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5650992"/>
            <a:ext cx="11612880" cy="548640"/>
          </a:xfrm>
          <a:prstGeom prst="rect">
            <a:avLst/>
          </a:prstGeom>
          <a:noFill/>
        </p:spPr>
        <p:txBody>
          <a:bodyPr wrap="square">
            <a:spAutoFit/>
          </a:bodyPr>
          <a:lstStyle/>
          <a:p>
            <a:pPr algn="ctr"/>
            <a:r>
              <a:rPr sz="1300" b="1" i="0">
                <a:solidFill>
                  <a:srgbClr val="D4881A"/>
                </a:solidFill>
                <a:latin typeface="Calibri"/>
              </a:rPr>
              <a:t>LPAI is already building the right infrastructure.</a:t>
            </a:r>
          </a:p>
          <a:p>
            <a:pPr algn="ctr"/>
            <a:r>
              <a:rPr sz="1200" b="0" i="0">
                <a:solidFill>
                  <a:srgbClr val="FFFFFF"/>
                </a:solidFill>
                <a:latin typeface="Calibri"/>
              </a:rPr>
              <a:t>LPAI Nexus adds the AI intelligence and unified command layer on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The Gap — Where Manual Processes Still Dominate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4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The Gap — Where Manual Processes Still Dominate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22402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2240280" cy="73152"/>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170432"/>
            <a:ext cx="2057400" cy="914400"/>
          </a:xfrm>
          <a:prstGeom prst="rect">
            <a:avLst/>
          </a:prstGeom>
          <a:noFill/>
        </p:spPr>
        <p:txBody>
          <a:bodyPr wrap="square">
            <a:spAutoFit/>
          </a:bodyPr>
          <a:lstStyle/>
          <a:p>
            <a:pPr algn="ctr"/>
            <a:r>
              <a:rPr sz="2200" b="1" i="0">
                <a:solidFill>
                  <a:srgbClr val="C0392B"/>
                </a:solidFill>
                <a:latin typeface="Calibri"/>
              </a:rPr>
              <a:t>31
Hours</a:t>
            </a:r>
          </a:p>
        </p:txBody>
      </p:sp>
      <p:sp>
        <p:nvSpPr>
          <p:cNvPr id="15" name="TextBox 14"/>
          <p:cNvSpPr txBox="1"/>
          <p:nvPr/>
        </p:nvSpPr>
        <p:spPr>
          <a:xfrm>
            <a:off x="365760" y="2103120"/>
            <a:ext cx="2057400" cy="2743200"/>
          </a:xfrm>
          <a:prstGeom prst="rect">
            <a:avLst/>
          </a:prstGeom>
          <a:noFill/>
        </p:spPr>
        <p:txBody>
          <a:bodyPr wrap="square">
            <a:spAutoFit/>
          </a:bodyPr>
          <a:lstStyle/>
          <a:p>
            <a:pPr algn="ctr"/>
            <a:r>
              <a:rPr sz="1100" b="0" i="0">
                <a:solidFill>
                  <a:srgbClr val="1C1C2E"/>
                </a:solidFill>
                <a:latin typeface="Calibri"/>
              </a:rPr>
              <a:t>Average import clearance time at land ports</a:t>
            </a:r>
          </a:p>
        </p:txBody>
      </p:sp>
      <p:sp>
        <p:nvSpPr>
          <p:cNvPr id="16" name="TextBox 15"/>
          <p:cNvSpPr txBox="1"/>
          <p:nvPr/>
        </p:nvSpPr>
        <p:spPr>
          <a:xfrm>
            <a:off x="365760" y="5120640"/>
            <a:ext cx="2057400" cy="731520"/>
          </a:xfrm>
          <a:prstGeom prst="rect">
            <a:avLst/>
          </a:prstGeom>
          <a:noFill/>
        </p:spPr>
        <p:txBody>
          <a:bodyPr wrap="square">
            <a:spAutoFit/>
          </a:bodyPr>
          <a:lstStyle/>
          <a:p>
            <a:pPr algn="ctr"/>
            <a:r>
              <a:rPr sz="850" b="0" i="1">
                <a:solidFill>
                  <a:srgbClr val="666666"/>
                </a:solidFill>
                <a:latin typeface="Calibri"/>
              </a:rPr>
              <a:t>CBIC Time Release Study 2023</a:t>
            </a:r>
          </a:p>
        </p:txBody>
      </p:sp>
      <p:sp>
        <p:nvSpPr>
          <p:cNvPr id="17" name="Rectangle 16"/>
          <p:cNvSpPr/>
          <p:nvPr/>
        </p:nvSpPr>
        <p:spPr>
          <a:xfrm>
            <a:off x="2651760" y="1005840"/>
            <a:ext cx="22402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51760" y="1005840"/>
            <a:ext cx="2240280" cy="7315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0" y="1170432"/>
            <a:ext cx="2057400" cy="914400"/>
          </a:xfrm>
          <a:prstGeom prst="rect">
            <a:avLst/>
          </a:prstGeom>
          <a:noFill/>
        </p:spPr>
        <p:txBody>
          <a:bodyPr wrap="square">
            <a:spAutoFit/>
          </a:bodyPr>
          <a:lstStyle/>
          <a:p>
            <a:pPr algn="ctr"/>
            <a:r>
              <a:rPr sz="2200" b="1" i="0">
                <a:solidFill>
                  <a:srgbClr val="F39C12"/>
                </a:solidFill>
                <a:latin typeface="Calibri"/>
              </a:rPr>
              <a:t>47
Docs</a:t>
            </a:r>
          </a:p>
        </p:txBody>
      </p:sp>
      <p:sp>
        <p:nvSpPr>
          <p:cNvPr id="20" name="TextBox 19"/>
          <p:cNvSpPr txBox="1"/>
          <p:nvPr/>
        </p:nvSpPr>
        <p:spPr>
          <a:xfrm>
            <a:off x="2743200" y="2103120"/>
            <a:ext cx="2057400" cy="2743200"/>
          </a:xfrm>
          <a:prstGeom prst="rect">
            <a:avLst/>
          </a:prstGeom>
          <a:noFill/>
        </p:spPr>
        <p:txBody>
          <a:bodyPr wrap="square">
            <a:spAutoFit/>
          </a:bodyPr>
          <a:lstStyle/>
          <a:p>
            <a:pPr algn="ctr"/>
            <a:r>
              <a:rPr sz="1100" b="0" i="0">
                <a:solidFill>
                  <a:srgbClr val="1C1C2E"/>
                </a:solidFill>
                <a:latin typeface="Calibri"/>
              </a:rPr>
              <a:t>Per consignment — 21 export + 26 import</a:t>
            </a:r>
          </a:p>
        </p:txBody>
      </p:sp>
      <p:sp>
        <p:nvSpPr>
          <p:cNvPr id="21" name="TextBox 20"/>
          <p:cNvSpPr txBox="1"/>
          <p:nvPr/>
        </p:nvSpPr>
        <p:spPr>
          <a:xfrm>
            <a:off x="2743200" y="5120640"/>
            <a:ext cx="2057400" cy="731520"/>
          </a:xfrm>
          <a:prstGeom prst="rect">
            <a:avLst/>
          </a:prstGeom>
          <a:noFill/>
        </p:spPr>
        <p:txBody>
          <a:bodyPr wrap="square">
            <a:spAutoFit/>
          </a:bodyPr>
          <a:lstStyle/>
          <a:p>
            <a:pPr algn="ctr"/>
            <a:r>
              <a:rPr sz="850" b="0" i="1">
                <a:solidFill>
                  <a:srgbClr val="666666"/>
                </a:solidFill>
                <a:latin typeface="Calibri"/>
              </a:rPr>
              <a:t>Per stakeholder consultation</a:t>
            </a:r>
          </a:p>
        </p:txBody>
      </p:sp>
      <p:sp>
        <p:nvSpPr>
          <p:cNvPr id="22" name="Rectangle 21"/>
          <p:cNvSpPr/>
          <p:nvPr/>
        </p:nvSpPr>
        <p:spPr>
          <a:xfrm>
            <a:off x="5029200" y="1005840"/>
            <a:ext cx="22402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0" y="1005840"/>
            <a:ext cx="2240280" cy="73152"/>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1170432"/>
            <a:ext cx="2057400" cy="914400"/>
          </a:xfrm>
          <a:prstGeom prst="rect">
            <a:avLst/>
          </a:prstGeom>
          <a:noFill/>
        </p:spPr>
        <p:txBody>
          <a:bodyPr wrap="square">
            <a:spAutoFit/>
          </a:bodyPr>
          <a:lstStyle/>
          <a:p>
            <a:pPr algn="ctr"/>
            <a:r>
              <a:rPr sz="2200" b="1" i="0">
                <a:solidFill>
                  <a:srgbClr val="C0392B"/>
                </a:solidFill>
                <a:latin typeface="Calibri"/>
              </a:rPr>
              <a:t>Passive
CCTV</a:t>
            </a:r>
          </a:p>
        </p:txBody>
      </p:sp>
      <p:sp>
        <p:nvSpPr>
          <p:cNvPr id="25" name="TextBox 24"/>
          <p:cNvSpPr txBox="1"/>
          <p:nvPr/>
        </p:nvSpPr>
        <p:spPr>
          <a:xfrm>
            <a:off x="5120640" y="2103120"/>
            <a:ext cx="2057400" cy="2743200"/>
          </a:xfrm>
          <a:prstGeom prst="rect">
            <a:avLst/>
          </a:prstGeom>
          <a:noFill/>
        </p:spPr>
        <p:txBody>
          <a:bodyPr wrap="square">
            <a:spAutoFit/>
          </a:bodyPr>
          <a:lstStyle/>
          <a:p>
            <a:pPr algn="ctr"/>
            <a:r>
              <a:rPr sz="1100" b="0" i="0">
                <a:solidFill>
                  <a:srgbClr val="1C1C2E"/>
                </a:solidFill>
                <a:latin typeface="Calibri"/>
              </a:rPr>
              <a:t>No AI threat detection
Officers watch manually</a:t>
            </a:r>
          </a:p>
        </p:txBody>
      </p:sp>
      <p:sp>
        <p:nvSpPr>
          <p:cNvPr id="26" name="TextBox 25"/>
          <p:cNvSpPr txBox="1"/>
          <p:nvPr/>
        </p:nvSpPr>
        <p:spPr>
          <a:xfrm>
            <a:off x="5120640" y="5120640"/>
            <a:ext cx="2057400" cy="731520"/>
          </a:xfrm>
          <a:prstGeom prst="rect">
            <a:avLst/>
          </a:prstGeom>
          <a:noFill/>
        </p:spPr>
        <p:txBody>
          <a:bodyPr wrap="square">
            <a:spAutoFit/>
          </a:bodyPr>
          <a:lstStyle/>
          <a:p>
            <a:pPr algn="ctr"/>
            <a:r>
              <a:rPr sz="850" b="0" i="1">
                <a:solidFill>
                  <a:srgbClr val="666666"/>
                </a:solidFill>
                <a:latin typeface="Calibri"/>
              </a:rPr>
              <a:t>Security gap at all ICPs</a:t>
            </a:r>
          </a:p>
        </p:txBody>
      </p:sp>
      <p:sp>
        <p:nvSpPr>
          <p:cNvPr id="27" name="Rectangle 26"/>
          <p:cNvSpPr/>
          <p:nvPr/>
        </p:nvSpPr>
        <p:spPr>
          <a:xfrm>
            <a:off x="7406640" y="1005840"/>
            <a:ext cx="22402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06640" y="1005840"/>
            <a:ext cx="2240280" cy="7315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0" y="1170432"/>
            <a:ext cx="2057400" cy="914400"/>
          </a:xfrm>
          <a:prstGeom prst="rect">
            <a:avLst/>
          </a:prstGeom>
          <a:noFill/>
        </p:spPr>
        <p:txBody>
          <a:bodyPr wrap="square">
            <a:spAutoFit/>
          </a:bodyPr>
          <a:lstStyle/>
          <a:p>
            <a:pPr algn="ctr"/>
            <a:r>
              <a:rPr sz="2200" b="1" i="0">
                <a:solidFill>
                  <a:srgbClr val="F39C12"/>
                </a:solidFill>
                <a:latin typeface="Calibri"/>
              </a:rPr>
              <a:t>No Unified
View</a:t>
            </a:r>
          </a:p>
        </p:txBody>
      </p:sp>
      <p:sp>
        <p:nvSpPr>
          <p:cNvPr id="30" name="TextBox 29"/>
          <p:cNvSpPr txBox="1"/>
          <p:nvPr/>
        </p:nvSpPr>
        <p:spPr>
          <a:xfrm>
            <a:off x="7498080" y="2103120"/>
            <a:ext cx="2057400" cy="2743200"/>
          </a:xfrm>
          <a:prstGeom prst="rect">
            <a:avLst/>
          </a:prstGeom>
          <a:noFill/>
        </p:spPr>
        <p:txBody>
          <a:bodyPr wrap="square">
            <a:spAutoFit/>
          </a:bodyPr>
          <a:lstStyle/>
          <a:p>
            <a:pPr algn="ctr"/>
            <a:r>
              <a:rPr sz="1100" b="0" i="0">
                <a:solidFill>
                  <a:srgbClr val="1C1C2E"/>
                </a:solidFill>
                <a:latin typeface="Calibri"/>
              </a:rPr>
              <a:t>LPAI HQ: no real-time picture of all 12 ICPs</a:t>
            </a:r>
          </a:p>
        </p:txBody>
      </p:sp>
      <p:sp>
        <p:nvSpPr>
          <p:cNvPr id="31" name="TextBox 30"/>
          <p:cNvSpPr txBox="1"/>
          <p:nvPr/>
        </p:nvSpPr>
        <p:spPr>
          <a:xfrm>
            <a:off x="7498080" y="5120640"/>
            <a:ext cx="2057400" cy="731520"/>
          </a:xfrm>
          <a:prstGeom prst="rect">
            <a:avLst/>
          </a:prstGeom>
          <a:noFill/>
        </p:spPr>
        <p:txBody>
          <a:bodyPr wrap="square">
            <a:spAutoFit/>
          </a:bodyPr>
          <a:lstStyle/>
          <a:p>
            <a:pPr algn="ctr"/>
            <a:r>
              <a:rPr sz="850" b="0" i="1">
                <a:solidFill>
                  <a:srgbClr val="666666"/>
                </a:solidFill>
                <a:latin typeface="Calibri"/>
              </a:rPr>
              <a:t>Next-day Excel MIS only</a:t>
            </a:r>
          </a:p>
        </p:txBody>
      </p:sp>
      <p:sp>
        <p:nvSpPr>
          <p:cNvPr id="32" name="Rectangle 31"/>
          <p:cNvSpPr/>
          <p:nvPr/>
        </p:nvSpPr>
        <p:spPr>
          <a:xfrm>
            <a:off x="9784080" y="1005840"/>
            <a:ext cx="22402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84080" y="1005840"/>
            <a:ext cx="2240280" cy="73152"/>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0" y="1170432"/>
            <a:ext cx="2057400" cy="914400"/>
          </a:xfrm>
          <a:prstGeom prst="rect">
            <a:avLst/>
          </a:prstGeom>
          <a:noFill/>
        </p:spPr>
        <p:txBody>
          <a:bodyPr wrap="square">
            <a:spAutoFit/>
          </a:bodyPr>
          <a:lstStyle/>
          <a:p>
            <a:pPr algn="ctr"/>
            <a:r>
              <a:rPr sz="2200" b="1" i="0">
                <a:solidFill>
                  <a:srgbClr val="C0392B"/>
                </a:solidFill>
                <a:latin typeface="Calibri"/>
              </a:rPr>
              <a:t>Manual
ANPR</a:t>
            </a:r>
          </a:p>
        </p:txBody>
      </p:sp>
      <p:sp>
        <p:nvSpPr>
          <p:cNvPr id="35" name="TextBox 34"/>
          <p:cNvSpPr txBox="1"/>
          <p:nvPr/>
        </p:nvSpPr>
        <p:spPr>
          <a:xfrm>
            <a:off x="9875520" y="2103120"/>
            <a:ext cx="2057400" cy="2743200"/>
          </a:xfrm>
          <a:prstGeom prst="rect">
            <a:avLst/>
          </a:prstGeom>
          <a:noFill/>
        </p:spPr>
        <p:txBody>
          <a:bodyPr wrap="square">
            <a:spAutoFit/>
          </a:bodyPr>
          <a:lstStyle/>
          <a:p>
            <a:pPr algn="ctr"/>
            <a:r>
              <a:rPr sz="1100" b="0" i="0">
                <a:solidFill>
                  <a:srgbClr val="1C1C2E"/>
                </a:solidFill>
                <a:latin typeface="Calibri"/>
              </a:rPr>
              <a:t>Plate reading in pilot phase only
Blacklist check is manual</a:t>
            </a:r>
          </a:p>
        </p:txBody>
      </p:sp>
      <p:sp>
        <p:nvSpPr>
          <p:cNvPr id="36" name="TextBox 35"/>
          <p:cNvSpPr txBox="1"/>
          <p:nvPr/>
        </p:nvSpPr>
        <p:spPr>
          <a:xfrm>
            <a:off x="9875520" y="5120640"/>
            <a:ext cx="2057400" cy="731520"/>
          </a:xfrm>
          <a:prstGeom prst="rect">
            <a:avLst/>
          </a:prstGeom>
          <a:noFill/>
        </p:spPr>
        <p:txBody>
          <a:bodyPr wrap="square">
            <a:spAutoFit/>
          </a:bodyPr>
          <a:lstStyle/>
          <a:p>
            <a:pPr algn="ctr"/>
            <a:r>
              <a:rPr sz="850" b="0" i="1">
                <a:solidFill>
                  <a:srgbClr val="666666"/>
                </a:solidFill>
                <a:latin typeface="Calibri"/>
              </a:rPr>
              <a:t>Critical coverage gap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LPAI Nexus — The Unified Command Platform</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5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LPAI Nexus — The Unified Command Platform</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homepage.jpeg"/>
          <p:cNvPicPr>
            <a:picLocks noChangeAspect="1"/>
          </p:cNvPicPr>
          <p:nvPr/>
        </p:nvPicPr>
        <p:blipFill>
          <a:blip r:embed="rId2"/>
          <a:stretch>
            <a:fillRect/>
          </a:stretch>
        </p:blipFill>
        <p:spPr>
          <a:xfrm>
            <a:off x="365760" y="1005840"/>
            <a:ext cx="9418320" cy="4754880"/>
          </a:xfrm>
          <a:prstGeom prst="rect">
            <a:avLst/>
          </a:prstGeom>
        </p:spPr>
      </p:pic>
      <p:sp>
        <p:nvSpPr>
          <p:cNvPr id="13" name="Rectangle 12"/>
          <p:cNvSpPr/>
          <p:nvPr/>
        </p:nvSpPr>
        <p:spPr>
          <a:xfrm>
            <a:off x="9921240" y="1005840"/>
            <a:ext cx="2148840" cy="475488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85248" y="1097280"/>
            <a:ext cx="2011680" cy="457200"/>
          </a:xfrm>
          <a:prstGeom prst="rect">
            <a:avLst/>
          </a:prstGeom>
          <a:noFill/>
        </p:spPr>
        <p:txBody>
          <a:bodyPr wrap="square">
            <a:spAutoFit/>
          </a:bodyPr>
          <a:lstStyle/>
          <a:p>
            <a:pPr algn="ctr"/>
            <a:r>
              <a:rPr sz="1000" b="0" i="0">
                <a:solidFill>
                  <a:srgbClr val="FFFFFF"/>
                </a:solidFill>
                <a:latin typeface="Calibri"/>
              </a:rPr>
              <a:t>Built during
Internship at
LPAI, MHA</a:t>
            </a:r>
          </a:p>
        </p:txBody>
      </p:sp>
      <p:sp>
        <p:nvSpPr>
          <p:cNvPr id="15" name="TextBox 14"/>
          <p:cNvSpPr txBox="1"/>
          <p:nvPr/>
        </p:nvSpPr>
        <p:spPr>
          <a:xfrm>
            <a:off x="9985248" y="1920240"/>
            <a:ext cx="2011680" cy="457200"/>
          </a:xfrm>
          <a:prstGeom prst="rect">
            <a:avLst/>
          </a:prstGeom>
          <a:noFill/>
        </p:spPr>
        <p:txBody>
          <a:bodyPr wrap="square">
            <a:spAutoFit/>
          </a:bodyPr>
          <a:lstStyle/>
          <a:p>
            <a:pPr algn="ctr"/>
            <a:r>
              <a:rPr sz="1100" b="1" i="0">
                <a:solidFill>
                  <a:srgbClr val="D4881A"/>
                </a:solidFill>
                <a:latin typeface="Calibri"/>
              </a:rPr>
              <a:t>June 2026</a:t>
            </a:r>
          </a:p>
        </p:txBody>
      </p:sp>
      <p:sp>
        <p:nvSpPr>
          <p:cNvPr id="16" name="Rectangle 15"/>
          <p:cNvSpPr/>
          <p:nvPr/>
        </p:nvSpPr>
        <p:spPr>
          <a:xfrm>
            <a:off x="10058400" y="2423160"/>
            <a:ext cx="1828800" cy="27432"/>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85248" y="2514600"/>
            <a:ext cx="2011680" cy="320040"/>
          </a:xfrm>
          <a:prstGeom prst="rect">
            <a:avLst/>
          </a:prstGeom>
          <a:noFill/>
        </p:spPr>
        <p:txBody>
          <a:bodyPr wrap="square">
            <a:spAutoFit/>
          </a:bodyPr>
          <a:lstStyle/>
          <a:p>
            <a:pPr algn="ctr"/>
            <a:r>
              <a:rPr sz="950" b="0" i="0">
                <a:solidFill>
                  <a:srgbClr val="E8F0FA"/>
                </a:solidFill>
                <a:latin typeface="Calibri"/>
              </a:rPr>
              <a:t>React 18</a:t>
            </a:r>
          </a:p>
        </p:txBody>
      </p:sp>
      <p:sp>
        <p:nvSpPr>
          <p:cNvPr id="18" name="TextBox 17"/>
          <p:cNvSpPr txBox="1"/>
          <p:nvPr/>
        </p:nvSpPr>
        <p:spPr>
          <a:xfrm>
            <a:off x="9985248" y="2862072"/>
            <a:ext cx="2011680" cy="320040"/>
          </a:xfrm>
          <a:prstGeom prst="rect">
            <a:avLst/>
          </a:prstGeom>
          <a:noFill/>
        </p:spPr>
        <p:txBody>
          <a:bodyPr wrap="square">
            <a:spAutoFit/>
          </a:bodyPr>
          <a:lstStyle/>
          <a:p>
            <a:pPr algn="ctr"/>
            <a:r>
              <a:rPr sz="950" b="0" i="0">
                <a:solidFill>
                  <a:srgbClr val="E8F0FA"/>
                </a:solidFill>
                <a:latin typeface="Calibri"/>
              </a:rPr>
              <a:t>Vite 5</a:t>
            </a:r>
          </a:p>
        </p:txBody>
      </p:sp>
      <p:sp>
        <p:nvSpPr>
          <p:cNvPr id="19" name="TextBox 18"/>
          <p:cNvSpPr txBox="1"/>
          <p:nvPr/>
        </p:nvSpPr>
        <p:spPr>
          <a:xfrm>
            <a:off x="9985248" y="3209544"/>
            <a:ext cx="2011680" cy="320040"/>
          </a:xfrm>
          <a:prstGeom prst="rect">
            <a:avLst/>
          </a:prstGeom>
          <a:noFill/>
        </p:spPr>
        <p:txBody>
          <a:bodyPr wrap="square">
            <a:spAutoFit/>
          </a:bodyPr>
          <a:lstStyle/>
          <a:p>
            <a:pPr algn="ctr"/>
            <a:r>
              <a:rPr sz="950" b="0" i="0">
                <a:solidFill>
                  <a:srgbClr val="E8F0FA"/>
                </a:solidFill>
                <a:latin typeface="Calibri"/>
              </a:rPr>
              <a:t>Recharts</a:t>
            </a:r>
          </a:p>
        </p:txBody>
      </p:sp>
      <p:sp>
        <p:nvSpPr>
          <p:cNvPr id="20" name="TextBox 19"/>
          <p:cNvSpPr txBox="1"/>
          <p:nvPr/>
        </p:nvSpPr>
        <p:spPr>
          <a:xfrm>
            <a:off x="9985248" y="3557016"/>
            <a:ext cx="2011680" cy="320040"/>
          </a:xfrm>
          <a:prstGeom prst="rect">
            <a:avLst/>
          </a:prstGeom>
          <a:noFill/>
        </p:spPr>
        <p:txBody>
          <a:bodyPr wrap="square">
            <a:spAutoFit/>
          </a:bodyPr>
          <a:lstStyle/>
          <a:p>
            <a:pPr algn="ctr"/>
            <a:r>
              <a:rPr sz="950" b="0" i="0">
                <a:solidFill>
                  <a:srgbClr val="E8F0FA"/>
                </a:solidFill>
                <a:latin typeface="Calibri"/>
              </a:rPr>
              <a:t>Tailwind CSS</a:t>
            </a:r>
          </a:p>
        </p:txBody>
      </p:sp>
      <p:sp>
        <p:nvSpPr>
          <p:cNvPr id="21" name="Rectangle 20"/>
          <p:cNvSpPr/>
          <p:nvPr/>
        </p:nvSpPr>
        <p:spPr>
          <a:xfrm>
            <a:off x="10058400" y="3977639"/>
            <a:ext cx="1828800" cy="27432"/>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85248" y="4069080"/>
            <a:ext cx="2011680" cy="320040"/>
          </a:xfrm>
          <a:prstGeom prst="rect">
            <a:avLst/>
          </a:prstGeom>
          <a:noFill/>
        </p:spPr>
        <p:txBody>
          <a:bodyPr wrap="square">
            <a:spAutoFit/>
          </a:bodyPr>
          <a:lstStyle/>
          <a:p>
            <a:pPr algn="ctr"/>
            <a:r>
              <a:rPr sz="950" b="1" i="0">
                <a:solidFill>
                  <a:srgbClr val="1A6A3A"/>
                </a:solidFill>
                <a:latin typeface="Calibri"/>
              </a:rPr>
              <a:t>Full Working
Prototype</a:t>
            </a:r>
          </a:p>
        </p:txBody>
      </p:sp>
      <p:sp>
        <p:nvSpPr>
          <p:cNvPr id="23" name="Rectangle 22"/>
          <p:cNvSpPr/>
          <p:nvPr/>
        </p:nvSpPr>
        <p:spPr>
          <a:xfrm>
            <a:off x="1097280" y="5870448"/>
            <a:ext cx="2286000" cy="38404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916168"/>
            <a:ext cx="2286000" cy="292608"/>
          </a:xfrm>
          <a:prstGeom prst="rect">
            <a:avLst/>
          </a:prstGeom>
          <a:noFill/>
        </p:spPr>
        <p:txBody>
          <a:bodyPr wrap="square">
            <a:spAutoFit/>
          </a:bodyPr>
          <a:lstStyle/>
          <a:p>
            <a:pPr algn="ctr"/>
            <a:r>
              <a:rPr sz="1200" b="1" i="0">
                <a:solidFill>
                  <a:srgbClr val="FFFFFF"/>
                </a:solidFill>
                <a:latin typeface="Calibri"/>
              </a:rPr>
              <a:t>6 Modules</a:t>
            </a:r>
          </a:p>
        </p:txBody>
      </p:sp>
      <p:sp>
        <p:nvSpPr>
          <p:cNvPr id="25" name="Rectangle 24"/>
          <p:cNvSpPr/>
          <p:nvPr/>
        </p:nvSpPr>
        <p:spPr>
          <a:xfrm>
            <a:off x="3794760" y="5870448"/>
            <a:ext cx="2286000" cy="38404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94760" y="5916168"/>
            <a:ext cx="2286000" cy="292608"/>
          </a:xfrm>
          <a:prstGeom prst="rect">
            <a:avLst/>
          </a:prstGeom>
          <a:noFill/>
        </p:spPr>
        <p:txBody>
          <a:bodyPr wrap="square">
            <a:spAutoFit/>
          </a:bodyPr>
          <a:lstStyle/>
          <a:p>
            <a:pPr algn="ctr"/>
            <a:r>
              <a:rPr sz="1200" b="1" i="0">
                <a:solidFill>
                  <a:srgbClr val="FFFFFF"/>
                </a:solidFill>
                <a:latin typeface="Calibri"/>
              </a:rPr>
              <a:t>12 ICPs</a:t>
            </a:r>
          </a:p>
        </p:txBody>
      </p:sp>
      <p:sp>
        <p:nvSpPr>
          <p:cNvPr id="27" name="Rectangle 26"/>
          <p:cNvSpPr/>
          <p:nvPr/>
        </p:nvSpPr>
        <p:spPr>
          <a:xfrm>
            <a:off x="6492240" y="5870448"/>
            <a:ext cx="2286000" cy="384048"/>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5916168"/>
            <a:ext cx="2286000" cy="292608"/>
          </a:xfrm>
          <a:prstGeom prst="rect">
            <a:avLst/>
          </a:prstGeom>
          <a:noFill/>
        </p:spPr>
        <p:txBody>
          <a:bodyPr wrap="square">
            <a:spAutoFit/>
          </a:bodyPr>
          <a:lstStyle/>
          <a:p>
            <a:pPr algn="ctr"/>
            <a:r>
              <a:rPr sz="1200" b="1" i="0">
                <a:solidFill>
                  <a:srgbClr val="1C1C2E"/>
                </a:solidFill>
                <a:latin typeface="Calibri"/>
              </a:rPr>
              <a:t>Powered by Axiom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Axiom — The AI Intelligence Engine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6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Axiom — The AI Intelligence Engine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097280"/>
            <a:ext cx="4389120" cy="438912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280160"/>
            <a:ext cx="4023360" cy="40233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377440"/>
            <a:ext cx="4389120" cy="640080"/>
          </a:xfrm>
          <a:prstGeom prst="rect">
            <a:avLst/>
          </a:prstGeom>
          <a:noFill/>
        </p:spPr>
        <p:txBody>
          <a:bodyPr wrap="square">
            <a:spAutoFit/>
          </a:bodyPr>
          <a:lstStyle/>
          <a:p>
            <a:pPr algn="ctr"/>
            <a:r>
              <a:rPr sz="3600" b="1" i="0">
                <a:solidFill>
                  <a:srgbClr val="D4881A"/>
                </a:solidFill>
                <a:latin typeface="Calibri"/>
              </a:rPr>
              <a:t>AXIOM</a:t>
            </a:r>
          </a:p>
        </p:txBody>
      </p:sp>
      <p:sp>
        <p:nvSpPr>
          <p:cNvPr id="15" name="TextBox 14"/>
          <p:cNvSpPr txBox="1"/>
          <p:nvPr/>
        </p:nvSpPr>
        <p:spPr>
          <a:xfrm>
            <a:off x="457200" y="3063240"/>
            <a:ext cx="4389120" cy="365760"/>
          </a:xfrm>
          <a:prstGeom prst="rect">
            <a:avLst/>
          </a:prstGeom>
          <a:noFill/>
        </p:spPr>
        <p:txBody>
          <a:bodyPr wrap="square">
            <a:spAutoFit/>
          </a:bodyPr>
          <a:lstStyle/>
          <a:p>
            <a:pPr algn="ctr"/>
            <a:r>
              <a:rPr sz="1300" b="0" i="0">
                <a:solidFill>
                  <a:srgbClr val="FFFFFF"/>
                </a:solidFill>
                <a:latin typeface="Calibri"/>
              </a:rPr>
              <a:t>AI Intelligence Engine</a:t>
            </a:r>
          </a:p>
        </p:txBody>
      </p:sp>
      <p:sp>
        <p:nvSpPr>
          <p:cNvPr id="16" name="TextBox 15"/>
          <p:cNvSpPr txBox="1"/>
          <p:nvPr/>
        </p:nvSpPr>
        <p:spPr>
          <a:xfrm>
            <a:off x="457200" y="3474720"/>
            <a:ext cx="4389120" cy="365760"/>
          </a:xfrm>
          <a:prstGeom prst="rect">
            <a:avLst/>
          </a:prstGeom>
          <a:noFill/>
        </p:spPr>
        <p:txBody>
          <a:bodyPr wrap="square">
            <a:spAutoFit/>
          </a:bodyPr>
          <a:lstStyle/>
          <a:p>
            <a:pPr algn="ctr"/>
            <a:r>
              <a:rPr sz="1000" b="0" i="1">
                <a:solidFill>
                  <a:srgbClr val="E8F0FA"/>
                </a:solidFill>
                <a:latin typeface="Calibri"/>
              </a:rPr>
              <a:t>v1.0 — LPAI Nexus</a:t>
            </a:r>
          </a:p>
        </p:txBody>
      </p:sp>
      <p:sp>
        <p:nvSpPr>
          <p:cNvPr id="17" name="Rectangle 16"/>
          <p:cNvSpPr/>
          <p:nvPr/>
        </p:nvSpPr>
        <p:spPr>
          <a:xfrm>
            <a:off x="5120640" y="105156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40" y="1051560"/>
            <a:ext cx="54864" cy="777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30368" y="110642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20" name="TextBox 19"/>
          <p:cNvSpPr txBox="1"/>
          <p:nvPr/>
        </p:nvSpPr>
        <p:spPr>
          <a:xfrm>
            <a:off x="5715000" y="1088136"/>
            <a:ext cx="3657600" cy="347472"/>
          </a:xfrm>
          <a:prstGeom prst="rect">
            <a:avLst/>
          </a:prstGeom>
          <a:noFill/>
        </p:spPr>
        <p:txBody>
          <a:bodyPr wrap="square">
            <a:spAutoFit/>
          </a:bodyPr>
          <a:lstStyle/>
          <a:p>
            <a:pPr algn="l"/>
            <a:r>
              <a:rPr sz="1100" b="1" i="0">
                <a:solidFill>
                  <a:srgbClr val="1A3A6A"/>
                </a:solidFill>
                <a:latin typeface="Calibri"/>
              </a:rPr>
              <a:t>Cargo Document Processing</a:t>
            </a:r>
          </a:p>
        </p:txBody>
      </p:sp>
      <p:sp>
        <p:nvSpPr>
          <p:cNvPr id="21" name="TextBox 20"/>
          <p:cNvSpPr txBox="1"/>
          <p:nvPr/>
        </p:nvSpPr>
        <p:spPr>
          <a:xfrm>
            <a:off x="5715000" y="1435608"/>
            <a:ext cx="3657600" cy="320040"/>
          </a:xfrm>
          <a:prstGeom prst="rect">
            <a:avLst/>
          </a:prstGeom>
          <a:noFill/>
        </p:spPr>
        <p:txBody>
          <a:bodyPr wrap="square">
            <a:spAutoFit/>
          </a:bodyPr>
          <a:lstStyle/>
          <a:p>
            <a:pPr algn="l"/>
            <a:r>
              <a:rPr sz="1000" b="0" i="0">
                <a:solidFill>
                  <a:srgbClr val="1A6A3A"/>
                </a:solidFill>
                <a:latin typeface="Calibri"/>
              </a:rPr>
              <a:t>2 min vs 45 min manual — 95% faster</a:t>
            </a:r>
          </a:p>
        </p:txBody>
      </p:sp>
      <p:sp>
        <p:nvSpPr>
          <p:cNvPr id="22" name="TextBox 21"/>
          <p:cNvSpPr txBox="1"/>
          <p:nvPr/>
        </p:nvSpPr>
        <p:spPr>
          <a:xfrm>
            <a:off x="9418320" y="1234440"/>
            <a:ext cx="2468880" cy="365760"/>
          </a:xfrm>
          <a:prstGeom prst="rect">
            <a:avLst/>
          </a:prstGeom>
          <a:noFill/>
        </p:spPr>
        <p:txBody>
          <a:bodyPr wrap="square">
            <a:spAutoFit/>
          </a:bodyPr>
          <a:lstStyle/>
          <a:p>
            <a:pPr algn="l"/>
            <a:r>
              <a:rPr sz="1000" b="0" i="0">
                <a:solidFill>
                  <a:srgbClr val="1A6A3A"/>
                </a:solidFill>
                <a:latin typeface="Calibri"/>
              </a:rPr>
              <a:t>▶</a:t>
            </a:r>
          </a:p>
        </p:txBody>
      </p:sp>
      <p:sp>
        <p:nvSpPr>
          <p:cNvPr id="23" name="Rectangle 22"/>
          <p:cNvSpPr/>
          <p:nvPr/>
        </p:nvSpPr>
        <p:spPr>
          <a:xfrm>
            <a:off x="5120640" y="192024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0" y="1920240"/>
            <a:ext cx="54864" cy="777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30368" y="197510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26" name="TextBox 25"/>
          <p:cNvSpPr txBox="1"/>
          <p:nvPr/>
        </p:nvSpPr>
        <p:spPr>
          <a:xfrm>
            <a:off x="5715000" y="1956816"/>
            <a:ext cx="3657600" cy="347472"/>
          </a:xfrm>
          <a:prstGeom prst="rect">
            <a:avLst/>
          </a:prstGeom>
          <a:noFill/>
        </p:spPr>
        <p:txBody>
          <a:bodyPr wrap="square">
            <a:spAutoFit/>
          </a:bodyPr>
          <a:lstStyle/>
          <a:p>
            <a:pPr algn="l"/>
            <a:r>
              <a:rPr sz="1100" b="1" i="0">
                <a:solidFill>
                  <a:srgbClr val="1A3A6A"/>
                </a:solidFill>
                <a:latin typeface="Calibri"/>
              </a:rPr>
              <a:t>Watchlist Face Matching</a:t>
            </a:r>
          </a:p>
        </p:txBody>
      </p:sp>
      <p:sp>
        <p:nvSpPr>
          <p:cNvPr id="27" name="TextBox 26"/>
          <p:cNvSpPr txBox="1"/>
          <p:nvPr/>
        </p:nvSpPr>
        <p:spPr>
          <a:xfrm>
            <a:off x="5715000" y="2304288"/>
            <a:ext cx="3657600" cy="320040"/>
          </a:xfrm>
          <a:prstGeom prst="rect">
            <a:avLst/>
          </a:prstGeom>
          <a:noFill/>
        </p:spPr>
        <p:txBody>
          <a:bodyPr wrap="square">
            <a:spAutoFit/>
          </a:bodyPr>
          <a:lstStyle/>
          <a:p>
            <a:pPr algn="l"/>
            <a:r>
              <a:rPr sz="1000" b="0" i="0">
                <a:solidFill>
                  <a:srgbClr val="1A6A3A"/>
                </a:solidFill>
                <a:latin typeface="Calibri"/>
              </a:rPr>
              <a:t>Under 1 second per passenger</a:t>
            </a:r>
          </a:p>
        </p:txBody>
      </p:sp>
      <p:sp>
        <p:nvSpPr>
          <p:cNvPr id="28" name="TextBox 27"/>
          <p:cNvSpPr txBox="1"/>
          <p:nvPr/>
        </p:nvSpPr>
        <p:spPr>
          <a:xfrm>
            <a:off x="9418320" y="2103120"/>
            <a:ext cx="2468880" cy="365760"/>
          </a:xfrm>
          <a:prstGeom prst="rect">
            <a:avLst/>
          </a:prstGeom>
          <a:noFill/>
        </p:spPr>
        <p:txBody>
          <a:bodyPr wrap="square">
            <a:spAutoFit/>
          </a:bodyPr>
          <a:lstStyle/>
          <a:p>
            <a:pPr algn="l"/>
            <a:r>
              <a:rPr sz="1000" b="0" i="0">
                <a:solidFill>
                  <a:srgbClr val="1A6A3A"/>
                </a:solidFill>
                <a:latin typeface="Calibri"/>
              </a:rPr>
              <a:t>▶</a:t>
            </a:r>
          </a:p>
        </p:txBody>
      </p:sp>
      <p:sp>
        <p:nvSpPr>
          <p:cNvPr id="29" name="Rectangle 28"/>
          <p:cNvSpPr/>
          <p:nvPr/>
        </p:nvSpPr>
        <p:spPr>
          <a:xfrm>
            <a:off x="5120640" y="278892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20640" y="2788920"/>
            <a:ext cx="54864" cy="777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30368" y="284378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32" name="TextBox 31"/>
          <p:cNvSpPr txBox="1"/>
          <p:nvPr/>
        </p:nvSpPr>
        <p:spPr>
          <a:xfrm>
            <a:off x="5715000" y="2825496"/>
            <a:ext cx="3657600" cy="347472"/>
          </a:xfrm>
          <a:prstGeom prst="rect">
            <a:avLst/>
          </a:prstGeom>
          <a:noFill/>
        </p:spPr>
        <p:txBody>
          <a:bodyPr wrap="square">
            <a:spAutoFit/>
          </a:bodyPr>
          <a:lstStyle/>
          <a:p>
            <a:pPr algn="l"/>
            <a:r>
              <a:rPr sz="1100" b="1" i="0">
                <a:solidFill>
                  <a:srgbClr val="1A3A6A"/>
                </a:solidFill>
                <a:latin typeface="Calibri"/>
              </a:rPr>
              <a:t>Camera Feed Monitoring</a:t>
            </a:r>
          </a:p>
        </p:txBody>
      </p:sp>
      <p:sp>
        <p:nvSpPr>
          <p:cNvPr id="33" name="TextBox 32"/>
          <p:cNvSpPr txBox="1"/>
          <p:nvPr/>
        </p:nvSpPr>
        <p:spPr>
          <a:xfrm>
            <a:off x="5715000" y="3172968"/>
            <a:ext cx="3657600" cy="320040"/>
          </a:xfrm>
          <a:prstGeom prst="rect">
            <a:avLst/>
          </a:prstGeom>
          <a:noFill/>
        </p:spPr>
        <p:txBody>
          <a:bodyPr wrap="square">
            <a:spAutoFit/>
          </a:bodyPr>
          <a:lstStyle/>
          <a:p>
            <a:pPr algn="l"/>
            <a:r>
              <a:rPr sz="1000" b="0" i="0">
                <a:solidFill>
                  <a:srgbClr val="1A6A3A"/>
                </a:solidFill>
                <a:latin typeface="Calibri"/>
              </a:rPr>
              <a:t>All feeds simultaneously, 24/7 — zero gaps</a:t>
            </a:r>
          </a:p>
        </p:txBody>
      </p:sp>
      <p:sp>
        <p:nvSpPr>
          <p:cNvPr id="34" name="TextBox 33"/>
          <p:cNvSpPr txBox="1"/>
          <p:nvPr/>
        </p:nvSpPr>
        <p:spPr>
          <a:xfrm>
            <a:off x="9418320" y="2971800"/>
            <a:ext cx="2468880" cy="365760"/>
          </a:xfrm>
          <a:prstGeom prst="rect">
            <a:avLst/>
          </a:prstGeom>
          <a:noFill/>
        </p:spPr>
        <p:txBody>
          <a:bodyPr wrap="square">
            <a:spAutoFit/>
          </a:bodyPr>
          <a:lstStyle/>
          <a:p>
            <a:pPr algn="l"/>
            <a:r>
              <a:rPr sz="1000" b="0" i="0">
                <a:solidFill>
                  <a:srgbClr val="1A6A3A"/>
                </a:solidFill>
                <a:latin typeface="Calibri"/>
              </a:rPr>
              <a:t>▶</a:t>
            </a:r>
          </a:p>
        </p:txBody>
      </p:sp>
      <p:sp>
        <p:nvSpPr>
          <p:cNvPr id="35" name="Rectangle 34"/>
          <p:cNvSpPr/>
          <p:nvPr/>
        </p:nvSpPr>
        <p:spPr>
          <a:xfrm>
            <a:off x="5120640" y="365760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120640" y="3657600"/>
            <a:ext cx="54864" cy="777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30368" y="371246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38" name="TextBox 37"/>
          <p:cNvSpPr txBox="1"/>
          <p:nvPr/>
        </p:nvSpPr>
        <p:spPr>
          <a:xfrm>
            <a:off x="5715000" y="3694176"/>
            <a:ext cx="3657600" cy="347472"/>
          </a:xfrm>
          <a:prstGeom prst="rect">
            <a:avLst/>
          </a:prstGeom>
          <a:noFill/>
        </p:spPr>
        <p:txBody>
          <a:bodyPr wrap="square">
            <a:spAutoFit/>
          </a:bodyPr>
          <a:lstStyle/>
          <a:p>
            <a:pPr algn="l"/>
            <a:r>
              <a:rPr sz="1100" b="1" i="0">
                <a:solidFill>
                  <a:srgbClr val="1A3A6A"/>
                </a:solidFill>
                <a:latin typeface="Calibri"/>
              </a:rPr>
              <a:t>Number Plate Recognition</a:t>
            </a:r>
          </a:p>
        </p:txBody>
      </p:sp>
      <p:sp>
        <p:nvSpPr>
          <p:cNvPr id="39" name="TextBox 38"/>
          <p:cNvSpPr txBox="1"/>
          <p:nvPr/>
        </p:nvSpPr>
        <p:spPr>
          <a:xfrm>
            <a:off x="5715000" y="4041648"/>
            <a:ext cx="3657600" cy="320040"/>
          </a:xfrm>
          <a:prstGeom prst="rect">
            <a:avLst/>
          </a:prstGeom>
          <a:noFill/>
        </p:spPr>
        <p:txBody>
          <a:bodyPr wrap="square">
            <a:spAutoFit/>
          </a:bodyPr>
          <a:lstStyle/>
          <a:p>
            <a:pPr algn="l"/>
            <a:r>
              <a:rPr sz="1000" b="0" i="0">
                <a:solidFill>
                  <a:srgbClr val="1A6A3A"/>
                </a:solidFill>
                <a:latin typeface="Calibri"/>
              </a:rPr>
              <a:t>2 seconds + instant VAHAN + blacklist lookup</a:t>
            </a:r>
          </a:p>
        </p:txBody>
      </p:sp>
      <p:sp>
        <p:nvSpPr>
          <p:cNvPr id="40" name="TextBox 39"/>
          <p:cNvSpPr txBox="1"/>
          <p:nvPr/>
        </p:nvSpPr>
        <p:spPr>
          <a:xfrm>
            <a:off x="9418320" y="3840480"/>
            <a:ext cx="2468880" cy="365760"/>
          </a:xfrm>
          <a:prstGeom prst="rect">
            <a:avLst/>
          </a:prstGeom>
          <a:noFill/>
        </p:spPr>
        <p:txBody>
          <a:bodyPr wrap="square">
            <a:spAutoFit/>
          </a:bodyPr>
          <a:lstStyle/>
          <a:p>
            <a:pPr algn="l"/>
            <a:r>
              <a:rPr sz="1000" b="0" i="0">
                <a:solidFill>
                  <a:srgbClr val="1A6A3A"/>
                </a:solidFill>
                <a:latin typeface="Calibri"/>
              </a:rPr>
              <a:t>▶</a:t>
            </a:r>
          </a:p>
        </p:txBody>
      </p:sp>
      <p:sp>
        <p:nvSpPr>
          <p:cNvPr id="41" name="Rectangle 40"/>
          <p:cNvSpPr/>
          <p:nvPr/>
        </p:nvSpPr>
        <p:spPr>
          <a:xfrm>
            <a:off x="5120640" y="452628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120640" y="4526280"/>
            <a:ext cx="54864" cy="77724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30368" y="458114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44" name="TextBox 43"/>
          <p:cNvSpPr txBox="1"/>
          <p:nvPr/>
        </p:nvSpPr>
        <p:spPr>
          <a:xfrm>
            <a:off x="5715000" y="4562856"/>
            <a:ext cx="3657600" cy="347472"/>
          </a:xfrm>
          <a:prstGeom prst="rect">
            <a:avLst/>
          </a:prstGeom>
          <a:noFill/>
        </p:spPr>
        <p:txBody>
          <a:bodyPr wrap="square">
            <a:spAutoFit/>
          </a:bodyPr>
          <a:lstStyle/>
          <a:p>
            <a:pPr algn="l"/>
            <a:r>
              <a:rPr sz="1100" b="1" i="0">
                <a:solidFill>
                  <a:srgbClr val="1A3A6A"/>
                </a:solidFill>
                <a:latin typeface="Calibri"/>
              </a:rPr>
              <a:t>Queue Size Prediction</a:t>
            </a:r>
          </a:p>
        </p:txBody>
      </p:sp>
      <p:sp>
        <p:nvSpPr>
          <p:cNvPr id="45" name="TextBox 44"/>
          <p:cNvSpPr txBox="1"/>
          <p:nvPr/>
        </p:nvSpPr>
        <p:spPr>
          <a:xfrm>
            <a:off x="5715000" y="4910328"/>
            <a:ext cx="3657600" cy="320040"/>
          </a:xfrm>
          <a:prstGeom prst="rect">
            <a:avLst/>
          </a:prstGeom>
          <a:noFill/>
        </p:spPr>
        <p:txBody>
          <a:bodyPr wrap="square">
            <a:spAutoFit/>
          </a:bodyPr>
          <a:lstStyle/>
          <a:p>
            <a:pPr algn="l"/>
            <a:r>
              <a:rPr sz="1000" b="0" i="0">
                <a:solidFill>
                  <a:srgbClr val="176B87"/>
                </a:solidFill>
                <a:latin typeface="Calibri"/>
              </a:rPr>
              <a:t>6 hours ahead — time-series model</a:t>
            </a:r>
          </a:p>
        </p:txBody>
      </p:sp>
      <p:sp>
        <p:nvSpPr>
          <p:cNvPr id="46" name="TextBox 45"/>
          <p:cNvSpPr txBox="1"/>
          <p:nvPr/>
        </p:nvSpPr>
        <p:spPr>
          <a:xfrm>
            <a:off x="9418320" y="4709160"/>
            <a:ext cx="2468880" cy="365760"/>
          </a:xfrm>
          <a:prstGeom prst="rect">
            <a:avLst/>
          </a:prstGeom>
          <a:noFill/>
        </p:spPr>
        <p:txBody>
          <a:bodyPr wrap="square">
            <a:spAutoFit/>
          </a:bodyPr>
          <a:lstStyle/>
          <a:p>
            <a:pPr algn="l"/>
            <a:r>
              <a:rPr sz="1000" b="0" i="0">
                <a:solidFill>
                  <a:srgbClr val="176B87"/>
                </a:solidFill>
                <a:latin typeface="Calibri"/>
              </a:rPr>
              <a:t>▶</a:t>
            </a:r>
          </a:p>
        </p:txBody>
      </p:sp>
      <p:sp>
        <p:nvSpPr>
          <p:cNvPr id="47" name="Rectangle 46"/>
          <p:cNvSpPr/>
          <p:nvPr/>
        </p:nvSpPr>
        <p:spPr>
          <a:xfrm>
            <a:off x="5120640" y="5394960"/>
            <a:ext cx="685800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120640" y="5394960"/>
            <a:ext cx="54864" cy="77724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30368" y="5449824"/>
            <a:ext cx="457200" cy="365760"/>
          </a:xfrm>
          <a:prstGeom prst="rect">
            <a:avLst/>
          </a:prstGeom>
          <a:noFill/>
        </p:spPr>
        <p:txBody>
          <a:bodyPr wrap="square">
            <a:spAutoFit/>
          </a:bodyPr>
          <a:lstStyle/>
          <a:p>
            <a:pPr algn="ctr"/>
            <a:r>
              <a:rPr sz="1600" b="0" i="0">
                <a:solidFill>
                  <a:srgbClr val="1C1C2E"/>
                </a:solidFill>
                <a:latin typeface="Calibri"/>
              </a:rPr>
              <a:t>📄</a:t>
            </a:r>
          </a:p>
        </p:txBody>
      </p:sp>
      <p:sp>
        <p:nvSpPr>
          <p:cNvPr id="50" name="TextBox 49"/>
          <p:cNvSpPr txBox="1"/>
          <p:nvPr/>
        </p:nvSpPr>
        <p:spPr>
          <a:xfrm>
            <a:off x="5715000" y="5431536"/>
            <a:ext cx="3657600" cy="347472"/>
          </a:xfrm>
          <a:prstGeom prst="rect">
            <a:avLst/>
          </a:prstGeom>
          <a:noFill/>
        </p:spPr>
        <p:txBody>
          <a:bodyPr wrap="square">
            <a:spAutoFit/>
          </a:bodyPr>
          <a:lstStyle/>
          <a:p>
            <a:pPr algn="l"/>
            <a:r>
              <a:rPr sz="1100" b="1" i="0">
                <a:solidFill>
                  <a:srgbClr val="1A3A6A"/>
                </a:solidFill>
                <a:latin typeface="Calibri"/>
              </a:rPr>
              <a:t>Daily Intelligence Briefing</a:t>
            </a:r>
          </a:p>
        </p:txBody>
      </p:sp>
      <p:sp>
        <p:nvSpPr>
          <p:cNvPr id="51" name="TextBox 50"/>
          <p:cNvSpPr txBox="1"/>
          <p:nvPr/>
        </p:nvSpPr>
        <p:spPr>
          <a:xfrm>
            <a:off x="5715000" y="5779008"/>
            <a:ext cx="3657600" cy="320040"/>
          </a:xfrm>
          <a:prstGeom prst="rect">
            <a:avLst/>
          </a:prstGeom>
          <a:noFill/>
        </p:spPr>
        <p:txBody>
          <a:bodyPr wrap="square">
            <a:spAutoFit/>
          </a:bodyPr>
          <a:lstStyle/>
          <a:p>
            <a:pPr algn="l"/>
            <a:r>
              <a:rPr sz="1000" b="0" i="0">
                <a:solidFill>
                  <a:srgbClr val="176B87"/>
                </a:solidFill>
                <a:latin typeface="Calibri"/>
              </a:rPr>
              <a:t>Auto-generated at 06:00 every morning</a:t>
            </a:r>
          </a:p>
        </p:txBody>
      </p:sp>
      <p:sp>
        <p:nvSpPr>
          <p:cNvPr id="52" name="TextBox 51"/>
          <p:cNvSpPr txBox="1"/>
          <p:nvPr/>
        </p:nvSpPr>
        <p:spPr>
          <a:xfrm>
            <a:off x="9418320" y="5577840"/>
            <a:ext cx="2468880" cy="365760"/>
          </a:xfrm>
          <a:prstGeom prst="rect">
            <a:avLst/>
          </a:prstGeom>
          <a:noFill/>
        </p:spPr>
        <p:txBody>
          <a:bodyPr wrap="square">
            <a:spAutoFit/>
          </a:bodyPr>
          <a:lstStyle/>
          <a:p>
            <a:pPr algn="l"/>
            <a:r>
              <a:rPr sz="1000" b="0" i="0">
                <a:solidFill>
                  <a:srgbClr val="176B87"/>
                </a:solidFill>
                <a:latin typeface="Calibri"/>
              </a:rPr>
              <a:t>▶</a:t>
            </a:r>
          </a:p>
        </p:txBody>
      </p:sp>
      <p:sp>
        <p:nvSpPr>
          <p:cNvPr id="53" name="Rectangle 52"/>
          <p:cNvSpPr/>
          <p:nvPr/>
        </p:nvSpPr>
        <p:spPr>
          <a:xfrm>
            <a:off x="274320" y="5577840"/>
            <a:ext cx="11795760" cy="749808"/>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5687568"/>
            <a:ext cx="11612880" cy="502920"/>
          </a:xfrm>
          <a:prstGeom prst="rect">
            <a:avLst/>
          </a:prstGeom>
          <a:noFill/>
        </p:spPr>
        <p:txBody>
          <a:bodyPr wrap="square">
            <a:spAutoFit/>
          </a:bodyPr>
          <a:lstStyle/>
          <a:p>
            <a:pPr algn="ctr"/>
            <a:r>
              <a:rPr sz="1400" b="0" i="1">
                <a:solidFill>
                  <a:srgbClr val="D4881A"/>
                </a:solidFill>
                <a:latin typeface="Calibri"/>
              </a:rPr>
              <a:t>"Axiom does not replace officers — it ensures nothing is missed."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Command Overview — All 12 ICPs on One Screen</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7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Command Overview — All 12 ICPs on One Screen</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homepage.jpeg"/>
          <p:cNvPicPr>
            <a:picLocks noChangeAspect="1"/>
          </p:cNvPicPr>
          <p:nvPr/>
        </p:nvPicPr>
        <p:blipFill>
          <a:blip r:embed="rId2"/>
          <a:stretch>
            <a:fillRect/>
          </a:stretch>
        </p:blipFill>
        <p:spPr>
          <a:xfrm>
            <a:off x="274320" y="1005840"/>
            <a:ext cx="6949440" cy="4572000"/>
          </a:xfrm>
          <a:prstGeom prst="rect">
            <a:avLst/>
          </a:prstGeom>
        </p:spPr>
      </p:pic>
      <p:sp>
        <p:nvSpPr>
          <p:cNvPr id="13" name="Rectangle 12"/>
          <p:cNvSpPr/>
          <p:nvPr/>
        </p:nvSpPr>
        <p:spPr>
          <a:xfrm>
            <a:off x="7452360" y="1188720"/>
            <a:ext cx="4526280" cy="10972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1188720"/>
            <a:ext cx="54864" cy="10972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71231" y="1261872"/>
            <a:ext cx="320040" cy="365760"/>
          </a:xfrm>
          <a:prstGeom prst="rect">
            <a:avLst/>
          </a:prstGeom>
          <a:noFill/>
        </p:spPr>
        <p:txBody>
          <a:bodyPr wrap="square">
            <a:spAutoFit/>
          </a:bodyPr>
          <a:lstStyle/>
          <a:p>
            <a:pPr algn="l"/>
            <a:r>
              <a:rPr sz="1600" b="1" i="0">
                <a:solidFill>
                  <a:srgbClr val="1A6A3A"/>
                </a:solidFill>
                <a:latin typeface="Calibri"/>
              </a:rPr>
              <a:t>✓</a:t>
            </a:r>
          </a:p>
        </p:txBody>
      </p:sp>
      <p:sp>
        <p:nvSpPr>
          <p:cNvPr id="16" name="TextBox 15"/>
          <p:cNvSpPr txBox="1"/>
          <p:nvPr/>
        </p:nvSpPr>
        <p:spPr>
          <a:xfrm>
            <a:off x="7909560" y="1261872"/>
            <a:ext cx="3977639" cy="365760"/>
          </a:xfrm>
          <a:prstGeom prst="rect">
            <a:avLst/>
          </a:prstGeom>
          <a:noFill/>
        </p:spPr>
        <p:txBody>
          <a:bodyPr wrap="square">
            <a:spAutoFit/>
          </a:bodyPr>
          <a:lstStyle/>
          <a:p>
            <a:pPr algn="l"/>
            <a:r>
              <a:rPr sz="1200" b="1" i="0">
                <a:solidFill>
                  <a:srgbClr val="1A3A6A"/>
                </a:solidFill>
                <a:latin typeface="Calibri"/>
              </a:rPr>
              <a:t>Real-time KPIs</a:t>
            </a:r>
          </a:p>
        </p:txBody>
      </p:sp>
      <p:sp>
        <p:nvSpPr>
          <p:cNvPr id="17" name="TextBox 16"/>
          <p:cNvSpPr txBox="1"/>
          <p:nvPr/>
        </p:nvSpPr>
        <p:spPr>
          <a:xfrm>
            <a:off x="7909560" y="1645920"/>
            <a:ext cx="3977639" cy="502920"/>
          </a:xfrm>
          <a:prstGeom prst="rect">
            <a:avLst/>
          </a:prstGeom>
          <a:noFill/>
        </p:spPr>
        <p:txBody>
          <a:bodyPr wrap="square">
            <a:spAutoFit/>
          </a:bodyPr>
          <a:lstStyle/>
          <a:p>
            <a:pPr algn="l"/>
            <a:r>
              <a:rPr sz="1050" b="0" i="0">
                <a:solidFill>
                  <a:srgbClr val="1C1C2E"/>
                </a:solidFill>
                <a:latin typeface="Calibri"/>
              </a:rPr>
              <a:t>Cargo, crossings, alerts, vehicles — all at a glance</a:t>
            </a:r>
          </a:p>
        </p:txBody>
      </p:sp>
      <p:sp>
        <p:nvSpPr>
          <p:cNvPr id="18" name="Rectangle 17"/>
          <p:cNvSpPr/>
          <p:nvPr/>
        </p:nvSpPr>
        <p:spPr>
          <a:xfrm>
            <a:off x="7452360" y="2423160"/>
            <a:ext cx="4526280" cy="10972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52360" y="2423160"/>
            <a:ext cx="54864" cy="10972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2496312"/>
            <a:ext cx="320040" cy="365760"/>
          </a:xfrm>
          <a:prstGeom prst="rect">
            <a:avLst/>
          </a:prstGeom>
          <a:noFill/>
        </p:spPr>
        <p:txBody>
          <a:bodyPr wrap="square">
            <a:spAutoFit/>
          </a:bodyPr>
          <a:lstStyle/>
          <a:p>
            <a:pPr algn="l"/>
            <a:r>
              <a:rPr sz="1600" b="1" i="0">
                <a:solidFill>
                  <a:srgbClr val="1A6A3A"/>
                </a:solidFill>
                <a:latin typeface="Calibri"/>
              </a:rPr>
              <a:t>✓</a:t>
            </a:r>
          </a:p>
        </p:txBody>
      </p:sp>
      <p:sp>
        <p:nvSpPr>
          <p:cNvPr id="21" name="TextBox 20"/>
          <p:cNvSpPr txBox="1"/>
          <p:nvPr/>
        </p:nvSpPr>
        <p:spPr>
          <a:xfrm>
            <a:off x="7909560" y="2496312"/>
            <a:ext cx="3977639" cy="365760"/>
          </a:xfrm>
          <a:prstGeom prst="rect">
            <a:avLst/>
          </a:prstGeom>
          <a:noFill/>
        </p:spPr>
        <p:txBody>
          <a:bodyPr wrap="square">
            <a:spAutoFit/>
          </a:bodyPr>
          <a:lstStyle/>
          <a:p>
            <a:pPr algn="l"/>
            <a:r>
              <a:rPr sz="1200" b="1" i="0">
                <a:solidFill>
                  <a:srgbClr val="1A3A6A"/>
                </a:solidFill>
                <a:latin typeface="Calibri"/>
              </a:rPr>
              <a:t>Axiom AI Briefing</a:t>
            </a:r>
          </a:p>
        </p:txBody>
      </p:sp>
      <p:sp>
        <p:nvSpPr>
          <p:cNvPr id="22" name="TextBox 21"/>
          <p:cNvSpPr txBox="1"/>
          <p:nvPr/>
        </p:nvSpPr>
        <p:spPr>
          <a:xfrm>
            <a:off x="7909560" y="2880360"/>
            <a:ext cx="3977639" cy="502920"/>
          </a:xfrm>
          <a:prstGeom prst="rect">
            <a:avLst/>
          </a:prstGeom>
          <a:noFill/>
        </p:spPr>
        <p:txBody>
          <a:bodyPr wrap="square">
            <a:spAutoFit/>
          </a:bodyPr>
          <a:lstStyle/>
          <a:p>
            <a:pPr algn="l"/>
            <a:r>
              <a:rPr sz="1050" b="0" i="0">
                <a:solidFill>
                  <a:srgbClr val="1C1C2E"/>
                </a:solidFill>
                <a:latin typeface="Calibri"/>
              </a:rPr>
              <a:t>Contextual intelligence summary with confidence scores</a:t>
            </a:r>
          </a:p>
        </p:txBody>
      </p:sp>
      <p:sp>
        <p:nvSpPr>
          <p:cNvPr id="23" name="Rectangle 22"/>
          <p:cNvSpPr/>
          <p:nvPr/>
        </p:nvSpPr>
        <p:spPr>
          <a:xfrm>
            <a:off x="7452360" y="3657600"/>
            <a:ext cx="4526280" cy="10972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3657600"/>
            <a:ext cx="54864" cy="10972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1231" y="3730752"/>
            <a:ext cx="320040" cy="365760"/>
          </a:xfrm>
          <a:prstGeom prst="rect">
            <a:avLst/>
          </a:prstGeom>
          <a:noFill/>
        </p:spPr>
        <p:txBody>
          <a:bodyPr wrap="square">
            <a:spAutoFit/>
          </a:bodyPr>
          <a:lstStyle/>
          <a:p>
            <a:pPr algn="l"/>
            <a:r>
              <a:rPr sz="1600" b="1" i="0">
                <a:solidFill>
                  <a:srgbClr val="1A6A3A"/>
                </a:solidFill>
                <a:latin typeface="Calibri"/>
              </a:rPr>
              <a:t>✓</a:t>
            </a:r>
          </a:p>
        </p:txBody>
      </p:sp>
      <p:sp>
        <p:nvSpPr>
          <p:cNvPr id="26" name="TextBox 25"/>
          <p:cNvSpPr txBox="1"/>
          <p:nvPr/>
        </p:nvSpPr>
        <p:spPr>
          <a:xfrm>
            <a:off x="7909560" y="3730752"/>
            <a:ext cx="3977639" cy="365760"/>
          </a:xfrm>
          <a:prstGeom prst="rect">
            <a:avLst/>
          </a:prstGeom>
          <a:noFill/>
        </p:spPr>
        <p:txBody>
          <a:bodyPr wrap="square">
            <a:spAutoFit/>
          </a:bodyPr>
          <a:lstStyle/>
          <a:p>
            <a:pPr algn="l"/>
            <a:r>
              <a:rPr sz="1200" b="1" i="0">
                <a:solidFill>
                  <a:srgbClr val="1A3A6A"/>
                </a:solidFill>
                <a:latin typeface="Calibri"/>
              </a:rPr>
              <a:t>All 12 ICPs Live</a:t>
            </a:r>
          </a:p>
        </p:txBody>
      </p:sp>
      <p:sp>
        <p:nvSpPr>
          <p:cNvPr id="27" name="TextBox 26"/>
          <p:cNvSpPr txBox="1"/>
          <p:nvPr/>
        </p:nvSpPr>
        <p:spPr>
          <a:xfrm>
            <a:off x="7909560" y="4114800"/>
            <a:ext cx="3977639" cy="502920"/>
          </a:xfrm>
          <a:prstGeom prst="rect">
            <a:avLst/>
          </a:prstGeom>
          <a:noFill/>
        </p:spPr>
        <p:txBody>
          <a:bodyPr wrap="square">
            <a:spAutoFit/>
          </a:bodyPr>
          <a:lstStyle/>
          <a:p>
            <a:pPr algn="l"/>
            <a:r>
              <a:rPr sz="1050" b="0" i="0">
                <a:solidFill>
                  <a:srgbClr val="1C1C2E"/>
                </a:solidFill>
                <a:latin typeface="Calibri"/>
              </a:rPr>
              <a:t>ICP grid with status, throughput and risk flags</a:t>
            </a:r>
          </a:p>
        </p:txBody>
      </p:sp>
      <p:sp>
        <p:nvSpPr>
          <p:cNvPr id="28" name="Rectangle 27"/>
          <p:cNvSpPr/>
          <p:nvPr/>
        </p:nvSpPr>
        <p:spPr>
          <a:xfrm>
            <a:off x="274320" y="5715000"/>
            <a:ext cx="11795760" cy="5943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5760720"/>
            <a:ext cx="5029200" cy="502920"/>
          </a:xfrm>
          <a:prstGeom prst="rect">
            <a:avLst/>
          </a:prstGeom>
          <a:noFill/>
        </p:spPr>
        <p:txBody>
          <a:bodyPr wrap="square">
            <a:spAutoFit/>
          </a:bodyPr>
          <a:lstStyle/>
          <a:p>
            <a:pPr algn="l"/>
            <a:r>
              <a:rPr sz="1000" b="0" i="0">
                <a:solidFill>
                  <a:srgbClr val="F0F0F0"/>
                </a:solidFill>
                <a:latin typeface="Calibri"/>
              </a:rPr>
              <a:t>Replaces: Next-day Excel MIS reports</a:t>
            </a:r>
          </a:p>
        </p:txBody>
      </p:sp>
      <p:sp>
        <p:nvSpPr>
          <p:cNvPr id="30" name="Rectangle 29"/>
          <p:cNvSpPr/>
          <p:nvPr/>
        </p:nvSpPr>
        <p:spPr>
          <a:xfrm>
            <a:off x="5486400" y="5806440"/>
            <a:ext cx="27432" cy="41148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23560" y="5760720"/>
            <a:ext cx="6309360" cy="502920"/>
          </a:xfrm>
          <a:prstGeom prst="rect">
            <a:avLst/>
          </a:prstGeom>
          <a:noFill/>
        </p:spPr>
        <p:txBody>
          <a:bodyPr wrap="square">
            <a:spAutoFit/>
          </a:bodyPr>
          <a:lstStyle/>
          <a:p>
            <a:pPr algn="l"/>
            <a:r>
              <a:rPr sz="1000" b="1" i="0">
                <a:solidFill>
                  <a:srgbClr val="D4881A"/>
                </a:solidFill>
                <a:latin typeface="Calibri"/>
              </a:rPr>
              <a:t>Benefit: Instant situational awareness for LPAI HQ</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Cargo Clearance — AI Risk Scoring for Every Consignment</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8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Cargo Clearance — AI Risk Scoring for Every Consignment</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cargo.jpeg"/>
          <p:cNvPicPr>
            <a:picLocks noChangeAspect="1"/>
          </p:cNvPicPr>
          <p:nvPr/>
        </p:nvPicPr>
        <p:blipFill>
          <a:blip r:embed="rId2"/>
          <a:stretch>
            <a:fillRect/>
          </a:stretch>
        </p:blipFill>
        <p:spPr>
          <a:xfrm>
            <a:off x="274320" y="1005840"/>
            <a:ext cx="6583680" cy="4526280"/>
          </a:xfrm>
          <a:prstGeom prst="rect">
            <a:avLst/>
          </a:prstGeom>
        </p:spPr>
      </p:pic>
      <p:sp>
        <p:nvSpPr>
          <p:cNvPr id="13" name="TextBox 12"/>
          <p:cNvSpPr txBox="1"/>
          <p:nvPr/>
        </p:nvSpPr>
        <p:spPr>
          <a:xfrm>
            <a:off x="6995160" y="1051560"/>
            <a:ext cx="4983480" cy="365760"/>
          </a:xfrm>
          <a:prstGeom prst="rect">
            <a:avLst/>
          </a:prstGeom>
          <a:noFill/>
        </p:spPr>
        <p:txBody>
          <a:bodyPr wrap="square">
            <a:spAutoFit/>
          </a:bodyPr>
          <a:lstStyle/>
          <a:p>
            <a:pPr algn="l"/>
            <a:r>
              <a:rPr sz="1300" b="1" i="0">
                <a:solidFill>
                  <a:srgbClr val="1A3A6A"/>
                </a:solidFill>
                <a:latin typeface="Calibri"/>
              </a:rPr>
              <a:t>The Four-Lane Risk System</a:t>
            </a:r>
          </a:p>
        </p:txBody>
      </p:sp>
      <p:sp>
        <p:nvSpPr>
          <p:cNvPr id="14" name="Rectangle 13"/>
          <p:cNvSpPr/>
          <p:nvPr/>
        </p:nvSpPr>
        <p:spPr>
          <a:xfrm>
            <a:off x="6995160" y="1508760"/>
            <a:ext cx="4983480" cy="8686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1508760"/>
            <a:ext cx="164592" cy="8686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1563624"/>
            <a:ext cx="2286000" cy="347472"/>
          </a:xfrm>
          <a:prstGeom prst="rect">
            <a:avLst/>
          </a:prstGeom>
          <a:noFill/>
        </p:spPr>
        <p:txBody>
          <a:bodyPr wrap="square">
            <a:spAutoFit/>
          </a:bodyPr>
          <a:lstStyle/>
          <a:p>
            <a:pPr algn="l"/>
            <a:r>
              <a:rPr sz="1100" b="1" i="0">
                <a:solidFill>
                  <a:srgbClr val="1A6A3A"/>
                </a:solidFill>
                <a:latin typeface="Calibri"/>
              </a:rPr>
              <a:t>GREEN LANE</a:t>
            </a:r>
          </a:p>
        </p:txBody>
      </p:sp>
      <p:sp>
        <p:nvSpPr>
          <p:cNvPr id="17" name="TextBox 16"/>
          <p:cNvSpPr txBox="1"/>
          <p:nvPr/>
        </p:nvSpPr>
        <p:spPr>
          <a:xfrm>
            <a:off x="7223760" y="1929384"/>
            <a:ext cx="2286000" cy="347472"/>
          </a:xfrm>
          <a:prstGeom prst="rect">
            <a:avLst/>
          </a:prstGeom>
          <a:noFill/>
        </p:spPr>
        <p:txBody>
          <a:bodyPr wrap="square">
            <a:spAutoFit/>
          </a:bodyPr>
          <a:lstStyle/>
          <a:p>
            <a:pPr algn="l"/>
            <a:r>
              <a:rPr sz="1000" b="0" i="0">
                <a:solidFill>
                  <a:srgbClr val="666666"/>
                </a:solidFill>
                <a:latin typeface="Calibri"/>
              </a:rPr>
              <a:t>Score 0–35</a:t>
            </a:r>
          </a:p>
        </p:txBody>
      </p:sp>
      <p:sp>
        <p:nvSpPr>
          <p:cNvPr id="18" name="TextBox 17"/>
          <p:cNvSpPr txBox="1"/>
          <p:nvPr/>
        </p:nvSpPr>
        <p:spPr>
          <a:xfrm>
            <a:off x="9555480" y="1691640"/>
            <a:ext cx="2331720" cy="502920"/>
          </a:xfrm>
          <a:prstGeom prst="rect">
            <a:avLst/>
          </a:prstGeom>
          <a:noFill/>
        </p:spPr>
        <p:txBody>
          <a:bodyPr wrap="square">
            <a:spAutoFit/>
          </a:bodyPr>
          <a:lstStyle/>
          <a:p>
            <a:pPr algn="l"/>
            <a:r>
              <a:rPr sz="1000" b="0" i="0">
                <a:solidFill>
                  <a:srgbClr val="1C1C2E"/>
                </a:solidFill>
                <a:latin typeface="Calibri"/>
              </a:rPr>
              <a:t>Auto-cleared by Axiom AI</a:t>
            </a:r>
          </a:p>
        </p:txBody>
      </p:sp>
      <p:sp>
        <p:nvSpPr>
          <p:cNvPr id="19" name="Rectangle 18"/>
          <p:cNvSpPr/>
          <p:nvPr/>
        </p:nvSpPr>
        <p:spPr>
          <a:xfrm>
            <a:off x="6995160" y="2468880"/>
            <a:ext cx="4983480" cy="8686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2468880"/>
            <a:ext cx="164592" cy="868680"/>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2523744"/>
            <a:ext cx="2286000" cy="347472"/>
          </a:xfrm>
          <a:prstGeom prst="rect">
            <a:avLst/>
          </a:prstGeom>
          <a:noFill/>
        </p:spPr>
        <p:txBody>
          <a:bodyPr wrap="square">
            <a:spAutoFit/>
          </a:bodyPr>
          <a:lstStyle/>
          <a:p>
            <a:pPr algn="l"/>
            <a:r>
              <a:rPr sz="1100" b="1" i="0">
                <a:solidFill>
                  <a:srgbClr val="F39C12"/>
                </a:solidFill>
                <a:latin typeface="Calibri"/>
              </a:rPr>
              <a:t>YELLOW LANE</a:t>
            </a:r>
          </a:p>
        </p:txBody>
      </p:sp>
      <p:sp>
        <p:nvSpPr>
          <p:cNvPr id="22" name="TextBox 21"/>
          <p:cNvSpPr txBox="1"/>
          <p:nvPr/>
        </p:nvSpPr>
        <p:spPr>
          <a:xfrm>
            <a:off x="7223760" y="2889504"/>
            <a:ext cx="2286000" cy="347472"/>
          </a:xfrm>
          <a:prstGeom prst="rect">
            <a:avLst/>
          </a:prstGeom>
          <a:noFill/>
        </p:spPr>
        <p:txBody>
          <a:bodyPr wrap="square">
            <a:spAutoFit/>
          </a:bodyPr>
          <a:lstStyle/>
          <a:p>
            <a:pPr algn="l"/>
            <a:r>
              <a:rPr sz="1000" b="0" i="0">
                <a:solidFill>
                  <a:srgbClr val="666666"/>
                </a:solidFill>
                <a:latin typeface="Calibri"/>
              </a:rPr>
              <a:t>Score 36–65</a:t>
            </a:r>
          </a:p>
        </p:txBody>
      </p:sp>
      <p:sp>
        <p:nvSpPr>
          <p:cNvPr id="23" name="TextBox 22"/>
          <p:cNvSpPr txBox="1"/>
          <p:nvPr/>
        </p:nvSpPr>
        <p:spPr>
          <a:xfrm>
            <a:off x="9555480" y="2651760"/>
            <a:ext cx="2331720" cy="502920"/>
          </a:xfrm>
          <a:prstGeom prst="rect">
            <a:avLst/>
          </a:prstGeom>
          <a:noFill/>
        </p:spPr>
        <p:txBody>
          <a:bodyPr wrap="square">
            <a:spAutoFit/>
          </a:bodyPr>
          <a:lstStyle/>
          <a:p>
            <a:pPr algn="l"/>
            <a:r>
              <a:rPr sz="1000" b="0" i="0">
                <a:solidFill>
                  <a:srgbClr val="1C1C2E"/>
                </a:solidFill>
                <a:latin typeface="Calibri"/>
              </a:rPr>
              <a:t>Document verification required</a:t>
            </a:r>
          </a:p>
        </p:txBody>
      </p:sp>
      <p:sp>
        <p:nvSpPr>
          <p:cNvPr id="24" name="Rectangle 23"/>
          <p:cNvSpPr/>
          <p:nvPr/>
        </p:nvSpPr>
        <p:spPr>
          <a:xfrm>
            <a:off x="6995160" y="3429000"/>
            <a:ext cx="4983480" cy="8686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95160" y="3429000"/>
            <a:ext cx="164592" cy="868680"/>
          </a:xfrm>
          <a:prstGeom prst="rect">
            <a:avLst/>
          </a:prstGeom>
          <a:solidFill>
            <a:srgbClr val="E67E2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3483864"/>
            <a:ext cx="2286000" cy="347472"/>
          </a:xfrm>
          <a:prstGeom prst="rect">
            <a:avLst/>
          </a:prstGeom>
          <a:noFill/>
        </p:spPr>
        <p:txBody>
          <a:bodyPr wrap="square">
            <a:spAutoFit/>
          </a:bodyPr>
          <a:lstStyle/>
          <a:p>
            <a:pPr algn="l"/>
            <a:r>
              <a:rPr sz="1100" b="1" i="0">
                <a:solidFill>
                  <a:srgbClr val="E67E22"/>
                </a:solidFill>
                <a:latin typeface="Calibri"/>
              </a:rPr>
              <a:t>ORANGE LANE</a:t>
            </a:r>
          </a:p>
        </p:txBody>
      </p:sp>
      <p:sp>
        <p:nvSpPr>
          <p:cNvPr id="27" name="TextBox 26"/>
          <p:cNvSpPr txBox="1"/>
          <p:nvPr/>
        </p:nvSpPr>
        <p:spPr>
          <a:xfrm>
            <a:off x="7223760" y="3849624"/>
            <a:ext cx="2286000" cy="347472"/>
          </a:xfrm>
          <a:prstGeom prst="rect">
            <a:avLst/>
          </a:prstGeom>
          <a:noFill/>
        </p:spPr>
        <p:txBody>
          <a:bodyPr wrap="square">
            <a:spAutoFit/>
          </a:bodyPr>
          <a:lstStyle/>
          <a:p>
            <a:pPr algn="l"/>
            <a:r>
              <a:rPr sz="1000" b="0" i="0">
                <a:solidFill>
                  <a:srgbClr val="666666"/>
                </a:solidFill>
                <a:latin typeface="Calibri"/>
              </a:rPr>
              <a:t>Score 66–80</a:t>
            </a:r>
          </a:p>
        </p:txBody>
      </p:sp>
      <p:sp>
        <p:nvSpPr>
          <p:cNvPr id="28" name="TextBox 27"/>
          <p:cNvSpPr txBox="1"/>
          <p:nvPr/>
        </p:nvSpPr>
        <p:spPr>
          <a:xfrm>
            <a:off x="9555480" y="3611880"/>
            <a:ext cx="2331720" cy="502920"/>
          </a:xfrm>
          <a:prstGeom prst="rect">
            <a:avLst/>
          </a:prstGeom>
          <a:noFill/>
        </p:spPr>
        <p:txBody>
          <a:bodyPr wrap="square">
            <a:spAutoFit/>
          </a:bodyPr>
          <a:lstStyle/>
          <a:p>
            <a:pPr algn="l"/>
            <a:r>
              <a:rPr sz="1000" b="0" i="0">
                <a:solidFill>
                  <a:srgbClr val="1C1C2E"/>
                </a:solidFill>
                <a:latin typeface="Calibri"/>
              </a:rPr>
              <a:t>Physical examination ordered</a:t>
            </a:r>
          </a:p>
        </p:txBody>
      </p:sp>
      <p:sp>
        <p:nvSpPr>
          <p:cNvPr id="29" name="Rectangle 28"/>
          <p:cNvSpPr/>
          <p:nvPr/>
        </p:nvSpPr>
        <p:spPr>
          <a:xfrm>
            <a:off x="6995160" y="4389120"/>
            <a:ext cx="4983480" cy="8686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4389120"/>
            <a:ext cx="164592" cy="868680"/>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4443984"/>
            <a:ext cx="2286000" cy="347472"/>
          </a:xfrm>
          <a:prstGeom prst="rect">
            <a:avLst/>
          </a:prstGeom>
          <a:noFill/>
        </p:spPr>
        <p:txBody>
          <a:bodyPr wrap="square">
            <a:spAutoFit/>
          </a:bodyPr>
          <a:lstStyle/>
          <a:p>
            <a:pPr algn="l"/>
            <a:r>
              <a:rPr sz="1100" b="1" i="0">
                <a:solidFill>
                  <a:srgbClr val="C0392B"/>
                </a:solidFill>
                <a:latin typeface="Calibri"/>
              </a:rPr>
              <a:t>RED LANE</a:t>
            </a:r>
          </a:p>
        </p:txBody>
      </p:sp>
      <p:sp>
        <p:nvSpPr>
          <p:cNvPr id="32" name="TextBox 31"/>
          <p:cNvSpPr txBox="1"/>
          <p:nvPr/>
        </p:nvSpPr>
        <p:spPr>
          <a:xfrm>
            <a:off x="7223760" y="4809744"/>
            <a:ext cx="2286000" cy="347472"/>
          </a:xfrm>
          <a:prstGeom prst="rect">
            <a:avLst/>
          </a:prstGeom>
          <a:noFill/>
        </p:spPr>
        <p:txBody>
          <a:bodyPr wrap="square">
            <a:spAutoFit/>
          </a:bodyPr>
          <a:lstStyle/>
          <a:p>
            <a:pPr algn="l"/>
            <a:r>
              <a:rPr sz="1000" b="0" i="0">
                <a:solidFill>
                  <a:srgbClr val="666666"/>
                </a:solidFill>
                <a:latin typeface="Calibri"/>
              </a:rPr>
              <a:t>Score 81–100</a:t>
            </a:r>
          </a:p>
        </p:txBody>
      </p:sp>
      <p:sp>
        <p:nvSpPr>
          <p:cNvPr id="33" name="TextBox 32"/>
          <p:cNvSpPr txBox="1"/>
          <p:nvPr/>
        </p:nvSpPr>
        <p:spPr>
          <a:xfrm>
            <a:off x="9555480" y="4572000"/>
            <a:ext cx="2331720" cy="502920"/>
          </a:xfrm>
          <a:prstGeom prst="rect">
            <a:avLst/>
          </a:prstGeom>
          <a:noFill/>
        </p:spPr>
        <p:txBody>
          <a:bodyPr wrap="square">
            <a:spAutoFit/>
          </a:bodyPr>
          <a:lstStyle/>
          <a:p>
            <a:pPr algn="l"/>
            <a:r>
              <a:rPr sz="1000" b="0" i="0">
                <a:solidFill>
                  <a:srgbClr val="1C1C2E"/>
                </a:solidFill>
                <a:latin typeface="Calibri"/>
              </a:rPr>
              <a:t>Full hold — officer decision required</a:t>
            </a:r>
          </a:p>
        </p:txBody>
      </p:sp>
      <p:sp>
        <p:nvSpPr>
          <p:cNvPr id="34" name="Rectangle 33"/>
          <p:cNvSpPr/>
          <p:nvPr/>
        </p:nvSpPr>
        <p:spPr>
          <a:xfrm>
            <a:off x="274320" y="5742432"/>
            <a:ext cx="11795760" cy="566928"/>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788152"/>
            <a:ext cx="1828800" cy="228600"/>
          </a:xfrm>
          <a:prstGeom prst="rect">
            <a:avLst/>
          </a:prstGeom>
          <a:noFill/>
        </p:spPr>
        <p:txBody>
          <a:bodyPr wrap="square">
            <a:spAutoFit/>
          </a:bodyPr>
          <a:lstStyle/>
          <a:p>
            <a:pPr algn="l"/>
            <a:r>
              <a:rPr sz="850" b="0" i="0">
                <a:solidFill>
                  <a:srgbClr val="F0F0F0"/>
                </a:solidFill>
                <a:latin typeface="Calibri"/>
              </a:rPr>
              <a:t>Processed Today</a:t>
            </a:r>
          </a:p>
        </p:txBody>
      </p:sp>
      <p:sp>
        <p:nvSpPr>
          <p:cNvPr id="36" name="TextBox 35"/>
          <p:cNvSpPr txBox="1"/>
          <p:nvPr/>
        </p:nvSpPr>
        <p:spPr>
          <a:xfrm>
            <a:off x="457200" y="5989320"/>
            <a:ext cx="1828800" cy="256032"/>
          </a:xfrm>
          <a:prstGeom prst="rect">
            <a:avLst/>
          </a:prstGeom>
          <a:noFill/>
        </p:spPr>
        <p:txBody>
          <a:bodyPr wrap="square">
            <a:spAutoFit/>
          </a:bodyPr>
          <a:lstStyle/>
          <a:p>
            <a:pPr algn="l"/>
            <a:r>
              <a:rPr sz="1100" b="1" i="0">
                <a:solidFill>
                  <a:srgbClr val="FFFFFF"/>
                </a:solidFill>
                <a:latin typeface="Calibri"/>
              </a:rPr>
              <a:t>847 consignments</a:t>
            </a:r>
          </a:p>
        </p:txBody>
      </p:sp>
      <p:sp>
        <p:nvSpPr>
          <p:cNvPr id="37" name="TextBox 36"/>
          <p:cNvSpPr txBox="1"/>
          <p:nvPr/>
        </p:nvSpPr>
        <p:spPr>
          <a:xfrm>
            <a:off x="4389120" y="5788152"/>
            <a:ext cx="1828800" cy="228600"/>
          </a:xfrm>
          <a:prstGeom prst="rect">
            <a:avLst/>
          </a:prstGeom>
          <a:noFill/>
        </p:spPr>
        <p:txBody>
          <a:bodyPr wrap="square">
            <a:spAutoFit/>
          </a:bodyPr>
          <a:lstStyle/>
          <a:p>
            <a:pPr algn="l"/>
            <a:r>
              <a:rPr sz="850" b="0" i="0">
                <a:solidFill>
                  <a:srgbClr val="F0F0F0"/>
                </a:solidFill>
                <a:latin typeface="Calibri"/>
              </a:rPr>
              <a:t>Auto-cleared</a:t>
            </a:r>
          </a:p>
        </p:txBody>
      </p:sp>
      <p:sp>
        <p:nvSpPr>
          <p:cNvPr id="38" name="TextBox 37"/>
          <p:cNvSpPr txBox="1"/>
          <p:nvPr/>
        </p:nvSpPr>
        <p:spPr>
          <a:xfrm>
            <a:off x="4389120" y="5989320"/>
            <a:ext cx="1828800" cy="256032"/>
          </a:xfrm>
          <a:prstGeom prst="rect">
            <a:avLst/>
          </a:prstGeom>
          <a:noFill/>
        </p:spPr>
        <p:txBody>
          <a:bodyPr wrap="square">
            <a:spAutoFit/>
          </a:bodyPr>
          <a:lstStyle/>
          <a:p>
            <a:pPr algn="l"/>
            <a:r>
              <a:rPr sz="1100" b="1" i="0">
                <a:solidFill>
                  <a:srgbClr val="1A6A3A"/>
                </a:solidFill>
                <a:latin typeface="Calibri"/>
              </a:rPr>
              <a:t>612 by Axiom AI</a:t>
            </a:r>
          </a:p>
        </p:txBody>
      </p:sp>
      <p:sp>
        <p:nvSpPr>
          <p:cNvPr id="39" name="TextBox 38"/>
          <p:cNvSpPr txBox="1"/>
          <p:nvPr/>
        </p:nvSpPr>
        <p:spPr>
          <a:xfrm>
            <a:off x="8321040" y="5788152"/>
            <a:ext cx="1828800" cy="228600"/>
          </a:xfrm>
          <a:prstGeom prst="rect">
            <a:avLst/>
          </a:prstGeom>
          <a:noFill/>
        </p:spPr>
        <p:txBody>
          <a:bodyPr wrap="square">
            <a:spAutoFit/>
          </a:bodyPr>
          <a:lstStyle/>
          <a:p>
            <a:pPr algn="l"/>
            <a:r>
              <a:rPr sz="850" b="0" i="0">
                <a:solidFill>
                  <a:srgbClr val="F0F0F0"/>
                </a:solidFill>
                <a:latin typeface="Calibri"/>
              </a:rPr>
              <a:t>Flagged for Review</a:t>
            </a:r>
          </a:p>
        </p:txBody>
      </p:sp>
      <p:sp>
        <p:nvSpPr>
          <p:cNvPr id="40" name="TextBox 39"/>
          <p:cNvSpPr txBox="1"/>
          <p:nvPr/>
        </p:nvSpPr>
        <p:spPr>
          <a:xfrm>
            <a:off x="8321040" y="5989320"/>
            <a:ext cx="1828800" cy="256032"/>
          </a:xfrm>
          <a:prstGeom prst="rect">
            <a:avLst/>
          </a:prstGeom>
          <a:noFill/>
        </p:spPr>
        <p:txBody>
          <a:bodyPr wrap="square">
            <a:spAutoFit/>
          </a:bodyPr>
          <a:lstStyle/>
          <a:p>
            <a:pPr algn="l"/>
            <a:r>
              <a:rPr sz="1100" b="1" i="0">
                <a:solidFill>
                  <a:srgbClr val="C0392B"/>
                </a:solidFill>
                <a:latin typeface="Calibri"/>
              </a:rPr>
              <a:t>37 consignments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People Movement — Predictive Queue Management</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9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People Movement — Predictive Queue Management</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people.png"/>
          <p:cNvPicPr>
            <a:picLocks noChangeAspect="1"/>
          </p:cNvPicPr>
          <p:nvPr/>
        </p:nvPicPr>
        <p:blipFill>
          <a:blip r:embed="rId2"/>
          <a:stretch>
            <a:fillRect/>
          </a:stretch>
        </p:blipFill>
        <p:spPr>
          <a:xfrm>
            <a:off x="274320" y="1005840"/>
            <a:ext cx="6583680" cy="4526280"/>
          </a:xfrm>
          <a:prstGeom prst="rect">
            <a:avLst/>
          </a:prstGeom>
        </p:spPr>
      </p:pic>
      <p:sp>
        <p:nvSpPr>
          <p:cNvPr id="13" name="Rectangle 12"/>
          <p:cNvSpPr/>
          <p:nvPr/>
        </p:nvSpPr>
        <p:spPr>
          <a:xfrm>
            <a:off x="6995160" y="1051560"/>
            <a:ext cx="4983480" cy="164592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115568"/>
            <a:ext cx="4800600" cy="365760"/>
          </a:xfrm>
          <a:prstGeom prst="rect">
            <a:avLst/>
          </a:prstGeom>
          <a:noFill/>
        </p:spPr>
        <p:txBody>
          <a:bodyPr wrap="square">
            <a:spAutoFit/>
          </a:bodyPr>
          <a:lstStyle/>
          <a:p>
            <a:pPr algn="l"/>
            <a:r>
              <a:rPr sz="1200" b="1" i="0">
                <a:solidFill>
                  <a:srgbClr val="D4881A"/>
                </a:solidFill>
                <a:latin typeface="Calibri"/>
              </a:rPr>
              <a:t>Axiom Queue Intelligence</a:t>
            </a:r>
          </a:p>
        </p:txBody>
      </p:sp>
      <p:sp>
        <p:nvSpPr>
          <p:cNvPr id="15" name="TextBox 14"/>
          <p:cNvSpPr txBox="1"/>
          <p:nvPr/>
        </p:nvSpPr>
        <p:spPr>
          <a:xfrm>
            <a:off x="7086600" y="1508760"/>
            <a:ext cx="4800600" cy="1005840"/>
          </a:xfrm>
          <a:prstGeom prst="rect">
            <a:avLst/>
          </a:prstGeom>
          <a:noFill/>
        </p:spPr>
        <p:txBody>
          <a:bodyPr wrap="square">
            <a:spAutoFit/>
          </a:bodyPr>
          <a:lstStyle/>
          <a:p>
            <a:pPr algn="l"/>
            <a:r>
              <a:rPr sz="1100" b="0" i="0">
                <a:solidFill>
                  <a:srgbClr val="FFFFFF"/>
                </a:solidFill>
                <a:latin typeface="Calibri"/>
              </a:rPr>
              <a:t>Predicts queue sizes 6 hours ahead.
ICP Commanders open counters before queues build
— not after.</a:t>
            </a:r>
          </a:p>
        </p:txBody>
      </p:sp>
      <p:sp>
        <p:nvSpPr>
          <p:cNvPr id="16" name="Rectangle 15"/>
          <p:cNvSpPr/>
          <p:nvPr/>
        </p:nvSpPr>
        <p:spPr>
          <a:xfrm>
            <a:off x="6995160" y="2834640"/>
            <a:ext cx="4983480" cy="749808"/>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86600" y="2889504"/>
            <a:ext cx="1828800" cy="347472"/>
          </a:xfrm>
          <a:prstGeom prst="rect">
            <a:avLst/>
          </a:prstGeom>
          <a:noFill/>
        </p:spPr>
        <p:txBody>
          <a:bodyPr wrap="square">
            <a:spAutoFit/>
          </a:bodyPr>
          <a:lstStyle/>
          <a:p>
            <a:pPr algn="l"/>
            <a:r>
              <a:rPr sz="2200" b="1" i="0">
                <a:solidFill>
                  <a:srgbClr val="1A3A6A"/>
                </a:solidFill>
                <a:latin typeface="Calibri"/>
              </a:rPr>
              <a:t>2,341</a:t>
            </a:r>
          </a:p>
        </p:txBody>
      </p:sp>
      <p:sp>
        <p:nvSpPr>
          <p:cNvPr id="18" name="TextBox 17"/>
          <p:cNvSpPr txBox="1"/>
          <p:nvPr/>
        </p:nvSpPr>
        <p:spPr>
          <a:xfrm>
            <a:off x="7086600" y="3236976"/>
            <a:ext cx="3200400" cy="256032"/>
          </a:xfrm>
          <a:prstGeom prst="rect">
            <a:avLst/>
          </a:prstGeom>
          <a:noFill/>
        </p:spPr>
        <p:txBody>
          <a:bodyPr wrap="square">
            <a:spAutoFit/>
          </a:bodyPr>
          <a:lstStyle/>
          <a:p>
            <a:pPr algn="l"/>
            <a:r>
              <a:rPr sz="1000" b="0" i="0">
                <a:solidFill>
                  <a:srgbClr val="666666"/>
                </a:solidFill>
                <a:latin typeface="Calibri"/>
              </a:rPr>
              <a:t>Crossings Today</a:t>
            </a:r>
          </a:p>
        </p:txBody>
      </p:sp>
      <p:sp>
        <p:nvSpPr>
          <p:cNvPr id="19" name="Rectangle 18"/>
          <p:cNvSpPr/>
          <p:nvPr/>
        </p:nvSpPr>
        <p:spPr>
          <a:xfrm>
            <a:off x="6995160" y="3657600"/>
            <a:ext cx="4983480" cy="749808"/>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6600" y="3712464"/>
            <a:ext cx="1828800" cy="347472"/>
          </a:xfrm>
          <a:prstGeom prst="rect">
            <a:avLst/>
          </a:prstGeom>
          <a:noFill/>
        </p:spPr>
        <p:txBody>
          <a:bodyPr wrap="square">
            <a:spAutoFit/>
          </a:bodyPr>
          <a:lstStyle/>
          <a:p>
            <a:pPr algn="l"/>
            <a:r>
              <a:rPr sz="2200" b="1" i="0">
                <a:solidFill>
                  <a:srgbClr val="1A3A6A"/>
                </a:solidFill>
                <a:latin typeface="Calibri"/>
              </a:rPr>
              <a:t>494</a:t>
            </a:r>
          </a:p>
        </p:txBody>
      </p:sp>
      <p:sp>
        <p:nvSpPr>
          <p:cNvPr id="21" name="TextBox 20"/>
          <p:cNvSpPr txBox="1"/>
          <p:nvPr/>
        </p:nvSpPr>
        <p:spPr>
          <a:xfrm>
            <a:off x="7086600" y="4059936"/>
            <a:ext cx="3200400" cy="256032"/>
          </a:xfrm>
          <a:prstGeom prst="rect">
            <a:avLst/>
          </a:prstGeom>
          <a:noFill/>
        </p:spPr>
        <p:txBody>
          <a:bodyPr wrap="square">
            <a:spAutoFit/>
          </a:bodyPr>
          <a:lstStyle/>
          <a:p>
            <a:pPr algn="l"/>
            <a:r>
              <a:rPr sz="1000" b="0" i="0">
                <a:solidFill>
                  <a:srgbClr val="666666"/>
                </a:solidFill>
                <a:latin typeface="Calibri"/>
              </a:rPr>
              <a:t>Foreign Nationals</a:t>
            </a:r>
          </a:p>
        </p:txBody>
      </p:sp>
      <p:sp>
        <p:nvSpPr>
          <p:cNvPr id="22" name="Rectangle 21"/>
          <p:cNvSpPr/>
          <p:nvPr/>
        </p:nvSpPr>
        <p:spPr>
          <a:xfrm>
            <a:off x="6995160" y="4480560"/>
            <a:ext cx="4983480" cy="749808"/>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6600" y="4535424"/>
            <a:ext cx="1828800" cy="347472"/>
          </a:xfrm>
          <a:prstGeom prst="rect">
            <a:avLst/>
          </a:prstGeom>
          <a:noFill/>
        </p:spPr>
        <p:txBody>
          <a:bodyPr wrap="square">
            <a:spAutoFit/>
          </a:bodyPr>
          <a:lstStyle/>
          <a:p>
            <a:pPr algn="l"/>
            <a:r>
              <a:rPr sz="2200" b="1" i="0">
                <a:solidFill>
                  <a:srgbClr val="1A3A6A"/>
                </a:solidFill>
                <a:latin typeface="Calibri"/>
              </a:rPr>
              <a:t>12</a:t>
            </a:r>
          </a:p>
        </p:txBody>
      </p:sp>
      <p:sp>
        <p:nvSpPr>
          <p:cNvPr id="24" name="TextBox 23"/>
          <p:cNvSpPr txBox="1"/>
          <p:nvPr/>
        </p:nvSpPr>
        <p:spPr>
          <a:xfrm>
            <a:off x="7086600" y="4882896"/>
            <a:ext cx="3200400" cy="256032"/>
          </a:xfrm>
          <a:prstGeom prst="rect">
            <a:avLst/>
          </a:prstGeom>
          <a:noFill/>
        </p:spPr>
        <p:txBody>
          <a:bodyPr wrap="square">
            <a:spAutoFit/>
          </a:bodyPr>
          <a:lstStyle/>
          <a:p>
            <a:pPr algn="l"/>
            <a:r>
              <a:rPr sz="1000" b="0" i="0">
                <a:solidFill>
                  <a:srgbClr val="666666"/>
                </a:solidFill>
                <a:latin typeface="Calibri"/>
              </a:rPr>
              <a:t>Flagged / Detained</a:t>
            </a:r>
          </a:p>
        </p:txBody>
      </p:sp>
      <p:sp>
        <p:nvSpPr>
          <p:cNvPr id="25" name="Rectangle 24"/>
          <p:cNvSpPr/>
          <p:nvPr/>
        </p:nvSpPr>
        <p:spPr>
          <a:xfrm>
            <a:off x="6995160" y="5349240"/>
            <a:ext cx="4983480" cy="50292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5394960"/>
            <a:ext cx="4800600" cy="384048"/>
          </a:xfrm>
          <a:prstGeom prst="rect">
            <a:avLst/>
          </a:prstGeom>
          <a:noFill/>
        </p:spPr>
        <p:txBody>
          <a:bodyPr wrap="square">
            <a:spAutoFit/>
          </a:bodyPr>
          <a:lstStyle/>
          <a:p>
            <a:pPr algn="l"/>
            <a:r>
              <a:rPr sz="1000" b="1" i="0">
                <a:solidFill>
                  <a:srgbClr val="FFFFFF"/>
                </a:solidFill>
                <a:latin typeface="Calibri"/>
              </a:rPr>
              <a:t>Watchlist check: &lt;1 second  vs  2-3 min manual lookup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Security &amp; Surveillance — AI That Never Blinks</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10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Security &amp; Surveillance — AI That Never Blinks</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security.png"/>
          <p:cNvPicPr>
            <a:picLocks noChangeAspect="1"/>
          </p:cNvPicPr>
          <p:nvPr/>
        </p:nvPicPr>
        <p:blipFill>
          <a:blip r:embed="rId2"/>
          <a:stretch>
            <a:fillRect/>
          </a:stretch>
        </p:blipFill>
        <p:spPr>
          <a:xfrm>
            <a:off x="274320" y="1005840"/>
            <a:ext cx="6583680" cy="4526280"/>
          </a:xfrm>
          <a:prstGeom prst="rect">
            <a:avLst/>
          </a:prstGeom>
        </p:spPr>
      </p:pic>
      <p:sp>
        <p:nvSpPr>
          <p:cNvPr id="13" name="TextBox 12"/>
          <p:cNvSpPr txBox="1"/>
          <p:nvPr/>
        </p:nvSpPr>
        <p:spPr>
          <a:xfrm>
            <a:off x="6995160" y="1051560"/>
            <a:ext cx="4983480" cy="347472"/>
          </a:xfrm>
          <a:prstGeom prst="rect">
            <a:avLst/>
          </a:prstGeom>
          <a:noFill/>
        </p:spPr>
        <p:txBody>
          <a:bodyPr wrap="square">
            <a:spAutoFit/>
          </a:bodyPr>
          <a:lstStyle/>
          <a:p>
            <a:pPr algn="l"/>
            <a:r>
              <a:rPr sz="1300" b="1" i="0">
                <a:solidFill>
                  <a:srgbClr val="1A3A6A"/>
                </a:solidFill>
                <a:latin typeface="Calibri"/>
              </a:rPr>
              <a:t>What Axiom Detects:</a:t>
            </a:r>
          </a:p>
        </p:txBody>
      </p:sp>
      <p:sp>
        <p:nvSpPr>
          <p:cNvPr id="14" name="Rectangle 13"/>
          <p:cNvSpPr/>
          <p:nvPr/>
        </p:nvSpPr>
        <p:spPr>
          <a:xfrm>
            <a:off x="6995160" y="1463040"/>
            <a:ext cx="4983480" cy="5486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1554480"/>
            <a:ext cx="457200" cy="365760"/>
          </a:xfrm>
          <a:prstGeom prst="rect">
            <a:avLst/>
          </a:prstGeom>
          <a:noFill/>
        </p:spPr>
        <p:txBody>
          <a:bodyPr wrap="square">
            <a:spAutoFit/>
          </a:bodyPr>
          <a:lstStyle/>
          <a:p>
            <a:pPr algn="l"/>
            <a:r>
              <a:rPr sz="1400" b="0" i="0">
                <a:solidFill>
                  <a:srgbClr val="1C1C2E"/>
                </a:solidFill>
                <a:latin typeface="Calibri"/>
              </a:rPr>
              <a:t>🚫</a:t>
            </a:r>
          </a:p>
        </p:txBody>
      </p:sp>
      <p:sp>
        <p:nvSpPr>
          <p:cNvPr id="16" name="TextBox 15"/>
          <p:cNvSpPr txBox="1"/>
          <p:nvPr/>
        </p:nvSpPr>
        <p:spPr>
          <a:xfrm>
            <a:off x="7589520" y="1554480"/>
            <a:ext cx="4297680" cy="365760"/>
          </a:xfrm>
          <a:prstGeom prst="rect">
            <a:avLst/>
          </a:prstGeom>
          <a:noFill/>
        </p:spPr>
        <p:txBody>
          <a:bodyPr wrap="square">
            <a:spAutoFit/>
          </a:bodyPr>
          <a:lstStyle/>
          <a:p>
            <a:pPr algn="l"/>
            <a:r>
              <a:rPr sz="1100" b="0" i="0">
                <a:solidFill>
                  <a:srgbClr val="1C1C2E"/>
                </a:solidFill>
                <a:latin typeface="Calibri"/>
              </a:rPr>
              <a:t>Restricted zone intrusions</a:t>
            </a:r>
          </a:p>
        </p:txBody>
      </p:sp>
      <p:sp>
        <p:nvSpPr>
          <p:cNvPr id="17" name="Rectangle 16"/>
          <p:cNvSpPr/>
          <p:nvPr/>
        </p:nvSpPr>
        <p:spPr>
          <a:xfrm>
            <a:off x="6995160" y="2084832"/>
            <a:ext cx="4983480" cy="5486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2176272"/>
            <a:ext cx="457200" cy="365760"/>
          </a:xfrm>
          <a:prstGeom prst="rect">
            <a:avLst/>
          </a:prstGeom>
          <a:noFill/>
        </p:spPr>
        <p:txBody>
          <a:bodyPr wrap="square">
            <a:spAutoFit/>
          </a:bodyPr>
          <a:lstStyle/>
          <a:p>
            <a:pPr algn="l"/>
            <a:r>
              <a:rPr sz="1400" b="0" i="0">
                <a:solidFill>
                  <a:srgbClr val="1C1C2E"/>
                </a:solidFill>
                <a:latin typeface="Calibri"/>
              </a:rPr>
              <a:t>📦</a:t>
            </a:r>
          </a:p>
        </p:txBody>
      </p:sp>
      <p:sp>
        <p:nvSpPr>
          <p:cNvPr id="19" name="TextBox 18"/>
          <p:cNvSpPr txBox="1"/>
          <p:nvPr/>
        </p:nvSpPr>
        <p:spPr>
          <a:xfrm>
            <a:off x="7589520" y="2176272"/>
            <a:ext cx="4297680" cy="365760"/>
          </a:xfrm>
          <a:prstGeom prst="rect">
            <a:avLst/>
          </a:prstGeom>
          <a:noFill/>
        </p:spPr>
        <p:txBody>
          <a:bodyPr wrap="square">
            <a:spAutoFit/>
          </a:bodyPr>
          <a:lstStyle/>
          <a:p>
            <a:pPr algn="l"/>
            <a:r>
              <a:rPr sz="1100" b="0" i="0">
                <a:solidFill>
                  <a:srgbClr val="1C1C2E"/>
                </a:solidFill>
                <a:latin typeface="Calibri"/>
              </a:rPr>
              <a:t>Unattended objects &gt; 5 minutes</a:t>
            </a:r>
          </a:p>
        </p:txBody>
      </p:sp>
      <p:sp>
        <p:nvSpPr>
          <p:cNvPr id="20" name="Rectangle 19"/>
          <p:cNvSpPr/>
          <p:nvPr/>
        </p:nvSpPr>
        <p:spPr>
          <a:xfrm>
            <a:off x="6995160" y="2706624"/>
            <a:ext cx="4983480" cy="5486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86600" y="2798064"/>
            <a:ext cx="457200" cy="365760"/>
          </a:xfrm>
          <a:prstGeom prst="rect">
            <a:avLst/>
          </a:prstGeom>
          <a:noFill/>
        </p:spPr>
        <p:txBody>
          <a:bodyPr wrap="square">
            <a:spAutoFit/>
          </a:bodyPr>
          <a:lstStyle/>
          <a:p>
            <a:pPr algn="l"/>
            <a:r>
              <a:rPr sz="1400" b="0" i="0">
                <a:solidFill>
                  <a:srgbClr val="1C1C2E"/>
                </a:solidFill>
                <a:latin typeface="Calibri"/>
              </a:rPr>
              <a:t>👥</a:t>
            </a:r>
          </a:p>
        </p:txBody>
      </p:sp>
      <p:sp>
        <p:nvSpPr>
          <p:cNvPr id="22" name="TextBox 21"/>
          <p:cNvSpPr txBox="1"/>
          <p:nvPr/>
        </p:nvSpPr>
        <p:spPr>
          <a:xfrm>
            <a:off x="7589520" y="2798064"/>
            <a:ext cx="4297680" cy="365760"/>
          </a:xfrm>
          <a:prstGeom prst="rect">
            <a:avLst/>
          </a:prstGeom>
          <a:noFill/>
        </p:spPr>
        <p:txBody>
          <a:bodyPr wrap="square">
            <a:spAutoFit/>
          </a:bodyPr>
          <a:lstStyle/>
          <a:p>
            <a:pPr algn="l"/>
            <a:r>
              <a:rPr sz="1100" b="0" i="0">
                <a:solidFill>
                  <a:srgbClr val="1C1C2E"/>
                </a:solidFill>
                <a:latin typeface="Calibri"/>
              </a:rPr>
              <a:t>Crowd density threshold breach</a:t>
            </a:r>
          </a:p>
        </p:txBody>
      </p:sp>
      <p:sp>
        <p:nvSpPr>
          <p:cNvPr id="23" name="Rectangle 22"/>
          <p:cNvSpPr/>
          <p:nvPr/>
        </p:nvSpPr>
        <p:spPr>
          <a:xfrm>
            <a:off x="6995160" y="3328416"/>
            <a:ext cx="4983480" cy="5486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3419856"/>
            <a:ext cx="457200" cy="365760"/>
          </a:xfrm>
          <a:prstGeom prst="rect">
            <a:avLst/>
          </a:prstGeom>
          <a:noFill/>
        </p:spPr>
        <p:txBody>
          <a:bodyPr wrap="square">
            <a:spAutoFit/>
          </a:bodyPr>
          <a:lstStyle/>
          <a:p>
            <a:pPr algn="l"/>
            <a:r>
              <a:rPr sz="1400" b="0" i="0">
                <a:solidFill>
                  <a:srgbClr val="1C1C2E"/>
                </a:solidFill>
                <a:latin typeface="Calibri"/>
              </a:rPr>
              <a:t>🎯</a:t>
            </a:r>
          </a:p>
        </p:txBody>
      </p:sp>
      <p:sp>
        <p:nvSpPr>
          <p:cNvPr id="25" name="TextBox 24"/>
          <p:cNvSpPr txBox="1"/>
          <p:nvPr/>
        </p:nvSpPr>
        <p:spPr>
          <a:xfrm>
            <a:off x="7589520" y="3419856"/>
            <a:ext cx="4297680" cy="365760"/>
          </a:xfrm>
          <a:prstGeom prst="rect">
            <a:avLst/>
          </a:prstGeom>
          <a:noFill/>
        </p:spPr>
        <p:txBody>
          <a:bodyPr wrap="square">
            <a:spAutoFit/>
          </a:bodyPr>
          <a:lstStyle/>
          <a:p>
            <a:pPr algn="l"/>
            <a:r>
              <a:rPr sz="1100" b="0" i="0">
                <a:solidFill>
                  <a:srgbClr val="1C1C2E"/>
                </a:solidFill>
                <a:latin typeface="Calibri"/>
              </a:rPr>
              <a:t>Watchlist face matches in real time</a:t>
            </a:r>
          </a:p>
        </p:txBody>
      </p:sp>
      <p:sp>
        <p:nvSpPr>
          <p:cNvPr id="26" name="Rectangle 25"/>
          <p:cNvSpPr/>
          <p:nvPr/>
        </p:nvSpPr>
        <p:spPr>
          <a:xfrm>
            <a:off x="6995160" y="3950208"/>
            <a:ext cx="4983480" cy="5486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86600" y="4041648"/>
            <a:ext cx="457200" cy="365760"/>
          </a:xfrm>
          <a:prstGeom prst="rect">
            <a:avLst/>
          </a:prstGeom>
          <a:noFill/>
        </p:spPr>
        <p:txBody>
          <a:bodyPr wrap="square">
            <a:spAutoFit/>
          </a:bodyPr>
          <a:lstStyle/>
          <a:p>
            <a:pPr algn="l"/>
            <a:r>
              <a:rPr sz="1400" b="0" i="0">
                <a:solidFill>
                  <a:srgbClr val="1C1C2E"/>
                </a:solidFill>
                <a:latin typeface="Calibri"/>
              </a:rPr>
              <a:t>🚗</a:t>
            </a:r>
          </a:p>
        </p:txBody>
      </p:sp>
      <p:sp>
        <p:nvSpPr>
          <p:cNvPr id="28" name="TextBox 27"/>
          <p:cNvSpPr txBox="1"/>
          <p:nvPr/>
        </p:nvSpPr>
        <p:spPr>
          <a:xfrm>
            <a:off x="7589520" y="4041648"/>
            <a:ext cx="4297680" cy="365760"/>
          </a:xfrm>
          <a:prstGeom prst="rect">
            <a:avLst/>
          </a:prstGeom>
          <a:noFill/>
        </p:spPr>
        <p:txBody>
          <a:bodyPr wrap="square">
            <a:spAutoFit/>
          </a:bodyPr>
          <a:lstStyle/>
          <a:p>
            <a:pPr algn="l"/>
            <a:r>
              <a:rPr sz="1100" b="0" i="0">
                <a:solidFill>
                  <a:srgbClr val="1C1C2E"/>
                </a:solidFill>
                <a:latin typeface="Calibri"/>
              </a:rPr>
              <a:t>Vehicle anomalies and wrong-lane entry</a:t>
            </a:r>
          </a:p>
        </p:txBody>
      </p:sp>
      <p:sp>
        <p:nvSpPr>
          <p:cNvPr id="29" name="Rectangle 28"/>
          <p:cNvSpPr/>
          <p:nvPr/>
        </p:nvSpPr>
        <p:spPr>
          <a:xfrm>
            <a:off x="6995160" y="4754880"/>
            <a:ext cx="4983480" cy="1097280"/>
          </a:xfrm>
          <a:prstGeom prst="rect">
            <a:avLst/>
          </a:prstGeom>
          <a:solidFill>
            <a:srgbClr val="F8D7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4754880"/>
            <a:ext cx="54864" cy="1097280"/>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14032" y="4809744"/>
            <a:ext cx="4754880" cy="365760"/>
          </a:xfrm>
          <a:prstGeom prst="rect">
            <a:avLst/>
          </a:prstGeom>
          <a:noFill/>
        </p:spPr>
        <p:txBody>
          <a:bodyPr wrap="square">
            <a:spAutoFit/>
          </a:bodyPr>
          <a:lstStyle/>
          <a:p>
            <a:pPr algn="l"/>
            <a:r>
              <a:rPr sz="1000" b="0" i="0">
                <a:solidFill>
                  <a:srgbClr val="C0392B"/>
                </a:solidFill>
                <a:latin typeface="Calibri"/>
              </a:rPr>
              <a:t>Human officers: Can monitor 4–6 screens</a:t>
            </a:r>
          </a:p>
        </p:txBody>
      </p:sp>
      <p:sp>
        <p:nvSpPr>
          <p:cNvPr id="32" name="TextBox 31"/>
          <p:cNvSpPr txBox="1"/>
          <p:nvPr/>
        </p:nvSpPr>
        <p:spPr>
          <a:xfrm>
            <a:off x="7114032" y="5193792"/>
            <a:ext cx="4754880" cy="365760"/>
          </a:xfrm>
          <a:prstGeom prst="rect">
            <a:avLst/>
          </a:prstGeom>
          <a:noFill/>
        </p:spPr>
        <p:txBody>
          <a:bodyPr wrap="square">
            <a:spAutoFit/>
          </a:bodyPr>
          <a:lstStyle/>
          <a:p>
            <a:pPr algn="l"/>
            <a:r>
              <a:rPr sz="1100" b="1" i="0">
                <a:solidFill>
                  <a:srgbClr val="1A3A6A"/>
                </a:solidFill>
                <a:latin typeface="Calibri"/>
              </a:rPr>
              <a:t>Axiom: Monitors ALL feeds simultaneously,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Vehicle Gate — ANPR + Weighbridge Intelligence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11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Vehicle Gate — ANPR + Weighbridge Intelligence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vehiclegate.png"/>
          <p:cNvPicPr>
            <a:picLocks noChangeAspect="1"/>
          </p:cNvPicPr>
          <p:nvPr/>
        </p:nvPicPr>
        <p:blipFill>
          <a:blip r:embed="rId2"/>
          <a:stretch>
            <a:fillRect/>
          </a:stretch>
        </p:blipFill>
        <p:spPr>
          <a:xfrm>
            <a:off x="274320" y="1005840"/>
            <a:ext cx="6583680" cy="4526280"/>
          </a:xfrm>
          <a:prstGeom prst="rect">
            <a:avLst/>
          </a:prstGeom>
        </p:spPr>
      </p:pic>
      <p:sp>
        <p:nvSpPr>
          <p:cNvPr id="13" name="TextBox 12"/>
          <p:cNvSpPr txBox="1"/>
          <p:nvPr/>
        </p:nvSpPr>
        <p:spPr>
          <a:xfrm>
            <a:off x="6995160" y="1051560"/>
            <a:ext cx="4983480" cy="347472"/>
          </a:xfrm>
          <a:prstGeom prst="rect">
            <a:avLst/>
          </a:prstGeom>
          <a:noFill/>
        </p:spPr>
        <p:txBody>
          <a:bodyPr wrap="square">
            <a:spAutoFit/>
          </a:bodyPr>
          <a:lstStyle/>
          <a:p>
            <a:pPr algn="l"/>
            <a:r>
              <a:rPr sz="1300" b="1" i="0">
                <a:solidFill>
                  <a:srgbClr val="1A3A6A"/>
                </a:solidFill>
                <a:latin typeface="Calibri"/>
              </a:rPr>
              <a:t>Processing Flow:</a:t>
            </a:r>
          </a:p>
        </p:txBody>
      </p:sp>
      <p:sp>
        <p:nvSpPr>
          <p:cNvPr id="14" name="Rectangle 13"/>
          <p:cNvSpPr/>
          <p:nvPr/>
        </p:nvSpPr>
        <p:spPr>
          <a:xfrm>
            <a:off x="6995160" y="1463040"/>
            <a:ext cx="498348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1463040"/>
            <a:ext cx="411480" cy="7772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1645920"/>
            <a:ext cx="411480" cy="384048"/>
          </a:xfrm>
          <a:prstGeom prst="rect">
            <a:avLst/>
          </a:prstGeom>
          <a:noFill/>
        </p:spPr>
        <p:txBody>
          <a:bodyPr wrap="square">
            <a:spAutoFit/>
          </a:bodyPr>
          <a:lstStyle/>
          <a:p>
            <a:pPr algn="ctr"/>
            <a:r>
              <a:rPr sz="1400" b="1" i="0">
                <a:solidFill>
                  <a:srgbClr val="FFFFFF"/>
                </a:solidFill>
                <a:latin typeface="Calibri"/>
              </a:rPr>
              <a:t>1</a:t>
            </a:r>
          </a:p>
        </p:txBody>
      </p:sp>
      <p:sp>
        <p:nvSpPr>
          <p:cNvPr id="17" name="TextBox 16"/>
          <p:cNvSpPr txBox="1"/>
          <p:nvPr/>
        </p:nvSpPr>
        <p:spPr>
          <a:xfrm>
            <a:off x="7498079" y="1645920"/>
            <a:ext cx="4389120" cy="384048"/>
          </a:xfrm>
          <a:prstGeom prst="rect">
            <a:avLst/>
          </a:prstGeom>
          <a:noFill/>
        </p:spPr>
        <p:txBody>
          <a:bodyPr wrap="square">
            <a:spAutoFit/>
          </a:bodyPr>
          <a:lstStyle/>
          <a:p>
            <a:pPr algn="l"/>
            <a:r>
              <a:rPr sz="1100" b="0" i="0">
                <a:solidFill>
                  <a:srgbClr val="1C1C2E"/>
                </a:solidFill>
                <a:latin typeface="Calibri"/>
              </a:rPr>
              <a:t>Vehicle approaches → ANPR reads plate</a:t>
            </a:r>
          </a:p>
        </p:txBody>
      </p:sp>
      <p:sp>
        <p:nvSpPr>
          <p:cNvPr id="18" name="Rectangle 17"/>
          <p:cNvSpPr/>
          <p:nvPr/>
        </p:nvSpPr>
        <p:spPr>
          <a:xfrm>
            <a:off x="6995160" y="2331720"/>
            <a:ext cx="498348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2331720"/>
            <a:ext cx="411480" cy="77724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2514600"/>
            <a:ext cx="411480" cy="384048"/>
          </a:xfrm>
          <a:prstGeom prst="rect">
            <a:avLst/>
          </a:prstGeom>
          <a:noFill/>
        </p:spPr>
        <p:txBody>
          <a:bodyPr wrap="square">
            <a:spAutoFit/>
          </a:bodyPr>
          <a:lstStyle/>
          <a:p>
            <a:pPr algn="ctr"/>
            <a:r>
              <a:rPr sz="1400" b="1" i="0">
                <a:solidFill>
                  <a:srgbClr val="FFFFFF"/>
                </a:solidFill>
                <a:latin typeface="Calibri"/>
              </a:rPr>
              <a:t>2</a:t>
            </a:r>
          </a:p>
        </p:txBody>
      </p:sp>
      <p:sp>
        <p:nvSpPr>
          <p:cNvPr id="21" name="TextBox 20"/>
          <p:cNvSpPr txBox="1"/>
          <p:nvPr/>
        </p:nvSpPr>
        <p:spPr>
          <a:xfrm>
            <a:off x="7498079" y="2514600"/>
            <a:ext cx="4389120" cy="384048"/>
          </a:xfrm>
          <a:prstGeom prst="rect">
            <a:avLst/>
          </a:prstGeom>
          <a:noFill/>
        </p:spPr>
        <p:txBody>
          <a:bodyPr wrap="square">
            <a:spAutoFit/>
          </a:bodyPr>
          <a:lstStyle/>
          <a:p>
            <a:pPr algn="l"/>
            <a:r>
              <a:rPr sz="1100" b="0" i="0">
                <a:solidFill>
                  <a:srgbClr val="1C1C2E"/>
                </a:solidFill>
                <a:latin typeface="Calibri"/>
              </a:rPr>
              <a:t>Simultaneous: VAHAN + TAS + Blacklist check</a:t>
            </a:r>
          </a:p>
        </p:txBody>
      </p:sp>
      <p:sp>
        <p:nvSpPr>
          <p:cNvPr id="22" name="Rectangle 21"/>
          <p:cNvSpPr/>
          <p:nvPr/>
        </p:nvSpPr>
        <p:spPr>
          <a:xfrm>
            <a:off x="6995160" y="3200400"/>
            <a:ext cx="498348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3200400"/>
            <a:ext cx="411480" cy="777240"/>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3383280"/>
            <a:ext cx="411480" cy="384048"/>
          </a:xfrm>
          <a:prstGeom prst="rect">
            <a:avLst/>
          </a:prstGeom>
          <a:noFill/>
        </p:spPr>
        <p:txBody>
          <a:bodyPr wrap="square">
            <a:spAutoFit/>
          </a:bodyPr>
          <a:lstStyle/>
          <a:p>
            <a:pPr algn="ctr"/>
            <a:r>
              <a:rPr sz="1400" b="1" i="0">
                <a:solidFill>
                  <a:srgbClr val="FFFFFF"/>
                </a:solidFill>
                <a:latin typeface="Calibri"/>
              </a:rPr>
              <a:t>3</a:t>
            </a:r>
          </a:p>
        </p:txBody>
      </p:sp>
      <p:sp>
        <p:nvSpPr>
          <p:cNvPr id="25" name="TextBox 24"/>
          <p:cNvSpPr txBox="1"/>
          <p:nvPr/>
        </p:nvSpPr>
        <p:spPr>
          <a:xfrm>
            <a:off x="7498079" y="3383280"/>
            <a:ext cx="4389120" cy="384048"/>
          </a:xfrm>
          <a:prstGeom prst="rect">
            <a:avLst/>
          </a:prstGeom>
          <a:noFill/>
        </p:spPr>
        <p:txBody>
          <a:bodyPr wrap="square">
            <a:spAutoFit/>
          </a:bodyPr>
          <a:lstStyle/>
          <a:p>
            <a:pPr algn="l"/>
            <a:r>
              <a:rPr sz="1100" b="0" i="0">
                <a:solidFill>
                  <a:srgbClr val="1C1C2E"/>
                </a:solidFill>
                <a:latin typeface="Calibri"/>
              </a:rPr>
              <a:t>Weighbridge → auto weight variance detection</a:t>
            </a:r>
          </a:p>
        </p:txBody>
      </p:sp>
      <p:sp>
        <p:nvSpPr>
          <p:cNvPr id="26" name="Rectangle 25"/>
          <p:cNvSpPr/>
          <p:nvPr/>
        </p:nvSpPr>
        <p:spPr>
          <a:xfrm>
            <a:off x="6995160" y="4069080"/>
            <a:ext cx="4983480" cy="777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95160" y="4069080"/>
            <a:ext cx="411480" cy="777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4251960"/>
            <a:ext cx="411480" cy="384048"/>
          </a:xfrm>
          <a:prstGeom prst="rect">
            <a:avLst/>
          </a:prstGeom>
          <a:noFill/>
        </p:spPr>
        <p:txBody>
          <a:bodyPr wrap="square">
            <a:spAutoFit/>
          </a:bodyPr>
          <a:lstStyle/>
          <a:p>
            <a:pPr algn="ctr"/>
            <a:r>
              <a:rPr sz="1400" b="1" i="0">
                <a:solidFill>
                  <a:srgbClr val="FFFFFF"/>
                </a:solidFill>
                <a:latin typeface="Calibri"/>
              </a:rPr>
              <a:t>4</a:t>
            </a:r>
          </a:p>
        </p:txBody>
      </p:sp>
      <p:sp>
        <p:nvSpPr>
          <p:cNvPr id="29" name="TextBox 28"/>
          <p:cNvSpPr txBox="1"/>
          <p:nvPr/>
        </p:nvSpPr>
        <p:spPr>
          <a:xfrm>
            <a:off x="7498079" y="4251960"/>
            <a:ext cx="4389120" cy="384048"/>
          </a:xfrm>
          <a:prstGeom prst="rect">
            <a:avLst/>
          </a:prstGeom>
          <a:noFill/>
        </p:spPr>
        <p:txBody>
          <a:bodyPr wrap="square">
            <a:spAutoFit/>
          </a:bodyPr>
          <a:lstStyle/>
          <a:p>
            <a:pPr algn="l"/>
            <a:r>
              <a:rPr sz="1100" b="0" i="0">
                <a:solidFill>
                  <a:srgbClr val="1C1C2E"/>
                </a:solidFill>
                <a:latin typeface="Calibri"/>
              </a:rPr>
              <a:t>Risk score assigned → lane directed by Axiom</a:t>
            </a:r>
          </a:p>
        </p:txBody>
      </p:sp>
      <p:sp>
        <p:nvSpPr>
          <p:cNvPr id="30" name="Rectangle 29"/>
          <p:cNvSpPr/>
          <p:nvPr/>
        </p:nvSpPr>
        <p:spPr>
          <a:xfrm>
            <a:off x="6995160" y="5074920"/>
            <a:ext cx="1600200" cy="7772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0" y="5120640"/>
            <a:ext cx="1508760" cy="384048"/>
          </a:xfrm>
          <a:prstGeom prst="rect">
            <a:avLst/>
          </a:prstGeom>
          <a:noFill/>
        </p:spPr>
        <p:txBody>
          <a:bodyPr wrap="square">
            <a:spAutoFit/>
          </a:bodyPr>
          <a:lstStyle/>
          <a:p>
            <a:pPr algn="ctr"/>
            <a:r>
              <a:rPr sz="1800" b="1" i="0">
                <a:solidFill>
                  <a:srgbClr val="D4881A"/>
                </a:solidFill>
                <a:latin typeface="Calibri"/>
              </a:rPr>
              <a:t>543</a:t>
            </a:r>
          </a:p>
        </p:txBody>
      </p:sp>
      <p:sp>
        <p:nvSpPr>
          <p:cNvPr id="32" name="TextBox 31"/>
          <p:cNvSpPr txBox="1"/>
          <p:nvPr/>
        </p:nvSpPr>
        <p:spPr>
          <a:xfrm>
            <a:off x="7040880" y="5504688"/>
            <a:ext cx="1508760" cy="256032"/>
          </a:xfrm>
          <a:prstGeom prst="rect">
            <a:avLst/>
          </a:prstGeom>
          <a:noFill/>
        </p:spPr>
        <p:txBody>
          <a:bodyPr wrap="square">
            <a:spAutoFit/>
          </a:bodyPr>
          <a:lstStyle/>
          <a:p>
            <a:pPr algn="ctr"/>
            <a:r>
              <a:rPr sz="800" b="0" i="0">
                <a:solidFill>
                  <a:srgbClr val="FFFFFF"/>
                </a:solidFill>
                <a:latin typeface="Calibri"/>
              </a:rPr>
              <a:t>Vehicles processed today</a:t>
            </a:r>
          </a:p>
        </p:txBody>
      </p:sp>
      <p:sp>
        <p:nvSpPr>
          <p:cNvPr id="33" name="Rectangle 32"/>
          <p:cNvSpPr/>
          <p:nvPr/>
        </p:nvSpPr>
        <p:spPr>
          <a:xfrm>
            <a:off x="8686800" y="5074920"/>
            <a:ext cx="1600200" cy="7772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32520" y="5120640"/>
            <a:ext cx="1508760" cy="384048"/>
          </a:xfrm>
          <a:prstGeom prst="rect">
            <a:avLst/>
          </a:prstGeom>
          <a:noFill/>
        </p:spPr>
        <p:txBody>
          <a:bodyPr wrap="square">
            <a:spAutoFit/>
          </a:bodyPr>
          <a:lstStyle/>
          <a:p>
            <a:pPr algn="ctr"/>
            <a:r>
              <a:rPr sz="1800" b="1" i="0">
                <a:solidFill>
                  <a:srgbClr val="D4881A"/>
                </a:solidFill>
                <a:latin typeface="Calibri"/>
              </a:rPr>
              <a:t>100%</a:t>
            </a:r>
          </a:p>
        </p:txBody>
      </p:sp>
      <p:sp>
        <p:nvSpPr>
          <p:cNvPr id="35" name="TextBox 34"/>
          <p:cNvSpPr txBox="1"/>
          <p:nvPr/>
        </p:nvSpPr>
        <p:spPr>
          <a:xfrm>
            <a:off x="8732520" y="5504688"/>
            <a:ext cx="1508760" cy="256032"/>
          </a:xfrm>
          <a:prstGeom prst="rect">
            <a:avLst/>
          </a:prstGeom>
          <a:noFill/>
        </p:spPr>
        <p:txBody>
          <a:bodyPr wrap="square">
            <a:spAutoFit/>
          </a:bodyPr>
          <a:lstStyle/>
          <a:p>
            <a:pPr algn="ctr"/>
            <a:r>
              <a:rPr sz="800" b="0" i="0">
                <a:solidFill>
                  <a:srgbClr val="FFFFFF"/>
                </a:solidFill>
                <a:latin typeface="Calibri"/>
              </a:rPr>
              <a:t>ANPR plate coverage</a:t>
            </a:r>
          </a:p>
        </p:txBody>
      </p:sp>
      <p:sp>
        <p:nvSpPr>
          <p:cNvPr id="36" name="Rectangle 35"/>
          <p:cNvSpPr/>
          <p:nvPr/>
        </p:nvSpPr>
        <p:spPr>
          <a:xfrm>
            <a:off x="10378440" y="5074920"/>
            <a:ext cx="1600200" cy="7772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60" y="5120640"/>
            <a:ext cx="1508760" cy="384048"/>
          </a:xfrm>
          <a:prstGeom prst="rect">
            <a:avLst/>
          </a:prstGeom>
          <a:noFill/>
        </p:spPr>
        <p:txBody>
          <a:bodyPr wrap="square">
            <a:spAutoFit/>
          </a:bodyPr>
          <a:lstStyle/>
          <a:p>
            <a:pPr algn="ctr"/>
            <a:r>
              <a:rPr sz="1800" b="1" i="0">
                <a:solidFill>
                  <a:srgbClr val="D4881A"/>
                </a:solidFill>
                <a:latin typeface="Calibri"/>
              </a:rPr>
              <a:t>8</a:t>
            </a:r>
          </a:p>
        </p:txBody>
      </p:sp>
      <p:sp>
        <p:nvSpPr>
          <p:cNvPr id="38" name="TextBox 37"/>
          <p:cNvSpPr txBox="1"/>
          <p:nvPr/>
        </p:nvSpPr>
        <p:spPr>
          <a:xfrm>
            <a:off x="10424160" y="5504688"/>
            <a:ext cx="1508760" cy="256032"/>
          </a:xfrm>
          <a:prstGeom prst="rect">
            <a:avLst/>
          </a:prstGeom>
          <a:noFill/>
        </p:spPr>
        <p:txBody>
          <a:bodyPr wrap="square">
            <a:spAutoFit/>
          </a:bodyPr>
          <a:lstStyle/>
          <a:p>
            <a:pPr algn="ctr"/>
            <a:r>
              <a:rPr sz="800" b="0" i="0">
                <a:solidFill>
                  <a:srgbClr val="FFFFFF"/>
                </a:solidFill>
                <a:latin typeface="Calibri"/>
              </a:rPr>
              <a:t>Overloaded — auto-detected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Intelligence &amp; Analytics — Data-Driven Border Management</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12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Intelligence &amp; Analytics — Data-Driven Border Management</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intelligence.png"/>
          <p:cNvPicPr>
            <a:picLocks noChangeAspect="1"/>
          </p:cNvPicPr>
          <p:nvPr/>
        </p:nvPicPr>
        <p:blipFill>
          <a:blip r:embed="rId2"/>
          <a:stretch>
            <a:fillRect/>
          </a:stretch>
        </p:blipFill>
        <p:spPr>
          <a:xfrm>
            <a:off x="274320" y="1005840"/>
            <a:ext cx="6583680" cy="4526280"/>
          </a:xfrm>
          <a:prstGeom prst="rect">
            <a:avLst/>
          </a:prstGeom>
        </p:spPr>
      </p:pic>
      <p:sp>
        <p:nvSpPr>
          <p:cNvPr id="13" name="TextBox 12"/>
          <p:cNvSpPr txBox="1"/>
          <p:nvPr/>
        </p:nvSpPr>
        <p:spPr>
          <a:xfrm>
            <a:off x="6995160" y="1051560"/>
            <a:ext cx="4983480" cy="347472"/>
          </a:xfrm>
          <a:prstGeom prst="rect">
            <a:avLst/>
          </a:prstGeom>
          <a:noFill/>
        </p:spPr>
        <p:txBody>
          <a:bodyPr wrap="square">
            <a:spAutoFit/>
          </a:bodyPr>
          <a:lstStyle/>
          <a:p>
            <a:pPr algn="l"/>
            <a:r>
              <a:rPr sz="1200" b="1" i="0">
                <a:solidFill>
                  <a:srgbClr val="1A3A6A"/>
                </a:solidFill>
                <a:latin typeface="Calibri"/>
              </a:rPr>
              <a:t>FY 2023-24 Actuals (Real LPAI Data):</a:t>
            </a:r>
          </a:p>
        </p:txBody>
      </p:sp>
      <p:sp>
        <p:nvSpPr>
          <p:cNvPr id="14" name="Rectangle 13"/>
          <p:cNvSpPr/>
          <p:nvPr/>
        </p:nvSpPr>
        <p:spPr>
          <a:xfrm>
            <a:off x="6995160" y="1463040"/>
            <a:ext cx="2423160" cy="137160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1463040"/>
            <a:ext cx="2423160" cy="54864"/>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627632"/>
            <a:ext cx="2240280" cy="502920"/>
          </a:xfrm>
          <a:prstGeom prst="rect">
            <a:avLst/>
          </a:prstGeom>
          <a:noFill/>
        </p:spPr>
        <p:txBody>
          <a:bodyPr wrap="square">
            <a:spAutoFit/>
          </a:bodyPr>
          <a:lstStyle/>
          <a:p>
            <a:pPr algn="ctr"/>
            <a:r>
              <a:rPr sz="2000" b="1" i="0">
                <a:solidFill>
                  <a:srgbClr val="1A3A6A"/>
                </a:solidFill>
                <a:latin typeface="Calibri"/>
              </a:rPr>
              <a:t>₹70,952 Cr</a:t>
            </a:r>
          </a:p>
        </p:txBody>
      </p:sp>
      <p:sp>
        <p:nvSpPr>
          <p:cNvPr id="17" name="TextBox 16"/>
          <p:cNvSpPr txBox="1"/>
          <p:nvPr/>
        </p:nvSpPr>
        <p:spPr>
          <a:xfrm>
            <a:off x="7086600" y="2194560"/>
            <a:ext cx="2240280" cy="502920"/>
          </a:xfrm>
          <a:prstGeom prst="rect">
            <a:avLst/>
          </a:prstGeom>
          <a:noFill/>
        </p:spPr>
        <p:txBody>
          <a:bodyPr wrap="square">
            <a:spAutoFit/>
          </a:bodyPr>
          <a:lstStyle/>
          <a:p>
            <a:pPr algn="ctr"/>
            <a:r>
              <a:rPr sz="950" b="0" i="0">
                <a:solidFill>
                  <a:srgbClr val="1C1C2E"/>
                </a:solidFill>
                <a:latin typeface="Calibri"/>
              </a:rPr>
              <a:t>Total Trade Facilitated</a:t>
            </a:r>
          </a:p>
        </p:txBody>
      </p:sp>
      <p:sp>
        <p:nvSpPr>
          <p:cNvPr id="18" name="Rectangle 17"/>
          <p:cNvSpPr/>
          <p:nvPr/>
        </p:nvSpPr>
        <p:spPr>
          <a:xfrm>
            <a:off x="9509760" y="1463040"/>
            <a:ext cx="2423160" cy="137160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09760" y="1463040"/>
            <a:ext cx="2423160" cy="54864"/>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627632"/>
            <a:ext cx="2240280" cy="502920"/>
          </a:xfrm>
          <a:prstGeom prst="rect">
            <a:avLst/>
          </a:prstGeom>
          <a:noFill/>
        </p:spPr>
        <p:txBody>
          <a:bodyPr wrap="square">
            <a:spAutoFit/>
          </a:bodyPr>
          <a:lstStyle/>
          <a:p>
            <a:pPr algn="ctr"/>
            <a:r>
              <a:rPr sz="2000" b="1" i="0">
                <a:solidFill>
                  <a:srgbClr val="1A6A3A"/>
                </a:solidFill>
                <a:latin typeface="Calibri"/>
              </a:rPr>
              <a:t>30.46 Lakh</a:t>
            </a:r>
          </a:p>
        </p:txBody>
      </p:sp>
      <p:sp>
        <p:nvSpPr>
          <p:cNvPr id="21" name="TextBox 20"/>
          <p:cNvSpPr txBox="1"/>
          <p:nvPr/>
        </p:nvSpPr>
        <p:spPr>
          <a:xfrm>
            <a:off x="9601200" y="2194560"/>
            <a:ext cx="2240280" cy="502920"/>
          </a:xfrm>
          <a:prstGeom prst="rect">
            <a:avLst/>
          </a:prstGeom>
          <a:noFill/>
        </p:spPr>
        <p:txBody>
          <a:bodyPr wrap="square">
            <a:spAutoFit/>
          </a:bodyPr>
          <a:lstStyle/>
          <a:p>
            <a:pPr algn="ctr"/>
            <a:r>
              <a:rPr sz="950" b="0" i="0">
                <a:solidFill>
                  <a:srgbClr val="1C1C2E"/>
                </a:solidFill>
                <a:latin typeface="Calibri"/>
              </a:rPr>
              <a:t>Passengers Processed</a:t>
            </a:r>
          </a:p>
        </p:txBody>
      </p:sp>
      <p:sp>
        <p:nvSpPr>
          <p:cNvPr id="22" name="Rectangle 21"/>
          <p:cNvSpPr/>
          <p:nvPr/>
        </p:nvSpPr>
        <p:spPr>
          <a:xfrm>
            <a:off x="6995160" y="2971800"/>
            <a:ext cx="2423160" cy="137160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2971800"/>
            <a:ext cx="2423160" cy="54864"/>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3136392"/>
            <a:ext cx="2240280" cy="502920"/>
          </a:xfrm>
          <a:prstGeom prst="rect">
            <a:avLst/>
          </a:prstGeom>
          <a:noFill/>
        </p:spPr>
        <p:txBody>
          <a:bodyPr wrap="square">
            <a:spAutoFit/>
          </a:bodyPr>
          <a:lstStyle/>
          <a:p>
            <a:pPr algn="ctr"/>
            <a:r>
              <a:rPr sz="2000" b="1" i="0">
                <a:solidFill>
                  <a:srgbClr val="176B87"/>
                </a:solidFill>
                <a:latin typeface="Calibri"/>
              </a:rPr>
              <a:t>₹62.17 Cr</a:t>
            </a:r>
          </a:p>
        </p:txBody>
      </p:sp>
      <p:sp>
        <p:nvSpPr>
          <p:cNvPr id="25" name="TextBox 24"/>
          <p:cNvSpPr txBox="1"/>
          <p:nvPr/>
        </p:nvSpPr>
        <p:spPr>
          <a:xfrm>
            <a:off x="7086600" y="3703320"/>
            <a:ext cx="2240280" cy="502920"/>
          </a:xfrm>
          <a:prstGeom prst="rect">
            <a:avLst/>
          </a:prstGeom>
          <a:noFill/>
        </p:spPr>
        <p:txBody>
          <a:bodyPr wrap="square">
            <a:spAutoFit/>
          </a:bodyPr>
          <a:lstStyle/>
          <a:p>
            <a:pPr algn="ctr"/>
            <a:r>
              <a:rPr sz="950" b="0" i="0">
                <a:solidFill>
                  <a:srgbClr val="1C1C2E"/>
                </a:solidFill>
                <a:latin typeface="Calibri"/>
              </a:rPr>
              <a:t>Duty Revenue Collected</a:t>
            </a:r>
          </a:p>
        </p:txBody>
      </p:sp>
      <p:sp>
        <p:nvSpPr>
          <p:cNvPr id="26" name="Rectangle 25"/>
          <p:cNvSpPr/>
          <p:nvPr/>
        </p:nvSpPr>
        <p:spPr>
          <a:xfrm>
            <a:off x="9509760" y="2971800"/>
            <a:ext cx="2423160" cy="137160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760" y="2971800"/>
            <a:ext cx="2423160" cy="54864"/>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0" y="3136392"/>
            <a:ext cx="2240280" cy="502920"/>
          </a:xfrm>
          <a:prstGeom prst="rect">
            <a:avLst/>
          </a:prstGeom>
          <a:noFill/>
        </p:spPr>
        <p:txBody>
          <a:bodyPr wrap="square">
            <a:spAutoFit/>
          </a:bodyPr>
          <a:lstStyle/>
          <a:p>
            <a:pPr algn="ctr"/>
            <a:r>
              <a:rPr sz="2000" b="1" i="0">
                <a:solidFill>
                  <a:srgbClr val="D4881A"/>
                </a:solidFill>
                <a:latin typeface="Calibri"/>
              </a:rPr>
              <a:t>12 / 23</a:t>
            </a:r>
          </a:p>
        </p:txBody>
      </p:sp>
      <p:sp>
        <p:nvSpPr>
          <p:cNvPr id="29" name="TextBox 28"/>
          <p:cNvSpPr txBox="1"/>
          <p:nvPr/>
        </p:nvSpPr>
        <p:spPr>
          <a:xfrm>
            <a:off x="9601200" y="3703320"/>
            <a:ext cx="2240280" cy="502920"/>
          </a:xfrm>
          <a:prstGeom prst="rect">
            <a:avLst/>
          </a:prstGeom>
          <a:noFill/>
        </p:spPr>
        <p:txBody>
          <a:bodyPr wrap="square">
            <a:spAutoFit/>
          </a:bodyPr>
          <a:lstStyle/>
          <a:p>
            <a:pPr algn="ctr"/>
            <a:r>
              <a:rPr sz="950" b="0" i="0">
                <a:solidFill>
                  <a:srgbClr val="1C1C2E"/>
                </a:solidFill>
                <a:latin typeface="Calibri"/>
              </a:rPr>
              <a:t>Operational ICPs (of 23 sanctioned)</a:t>
            </a:r>
          </a:p>
        </p:txBody>
      </p:sp>
      <p:sp>
        <p:nvSpPr>
          <p:cNvPr id="30" name="Rectangle 29"/>
          <p:cNvSpPr/>
          <p:nvPr/>
        </p:nvSpPr>
        <p:spPr>
          <a:xfrm>
            <a:off x="6995160" y="4617720"/>
            <a:ext cx="4983480" cy="77724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6600" y="4681728"/>
            <a:ext cx="4800600" cy="594360"/>
          </a:xfrm>
          <a:prstGeom prst="rect">
            <a:avLst/>
          </a:prstGeom>
          <a:noFill/>
        </p:spPr>
        <p:txBody>
          <a:bodyPr wrap="square">
            <a:spAutoFit/>
          </a:bodyPr>
          <a:lstStyle/>
          <a:p>
            <a:pPr algn="l"/>
            <a:r>
              <a:rPr sz="1000" b="0" i="0">
                <a:solidFill>
                  <a:srgbClr val="FFFFFF"/>
                </a:solidFill>
                <a:latin typeface="Calibri"/>
              </a:rPr>
              <a:t>All 12 ICPs benchmarked side-by-side in real time
No more waiting for consolidated monthly reports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Built-In Officer Onboarding — 45-Step Guided Tour</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13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Built-In Officer Onboarding — 45-Step Guided Tour</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reenshot-walkthrough.png"/>
          <p:cNvPicPr>
            <a:picLocks noChangeAspect="1"/>
          </p:cNvPicPr>
          <p:nvPr/>
        </p:nvPicPr>
        <p:blipFill>
          <a:blip r:embed="rId2"/>
          <a:stretch>
            <a:fillRect/>
          </a:stretch>
        </p:blipFill>
        <p:spPr>
          <a:xfrm>
            <a:off x="274320" y="1005840"/>
            <a:ext cx="6583680" cy="4526280"/>
          </a:xfrm>
          <a:prstGeom prst="rect">
            <a:avLst/>
          </a:prstGeom>
        </p:spPr>
      </p:pic>
      <p:sp>
        <p:nvSpPr>
          <p:cNvPr id="13" name="Rectangle 12"/>
          <p:cNvSpPr/>
          <p:nvPr/>
        </p:nvSpPr>
        <p:spPr>
          <a:xfrm>
            <a:off x="6995160" y="1051560"/>
            <a:ext cx="4983480" cy="1417320"/>
          </a:xfrm>
          <a:prstGeom prst="rect">
            <a:avLst/>
          </a:prstGeom>
          <a:solidFill>
            <a:srgbClr val="F8D7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95160" y="1051560"/>
            <a:ext cx="54864" cy="1417320"/>
          </a:xfrm>
          <a:prstGeom prst="rect">
            <a:avLst/>
          </a:prstGeom>
          <a:solidFill>
            <a:srgbClr val="C0392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4032" y="1097280"/>
            <a:ext cx="4754880" cy="347472"/>
          </a:xfrm>
          <a:prstGeom prst="rect">
            <a:avLst/>
          </a:prstGeom>
          <a:noFill/>
        </p:spPr>
        <p:txBody>
          <a:bodyPr wrap="square">
            <a:spAutoFit/>
          </a:bodyPr>
          <a:lstStyle/>
          <a:p>
            <a:pPr algn="l"/>
            <a:r>
              <a:rPr sz="1100" b="1" i="0">
                <a:solidFill>
                  <a:srgbClr val="C0392B"/>
                </a:solidFill>
                <a:latin typeface="Calibri"/>
              </a:rPr>
              <a:t>The Challenge:</a:t>
            </a:r>
          </a:p>
        </p:txBody>
      </p:sp>
      <p:sp>
        <p:nvSpPr>
          <p:cNvPr id="16" name="TextBox 15"/>
          <p:cNvSpPr txBox="1"/>
          <p:nvPr/>
        </p:nvSpPr>
        <p:spPr>
          <a:xfrm>
            <a:off x="7114032" y="1463040"/>
            <a:ext cx="4754880" cy="777240"/>
          </a:xfrm>
          <a:prstGeom prst="rect">
            <a:avLst/>
          </a:prstGeom>
          <a:noFill/>
        </p:spPr>
        <p:txBody>
          <a:bodyPr wrap="square">
            <a:spAutoFit/>
          </a:bodyPr>
          <a:lstStyle/>
          <a:p>
            <a:pPr algn="l"/>
            <a:r>
              <a:rPr sz="1000" b="0" i="0">
                <a:solidFill>
                  <a:srgbClr val="1C1C2E"/>
                </a:solidFill>
                <a:latin typeface="Calibri"/>
              </a:rPr>
              <a:t>Senior officers unfamiliar with new systems will not read a manual — they need guidance built into the software.</a:t>
            </a:r>
          </a:p>
        </p:txBody>
      </p:sp>
      <p:sp>
        <p:nvSpPr>
          <p:cNvPr id="17" name="Rectangle 16"/>
          <p:cNvSpPr/>
          <p:nvPr/>
        </p:nvSpPr>
        <p:spPr>
          <a:xfrm>
            <a:off x="6995160" y="2560320"/>
            <a:ext cx="4983480" cy="141732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95160" y="2560320"/>
            <a:ext cx="54864" cy="141732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4032" y="2615184"/>
            <a:ext cx="4754880" cy="347472"/>
          </a:xfrm>
          <a:prstGeom prst="rect">
            <a:avLst/>
          </a:prstGeom>
          <a:noFill/>
        </p:spPr>
        <p:txBody>
          <a:bodyPr wrap="square">
            <a:spAutoFit/>
          </a:bodyPr>
          <a:lstStyle/>
          <a:p>
            <a:pPr algn="l"/>
            <a:r>
              <a:rPr sz="1100" b="1" i="0">
                <a:solidFill>
                  <a:srgbClr val="1A6A3A"/>
                </a:solidFill>
                <a:latin typeface="Calibri"/>
              </a:rPr>
              <a:t>The Solution:</a:t>
            </a:r>
          </a:p>
        </p:txBody>
      </p:sp>
      <p:sp>
        <p:nvSpPr>
          <p:cNvPr id="20" name="TextBox 19"/>
          <p:cNvSpPr txBox="1"/>
          <p:nvPr/>
        </p:nvSpPr>
        <p:spPr>
          <a:xfrm>
            <a:off x="7114032" y="2980944"/>
            <a:ext cx="4754880" cy="777240"/>
          </a:xfrm>
          <a:prstGeom prst="rect">
            <a:avLst/>
          </a:prstGeom>
          <a:noFill/>
        </p:spPr>
        <p:txBody>
          <a:bodyPr wrap="square">
            <a:spAutoFit/>
          </a:bodyPr>
          <a:lstStyle/>
          <a:p>
            <a:pPr algn="l"/>
            <a:r>
              <a:rPr sz="1000" b="0" i="0">
                <a:solidFill>
                  <a:srgbClr val="1C1C2E"/>
                </a:solidFill>
                <a:latin typeface="Calibri"/>
              </a:rPr>
              <a:t>Press "Start Tour" — system guides you through every feature in plain language, step by step, module by module.</a:t>
            </a:r>
          </a:p>
        </p:txBody>
      </p:sp>
      <p:sp>
        <p:nvSpPr>
          <p:cNvPr id="21" name="TextBox 20"/>
          <p:cNvSpPr txBox="1"/>
          <p:nvPr/>
        </p:nvSpPr>
        <p:spPr>
          <a:xfrm>
            <a:off x="7086600" y="4114800"/>
            <a:ext cx="274320" cy="274320"/>
          </a:xfrm>
          <a:prstGeom prst="rect">
            <a:avLst/>
          </a:prstGeom>
          <a:noFill/>
        </p:spPr>
        <p:txBody>
          <a:bodyPr wrap="square">
            <a:spAutoFit/>
          </a:bodyPr>
          <a:lstStyle/>
          <a:p>
            <a:pPr algn="l"/>
            <a:r>
              <a:rPr sz="900" b="0" i="0">
                <a:solidFill>
                  <a:srgbClr val="1A3A6A"/>
                </a:solidFill>
                <a:latin typeface="Calibri"/>
              </a:rPr>
              <a:t>▶</a:t>
            </a:r>
          </a:p>
        </p:txBody>
      </p:sp>
      <p:sp>
        <p:nvSpPr>
          <p:cNvPr id="22" name="TextBox 21"/>
          <p:cNvSpPr txBox="1"/>
          <p:nvPr/>
        </p:nvSpPr>
        <p:spPr>
          <a:xfrm>
            <a:off x="7360920" y="4114800"/>
            <a:ext cx="4572000" cy="274320"/>
          </a:xfrm>
          <a:prstGeom prst="rect">
            <a:avLst/>
          </a:prstGeom>
          <a:noFill/>
        </p:spPr>
        <p:txBody>
          <a:bodyPr wrap="square">
            <a:spAutoFit/>
          </a:bodyPr>
          <a:lstStyle/>
          <a:p>
            <a:pPr algn="l"/>
            <a:r>
              <a:rPr sz="1000" b="0" i="0">
                <a:solidFill>
                  <a:srgbClr val="1C1C2E"/>
                </a:solidFill>
                <a:latin typeface="Calibri"/>
              </a:rPr>
              <a:t>45 steps across all 6 modules</a:t>
            </a:r>
          </a:p>
        </p:txBody>
      </p:sp>
      <p:sp>
        <p:nvSpPr>
          <p:cNvPr id="23" name="TextBox 22"/>
          <p:cNvSpPr txBox="1"/>
          <p:nvPr/>
        </p:nvSpPr>
        <p:spPr>
          <a:xfrm>
            <a:off x="7086600" y="4416552"/>
            <a:ext cx="274320" cy="274320"/>
          </a:xfrm>
          <a:prstGeom prst="rect">
            <a:avLst/>
          </a:prstGeom>
          <a:noFill/>
        </p:spPr>
        <p:txBody>
          <a:bodyPr wrap="square">
            <a:spAutoFit/>
          </a:bodyPr>
          <a:lstStyle/>
          <a:p>
            <a:pPr algn="l"/>
            <a:r>
              <a:rPr sz="900" b="0" i="0">
                <a:solidFill>
                  <a:srgbClr val="1A3A6A"/>
                </a:solidFill>
                <a:latin typeface="Calibri"/>
              </a:rPr>
              <a:t>▶</a:t>
            </a:r>
          </a:p>
        </p:txBody>
      </p:sp>
      <p:sp>
        <p:nvSpPr>
          <p:cNvPr id="24" name="TextBox 23"/>
          <p:cNvSpPr txBox="1"/>
          <p:nvPr/>
        </p:nvSpPr>
        <p:spPr>
          <a:xfrm>
            <a:off x="7360920" y="4416552"/>
            <a:ext cx="4572000" cy="274320"/>
          </a:xfrm>
          <a:prstGeom prst="rect">
            <a:avLst/>
          </a:prstGeom>
          <a:noFill/>
        </p:spPr>
        <p:txBody>
          <a:bodyPr wrap="square">
            <a:spAutoFit/>
          </a:bodyPr>
          <a:lstStyle/>
          <a:p>
            <a:pPr algn="l"/>
            <a:r>
              <a:rPr sz="1000" b="0" i="0">
                <a:solidFill>
                  <a:srgbClr val="1C1C2E"/>
                </a:solidFill>
                <a:latin typeface="Calibri"/>
              </a:rPr>
              <a:t>Written for IAS-level audiences</a:t>
            </a:r>
          </a:p>
        </p:txBody>
      </p:sp>
      <p:sp>
        <p:nvSpPr>
          <p:cNvPr id="25" name="TextBox 24"/>
          <p:cNvSpPr txBox="1"/>
          <p:nvPr/>
        </p:nvSpPr>
        <p:spPr>
          <a:xfrm>
            <a:off x="7086600" y="4718304"/>
            <a:ext cx="274320" cy="274320"/>
          </a:xfrm>
          <a:prstGeom prst="rect">
            <a:avLst/>
          </a:prstGeom>
          <a:noFill/>
        </p:spPr>
        <p:txBody>
          <a:bodyPr wrap="square">
            <a:spAutoFit/>
          </a:bodyPr>
          <a:lstStyle/>
          <a:p>
            <a:pPr algn="l"/>
            <a:r>
              <a:rPr sz="900" b="0" i="0">
                <a:solidFill>
                  <a:srgbClr val="1A3A6A"/>
                </a:solidFill>
                <a:latin typeface="Calibri"/>
              </a:rPr>
              <a:t>▶</a:t>
            </a:r>
          </a:p>
        </p:txBody>
      </p:sp>
      <p:sp>
        <p:nvSpPr>
          <p:cNvPr id="26" name="TextBox 25"/>
          <p:cNvSpPr txBox="1"/>
          <p:nvPr/>
        </p:nvSpPr>
        <p:spPr>
          <a:xfrm>
            <a:off x="7360920" y="4718304"/>
            <a:ext cx="4572000" cy="274320"/>
          </a:xfrm>
          <a:prstGeom prst="rect">
            <a:avLst/>
          </a:prstGeom>
          <a:noFill/>
        </p:spPr>
        <p:txBody>
          <a:bodyPr wrap="square">
            <a:spAutoFit/>
          </a:bodyPr>
          <a:lstStyle/>
          <a:p>
            <a:pPr algn="l"/>
            <a:r>
              <a:rPr sz="1000" b="0" i="0">
                <a:solidFill>
                  <a:srgbClr val="1C1C2E"/>
                </a:solidFill>
                <a:latin typeface="Calibri"/>
              </a:rPr>
              <a:t>Keyboard navigation + mobile support</a:t>
            </a:r>
          </a:p>
        </p:txBody>
      </p:sp>
      <p:sp>
        <p:nvSpPr>
          <p:cNvPr id="27" name="TextBox 26"/>
          <p:cNvSpPr txBox="1"/>
          <p:nvPr/>
        </p:nvSpPr>
        <p:spPr>
          <a:xfrm>
            <a:off x="7086600" y="5020056"/>
            <a:ext cx="274320" cy="274320"/>
          </a:xfrm>
          <a:prstGeom prst="rect">
            <a:avLst/>
          </a:prstGeom>
          <a:noFill/>
        </p:spPr>
        <p:txBody>
          <a:bodyPr wrap="square">
            <a:spAutoFit/>
          </a:bodyPr>
          <a:lstStyle/>
          <a:p>
            <a:pPr algn="l"/>
            <a:r>
              <a:rPr sz="900" b="0" i="0">
                <a:solidFill>
                  <a:srgbClr val="1A3A6A"/>
                </a:solidFill>
                <a:latin typeface="Calibri"/>
              </a:rPr>
              <a:t>▶</a:t>
            </a:r>
          </a:p>
        </p:txBody>
      </p:sp>
      <p:sp>
        <p:nvSpPr>
          <p:cNvPr id="28" name="TextBox 27"/>
          <p:cNvSpPr txBox="1"/>
          <p:nvPr/>
        </p:nvSpPr>
        <p:spPr>
          <a:xfrm>
            <a:off x="7360920" y="5020056"/>
            <a:ext cx="4572000" cy="274320"/>
          </a:xfrm>
          <a:prstGeom prst="rect">
            <a:avLst/>
          </a:prstGeom>
          <a:noFill/>
        </p:spPr>
        <p:txBody>
          <a:bodyPr wrap="square">
            <a:spAutoFit/>
          </a:bodyPr>
          <a:lstStyle/>
          <a:p>
            <a:pPr algn="l"/>
            <a:r>
              <a:rPr sz="1000" b="0" i="0">
                <a:solidFill>
                  <a:srgbClr val="1C1C2E"/>
                </a:solidFill>
                <a:latin typeface="Calibri"/>
              </a:rPr>
              <a:t>Persists completion — never shown twice</a:t>
            </a:r>
          </a:p>
        </p:txBody>
      </p:sp>
      <p:sp>
        <p:nvSpPr>
          <p:cNvPr id="29" name="TextBox 28"/>
          <p:cNvSpPr txBox="1"/>
          <p:nvPr/>
        </p:nvSpPr>
        <p:spPr>
          <a:xfrm>
            <a:off x="7086600" y="5321808"/>
            <a:ext cx="274320" cy="274320"/>
          </a:xfrm>
          <a:prstGeom prst="rect">
            <a:avLst/>
          </a:prstGeom>
          <a:noFill/>
        </p:spPr>
        <p:txBody>
          <a:bodyPr wrap="square">
            <a:spAutoFit/>
          </a:bodyPr>
          <a:lstStyle/>
          <a:p>
            <a:pPr algn="l"/>
            <a:r>
              <a:rPr sz="900" b="0" i="0">
                <a:solidFill>
                  <a:srgbClr val="1A3A6A"/>
                </a:solidFill>
                <a:latin typeface="Calibri"/>
              </a:rPr>
              <a:t>▶</a:t>
            </a:r>
          </a:p>
        </p:txBody>
      </p:sp>
      <p:sp>
        <p:nvSpPr>
          <p:cNvPr id="30" name="TextBox 29"/>
          <p:cNvSpPr txBox="1"/>
          <p:nvPr/>
        </p:nvSpPr>
        <p:spPr>
          <a:xfrm>
            <a:off x="7360920" y="5321808"/>
            <a:ext cx="4572000" cy="274320"/>
          </a:xfrm>
          <a:prstGeom prst="rect">
            <a:avLst/>
          </a:prstGeom>
          <a:noFill/>
        </p:spPr>
        <p:txBody>
          <a:bodyPr wrap="square">
            <a:spAutoFit/>
          </a:bodyPr>
          <a:lstStyle/>
          <a:p>
            <a:pPr algn="l"/>
            <a:r>
              <a:rPr sz="1000" b="0" i="0">
                <a:solidFill>
                  <a:srgbClr val="1C1C2E"/>
                </a:solidFill>
                <a:latin typeface="Calibri"/>
              </a:rPr>
              <a:t>Works on any government laptop / tablet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System Architecture — Built for Government Scale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14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System Architecture — Built for Government Scale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24128"/>
            <a:ext cx="11795760" cy="114300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24128"/>
            <a:ext cx="228600" cy="114300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115568"/>
            <a:ext cx="2926080" cy="384048"/>
          </a:xfrm>
          <a:prstGeom prst="rect">
            <a:avLst/>
          </a:prstGeom>
          <a:noFill/>
        </p:spPr>
        <p:txBody>
          <a:bodyPr wrap="square">
            <a:spAutoFit/>
          </a:bodyPr>
          <a:lstStyle/>
          <a:p>
            <a:pPr algn="l"/>
            <a:r>
              <a:rPr sz="1200" b="1" i="0">
                <a:solidFill>
                  <a:srgbClr val="1A3A6A"/>
                </a:solidFill>
                <a:latin typeface="Calibri"/>
              </a:rPr>
              <a:t>PRESENTATION LAYER</a:t>
            </a:r>
          </a:p>
        </p:txBody>
      </p:sp>
      <p:sp>
        <p:nvSpPr>
          <p:cNvPr id="15" name="TextBox 14"/>
          <p:cNvSpPr txBox="1"/>
          <p:nvPr/>
        </p:nvSpPr>
        <p:spPr>
          <a:xfrm>
            <a:off x="594360" y="1527048"/>
            <a:ext cx="11247120" cy="502920"/>
          </a:xfrm>
          <a:prstGeom prst="rect">
            <a:avLst/>
          </a:prstGeom>
          <a:noFill/>
        </p:spPr>
        <p:txBody>
          <a:bodyPr wrap="square">
            <a:spAutoFit/>
          </a:bodyPr>
          <a:lstStyle/>
          <a:p>
            <a:pPr algn="l"/>
            <a:r>
              <a:rPr sz="1000" b="0" i="0">
                <a:solidFill>
                  <a:srgbClr val="1A3A6A"/>
                </a:solidFill>
                <a:latin typeface="Calibri"/>
              </a:rPr>
              <a:t>React 18 SPA  ·  6 Functional Modules  ·  Shared Component Library  ·  Responsive — Works on Government Laptops &amp; Tablets</a:t>
            </a:r>
          </a:p>
        </p:txBody>
      </p:sp>
      <p:sp>
        <p:nvSpPr>
          <p:cNvPr id="16" name="Rectangle 15"/>
          <p:cNvSpPr/>
          <p:nvPr/>
        </p:nvSpPr>
        <p:spPr>
          <a:xfrm>
            <a:off x="274320" y="2258568"/>
            <a:ext cx="11795760" cy="114300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258568"/>
            <a:ext cx="228600" cy="1143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350008"/>
            <a:ext cx="2926080" cy="384048"/>
          </a:xfrm>
          <a:prstGeom prst="rect">
            <a:avLst/>
          </a:prstGeom>
          <a:noFill/>
        </p:spPr>
        <p:txBody>
          <a:bodyPr wrap="square">
            <a:spAutoFit/>
          </a:bodyPr>
          <a:lstStyle/>
          <a:p>
            <a:pPr algn="l"/>
            <a:r>
              <a:rPr sz="1200" b="1" i="0">
                <a:solidFill>
                  <a:srgbClr val="FFFFFF"/>
                </a:solidFill>
                <a:latin typeface="Calibri"/>
              </a:rPr>
              <a:t>AXIOM INTELLIGENCE LAYER</a:t>
            </a:r>
          </a:p>
        </p:txBody>
      </p:sp>
      <p:sp>
        <p:nvSpPr>
          <p:cNvPr id="19" name="TextBox 18"/>
          <p:cNvSpPr txBox="1"/>
          <p:nvPr/>
        </p:nvSpPr>
        <p:spPr>
          <a:xfrm>
            <a:off x="594360" y="2761488"/>
            <a:ext cx="11247120" cy="502920"/>
          </a:xfrm>
          <a:prstGeom prst="rect">
            <a:avLst/>
          </a:prstGeom>
          <a:noFill/>
        </p:spPr>
        <p:txBody>
          <a:bodyPr wrap="square">
            <a:spAutoFit/>
          </a:bodyPr>
          <a:lstStyle/>
          <a:p>
            <a:pPr algn="l"/>
            <a:r>
              <a:rPr sz="1000" b="0" i="0">
                <a:solidFill>
                  <a:srgbClr val="FFFFFF"/>
                </a:solidFill>
                <a:latin typeface="Calibri"/>
              </a:rPr>
              <a:t>Document OCR  ·  Face Recognition  ·  Camera Analysis  ·  Queue Prediction  ·  Cargo Risk Scoring  ·  NLP Briefing Engine</a:t>
            </a:r>
          </a:p>
        </p:txBody>
      </p:sp>
      <p:sp>
        <p:nvSpPr>
          <p:cNvPr id="20" name="Rectangle 19"/>
          <p:cNvSpPr/>
          <p:nvPr/>
        </p:nvSpPr>
        <p:spPr>
          <a:xfrm>
            <a:off x="274320" y="3493008"/>
            <a:ext cx="11795760" cy="1143000"/>
          </a:xfrm>
          <a:prstGeom prst="rect">
            <a:avLst/>
          </a:prstGeom>
          <a:solidFill>
            <a:srgbClr val="F5E9D4"/>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493008"/>
            <a:ext cx="228600" cy="1143000"/>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584448"/>
            <a:ext cx="2926080" cy="384048"/>
          </a:xfrm>
          <a:prstGeom prst="rect">
            <a:avLst/>
          </a:prstGeom>
          <a:noFill/>
        </p:spPr>
        <p:txBody>
          <a:bodyPr wrap="square">
            <a:spAutoFit/>
          </a:bodyPr>
          <a:lstStyle/>
          <a:p>
            <a:pPr algn="l"/>
            <a:r>
              <a:rPr sz="1200" b="1" i="0">
                <a:solidFill>
                  <a:srgbClr val="1C1C2E"/>
                </a:solidFill>
                <a:latin typeface="Calibri"/>
              </a:rPr>
              <a:t>DATA INTEGRATION LAYER</a:t>
            </a:r>
          </a:p>
        </p:txBody>
      </p:sp>
      <p:sp>
        <p:nvSpPr>
          <p:cNvPr id="23" name="TextBox 22"/>
          <p:cNvSpPr txBox="1"/>
          <p:nvPr/>
        </p:nvSpPr>
        <p:spPr>
          <a:xfrm>
            <a:off x="594360" y="3995928"/>
            <a:ext cx="11247120" cy="502920"/>
          </a:xfrm>
          <a:prstGeom prst="rect">
            <a:avLst/>
          </a:prstGeom>
          <a:noFill/>
        </p:spPr>
        <p:txBody>
          <a:bodyPr wrap="square">
            <a:spAutoFit/>
          </a:bodyPr>
          <a:lstStyle/>
          <a:p>
            <a:pPr algn="l"/>
            <a:r>
              <a:rPr sz="1000" b="0" i="0">
                <a:solidFill>
                  <a:srgbClr val="1C1C2E"/>
                </a:solidFill>
                <a:latin typeface="Calibri"/>
              </a:rPr>
              <a:t>ICEGATE API  ·  VAHAN API  ·  Bureau of Immigration API  ·  NDAP  ·  LPMS  ·  PIFS  ·  CCTV Streams</a:t>
            </a:r>
          </a:p>
        </p:txBody>
      </p:sp>
      <p:sp>
        <p:nvSpPr>
          <p:cNvPr id="24" name="Rectangle 23"/>
          <p:cNvSpPr/>
          <p:nvPr/>
        </p:nvSpPr>
        <p:spPr>
          <a:xfrm>
            <a:off x="274320" y="4727448"/>
            <a:ext cx="11795760" cy="114300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727448"/>
            <a:ext cx="228600" cy="114300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818888"/>
            <a:ext cx="2926080" cy="384048"/>
          </a:xfrm>
          <a:prstGeom prst="rect">
            <a:avLst/>
          </a:prstGeom>
          <a:noFill/>
        </p:spPr>
        <p:txBody>
          <a:bodyPr wrap="square">
            <a:spAutoFit/>
          </a:bodyPr>
          <a:lstStyle/>
          <a:p>
            <a:pPr algn="l"/>
            <a:r>
              <a:rPr sz="1200" b="1" i="0">
                <a:solidFill>
                  <a:srgbClr val="1C1C2E"/>
                </a:solidFill>
                <a:latin typeface="Calibri"/>
              </a:rPr>
              <a:t>DATA SOURCES</a:t>
            </a:r>
          </a:p>
        </p:txBody>
      </p:sp>
      <p:sp>
        <p:nvSpPr>
          <p:cNvPr id="27" name="TextBox 26"/>
          <p:cNvSpPr txBox="1"/>
          <p:nvPr/>
        </p:nvSpPr>
        <p:spPr>
          <a:xfrm>
            <a:off x="594360" y="5230368"/>
            <a:ext cx="11247120" cy="502920"/>
          </a:xfrm>
          <a:prstGeom prst="rect">
            <a:avLst/>
          </a:prstGeom>
          <a:noFill/>
        </p:spPr>
        <p:txBody>
          <a:bodyPr wrap="square">
            <a:spAutoFit/>
          </a:bodyPr>
          <a:lstStyle/>
          <a:p>
            <a:pPr algn="l"/>
            <a:r>
              <a:rPr sz="1000" b="0" i="0">
                <a:solidFill>
                  <a:srgbClr val="1C1C2E"/>
                </a:solidFill>
                <a:latin typeface="Calibri"/>
              </a:rPr>
              <a:t>Customs Records  ·  Vehicle Registry  ·  Passport Database  ·  CCTV Cameras  ·  Weighbridge Sensors  ·  Intelligence Feeds</a:t>
            </a:r>
          </a:p>
        </p:txBody>
      </p:sp>
      <p:sp>
        <p:nvSpPr>
          <p:cNvPr id="28" name="Rectangle 27"/>
          <p:cNvSpPr/>
          <p:nvPr/>
        </p:nvSpPr>
        <p:spPr>
          <a:xfrm>
            <a:off x="274320" y="5989320"/>
            <a:ext cx="11795760" cy="502920"/>
          </a:xfrm>
          <a:prstGeom prst="rect">
            <a:avLst/>
          </a:prstGeom>
          <a:solidFill>
            <a:srgbClr val="FFF3C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35040"/>
            <a:ext cx="11612880" cy="384048"/>
          </a:xfrm>
          <a:prstGeom prst="rect">
            <a:avLst/>
          </a:prstGeom>
          <a:noFill/>
        </p:spPr>
        <p:txBody>
          <a:bodyPr wrap="square">
            <a:spAutoFit/>
          </a:bodyPr>
          <a:lstStyle/>
          <a:p>
            <a:pPr algn="l"/>
            <a:r>
              <a:rPr sz="1000" b="0" i="0">
                <a:solidFill>
                  <a:srgbClr val="856504"/>
                </a:solidFill>
                <a:latin typeface="Calibri"/>
              </a:rPr>
              <a:t>◉  Current Status:  Layer 1 complete  ·  Layer 2 concept-implemented  ·  Layers 3–4 planned Phase 2 (data sharing agreements required)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The Impact — Process Transformation at Every Stage</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15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The Impact — Process Transformation at Every Stage</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274320" y="1005840"/>
          <a:ext cx="11612880" cy="5212080"/>
        </p:xfrm>
        <a:graphic>
          <a:graphicData uri="http://schemas.openxmlformats.org/drawingml/2006/table">
            <a:tbl>
              <a:tblPr firstRow="1" bandRow="1">
                <a:tableStyleId>{5C22544A-7EE6-4342-B048-85BDC9FD1C3A}</a:tableStyleId>
              </a:tblPr>
              <a:tblGrid>
                <a:gridCol w="2743200"/>
                <a:gridCol w="3200400"/>
                <a:gridCol w="3200400"/>
                <a:gridCol w="2468880"/>
              </a:tblGrid>
              <a:tr h="744582">
                <a:tc>
                  <a:txBody>
                    <a:bodyPr/>
                    <a:lstStyle/>
                    <a:p>
                      <a:pPr algn="ctr"/>
                      <a:r>
                        <a:rPr sz="1100" b="1" i="0">
                          <a:solidFill>
                            <a:srgbClr val="FFFFFF"/>
                          </a:solidFill>
                          <a:latin typeface="Calibri"/>
                        </a:rPr>
                        <a:t>Process</a:t>
                      </a:r>
                    </a:p>
                  </a:txBody>
                  <a:tcPr>
                    <a:solidFill>
                      <a:srgbClr val="1A3A6A"/>
                    </a:solidFill>
                  </a:tcPr>
                </a:tc>
                <a:tc>
                  <a:txBody>
                    <a:bodyPr/>
                    <a:lstStyle/>
                    <a:p>
                      <a:pPr algn="ctr"/>
                      <a:r>
                        <a:rPr sz="1100" b="1" i="0">
                          <a:solidFill>
                            <a:srgbClr val="FFFFFF"/>
                          </a:solidFill>
                          <a:latin typeface="Calibri"/>
                        </a:rPr>
                        <a:t>Before LPAI Nexus</a:t>
                      </a:r>
                    </a:p>
                  </a:txBody>
                  <a:tcPr>
                    <a:solidFill>
                      <a:srgbClr val="1A3A6A"/>
                    </a:solidFill>
                  </a:tcPr>
                </a:tc>
                <a:tc>
                  <a:txBody>
                    <a:bodyPr/>
                    <a:lstStyle/>
                    <a:p>
                      <a:pPr algn="ctr"/>
                      <a:r>
                        <a:rPr sz="1100" b="1" i="0">
                          <a:solidFill>
                            <a:srgbClr val="FFFFFF"/>
                          </a:solidFill>
                          <a:latin typeface="Calibri"/>
                        </a:rPr>
                        <a:t>After LPAI Nexus</a:t>
                      </a:r>
                    </a:p>
                  </a:txBody>
                  <a:tcPr>
                    <a:solidFill>
                      <a:srgbClr val="1A3A6A"/>
                    </a:solidFill>
                  </a:tcPr>
                </a:tc>
                <a:tc>
                  <a:txBody>
                    <a:bodyPr/>
                    <a:lstStyle/>
                    <a:p>
                      <a:pPr algn="ctr"/>
                      <a:r>
                        <a:rPr sz="1100" b="1" i="0">
                          <a:solidFill>
                            <a:srgbClr val="FFFFFF"/>
                          </a:solidFill>
                          <a:latin typeface="Calibri"/>
                        </a:rPr>
                        <a:t>Improvement</a:t>
                      </a:r>
                    </a:p>
                  </a:txBody>
                  <a:tcPr>
                    <a:solidFill>
                      <a:srgbClr val="1A3A6A"/>
                    </a:solidFill>
                  </a:tcPr>
                </a:tc>
              </a:tr>
              <a:tr h="744582">
                <a:tc>
                  <a:txBody>
                    <a:bodyPr/>
                    <a:lstStyle/>
                    <a:p>
                      <a:pPr algn="l"/>
                      <a:r>
                        <a:rPr sz="1000" b="0" i="0">
                          <a:solidFill>
                            <a:srgbClr val="1C1C2E"/>
                          </a:solidFill>
                          <a:latin typeface="Calibri"/>
                        </a:rPr>
                        <a:t>Cargo document check</a:t>
                      </a:r>
                    </a:p>
                  </a:txBody>
                  <a:tcPr>
                    <a:solidFill>
                      <a:srgbClr val="FFFFFF"/>
                    </a:solidFill>
                  </a:tcPr>
                </a:tc>
                <a:tc>
                  <a:txBody>
                    <a:bodyPr/>
                    <a:lstStyle/>
                    <a:p>
                      <a:pPr algn="l"/>
                      <a:r>
                        <a:rPr sz="1000" b="0" i="0">
                          <a:solidFill>
                            <a:srgbClr val="1C1C2E"/>
                          </a:solidFill>
                          <a:latin typeface="Calibri"/>
                        </a:rPr>
                        <a:t>45 min — manual officer review</a:t>
                      </a:r>
                    </a:p>
                  </a:txBody>
                  <a:tcPr>
                    <a:solidFill>
                      <a:srgbClr val="FFFFFF"/>
                    </a:solidFill>
                  </a:tcPr>
                </a:tc>
                <a:tc>
                  <a:txBody>
                    <a:bodyPr/>
                    <a:lstStyle/>
                    <a:p>
                      <a:pPr algn="l"/>
                      <a:r>
                        <a:rPr sz="1000" b="0" i="0">
                          <a:solidFill>
                            <a:srgbClr val="1C1C2E"/>
                          </a:solidFill>
                          <a:latin typeface="Calibri"/>
                        </a:rPr>
                        <a:t>2 min — Axiom AI OCR</a:t>
                      </a:r>
                    </a:p>
                  </a:txBody>
                  <a:tcPr>
                    <a:solidFill>
                      <a:srgbClr val="FFFFFF"/>
                    </a:solidFill>
                  </a:tcPr>
                </a:tc>
                <a:tc>
                  <a:txBody>
                    <a:bodyPr/>
                    <a:lstStyle/>
                    <a:p>
                      <a:pPr algn="l"/>
                      <a:r>
                        <a:rPr sz="1000" b="1" i="0">
                          <a:solidFill>
                            <a:srgbClr val="1A6A3A"/>
                          </a:solidFill>
                          <a:latin typeface="Calibri"/>
                        </a:rPr>
                        <a:t>95% faster</a:t>
                      </a:r>
                    </a:p>
                  </a:txBody>
                  <a:tcPr>
                    <a:solidFill>
                      <a:srgbClr val="FFFFFF"/>
                    </a:solidFill>
                  </a:tcPr>
                </a:tc>
              </a:tr>
              <a:tr h="744582">
                <a:tc>
                  <a:txBody>
                    <a:bodyPr/>
                    <a:lstStyle/>
                    <a:p>
                      <a:pPr algn="l"/>
                      <a:r>
                        <a:rPr sz="1000" b="0" i="0">
                          <a:solidFill>
                            <a:srgbClr val="1C1C2E"/>
                          </a:solidFill>
                          <a:latin typeface="Calibri"/>
                        </a:rPr>
                        <a:t>Export clearance (avg)</a:t>
                      </a:r>
                    </a:p>
                  </a:txBody>
                  <a:tcPr>
                    <a:solidFill>
                      <a:srgbClr val="E8F0FA"/>
                    </a:solidFill>
                  </a:tcPr>
                </a:tc>
                <a:tc>
                  <a:txBody>
                    <a:bodyPr/>
                    <a:lstStyle/>
                    <a:p>
                      <a:pPr algn="l"/>
                      <a:r>
                        <a:rPr sz="1000" b="0" i="0">
                          <a:solidFill>
                            <a:srgbClr val="1C1C2E"/>
                          </a:solidFill>
                          <a:latin typeface="Calibri"/>
                        </a:rPr>
                        <a:t>110+ hours at Petrapole</a:t>
                      </a:r>
                    </a:p>
                  </a:txBody>
                  <a:tcPr>
                    <a:solidFill>
                      <a:srgbClr val="E8F0FA"/>
                    </a:solidFill>
                  </a:tcPr>
                </a:tc>
                <a:tc>
                  <a:txBody>
                    <a:bodyPr/>
                    <a:lstStyle/>
                    <a:p>
                      <a:pPr algn="l"/>
                      <a:r>
                        <a:rPr sz="1000" b="0" i="0">
                          <a:solidFill>
                            <a:srgbClr val="1C1C2E"/>
                          </a:solidFill>
                          <a:latin typeface="Calibri"/>
                        </a:rPr>
                        <a:t>Target: 12–18 hours</a:t>
                      </a:r>
                    </a:p>
                  </a:txBody>
                  <a:tcPr>
                    <a:solidFill>
                      <a:srgbClr val="E8F0FA"/>
                    </a:solidFill>
                  </a:tcPr>
                </a:tc>
                <a:tc>
                  <a:txBody>
                    <a:bodyPr/>
                    <a:lstStyle/>
                    <a:p>
                      <a:pPr algn="l"/>
                      <a:r>
                        <a:rPr sz="1000" b="1" i="0">
                          <a:solidFill>
                            <a:srgbClr val="1A6A3A"/>
                          </a:solidFill>
                          <a:latin typeface="Calibri"/>
                        </a:rPr>
                        <a:t>~85% reduction</a:t>
                      </a:r>
                    </a:p>
                  </a:txBody>
                  <a:tcPr>
                    <a:solidFill>
                      <a:srgbClr val="E8F0FA"/>
                    </a:solidFill>
                  </a:tcPr>
                </a:tc>
              </a:tr>
              <a:tr h="744582">
                <a:tc>
                  <a:txBody>
                    <a:bodyPr/>
                    <a:lstStyle/>
                    <a:p>
                      <a:pPr algn="l"/>
                      <a:r>
                        <a:rPr sz="1000" b="0" i="0">
                          <a:solidFill>
                            <a:srgbClr val="1C1C2E"/>
                          </a:solidFill>
                          <a:latin typeface="Calibri"/>
                        </a:rPr>
                        <a:t>Import clearance (avg)</a:t>
                      </a:r>
                    </a:p>
                  </a:txBody>
                  <a:tcPr>
                    <a:solidFill>
                      <a:srgbClr val="FFFFFF"/>
                    </a:solidFill>
                  </a:tcPr>
                </a:tc>
                <a:tc>
                  <a:txBody>
                    <a:bodyPr/>
                    <a:lstStyle/>
                    <a:p>
                      <a:pPr algn="l"/>
                      <a:r>
                        <a:rPr sz="1000" b="0" i="0">
                          <a:solidFill>
                            <a:srgbClr val="1C1C2E"/>
                          </a:solidFill>
                          <a:latin typeface="Calibri"/>
                        </a:rPr>
                        <a:t>31 hours (CBIC 2023)</a:t>
                      </a:r>
                    </a:p>
                  </a:txBody>
                  <a:tcPr>
                    <a:solidFill>
                      <a:srgbClr val="FFFFFF"/>
                    </a:solidFill>
                  </a:tcPr>
                </a:tc>
                <a:tc>
                  <a:txBody>
                    <a:bodyPr/>
                    <a:lstStyle/>
                    <a:p>
                      <a:pPr algn="l"/>
                      <a:r>
                        <a:rPr sz="1000" b="0" i="0">
                          <a:solidFill>
                            <a:srgbClr val="1C1C2E"/>
                          </a:solidFill>
                          <a:latin typeface="Calibri"/>
                        </a:rPr>
                        <a:t>Target: 12–18 hours</a:t>
                      </a:r>
                    </a:p>
                  </a:txBody>
                  <a:tcPr>
                    <a:solidFill>
                      <a:srgbClr val="FFFFFF"/>
                    </a:solidFill>
                  </a:tcPr>
                </a:tc>
                <a:tc>
                  <a:txBody>
                    <a:bodyPr/>
                    <a:lstStyle/>
                    <a:p>
                      <a:pPr algn="l"/>
                      <a:r>
                        <a:rPr sz="1000" b="1" i="0">
                          <a:solidFill>
                            <a:srgbClr val="1A6A3A"/>
                          </a:solidFill>
                          <a:latin typeface="Calibri"/>
                        </a:rPr>
                        <a:t>~50% reduction</a:t>
                      </a:r>
                    </a:p>
                  </a:txBody>
                  <a:tcPr>
                    <a:solidFill>
                      <a:srgbClr val="FFFFFF"/>
                    </a:solidFill>
                  </a:tcPr>
                </a:tc>
              </a:tr>
              <a:tr h="744582">
                <a:tc>
                  <a:txBody>
                    <a:bodyPr/>
                    <a:lstStyle/>
                    <a:p>
                      <a:pPr algn="l"/>
                      <a:r>
                        <a:rPr sz="1000" b="0" i="0">
                          <a:solidFill>
                            <a:srgbClr val="1C1C2E"/>
                          </a:solidFill>
                          <a:latin typeface="Calibri"/>
                        </a:rPr>
                        <a:t>Watchlist check</a:t>
                      </a:r>
                    </a:p>
                  </a:txBody>
                  <a:tcPr>
                    <a:solidFill>
                      <a:srgbClr val="E8F0FA"/>
                    </a:solidFill>
                  </a:tcPr>
                </a:tc>
                <a:tc>
                  <a:txBody>
                    <a:bodyPr/>
                    <a:lstStyle/>
                    <a:p>
                      <a:pPr algn="l"/>
                      <a:r>
                        <a:rPr sz="1000" b="0" i="0">
                          <a:solidFill>
                            <a:srgbClr val="1C1C2E"/>
                          </a:solidFill>
                          <a:latin typeface="Calibri"/>
                        </a:rPr>
                        <a:t>2–3 min — manual database lookup</a:t>
                      </a:r>
                    </a:p>
                  </a:txBody>
                  <a:tcPr>
                    <a:solidFill>
                      <a:srgbClr val="E8F0FA"/>
                    </a:solidFill>
                  </a:tcPr>
                </a:tc>
                <a:tc>
                  <a:txBody>
                    <a:bodyPr/>
                    <a:lstStyle/>
                    <a:p>
                      <a:pPr algn="l"/>
                      <a:r>
                        <a:rPr sz="1000" b="0" i="0">
                          <a:solidFill>
                            <a:srgbClr val="1C1C2E"/>
                          </a:solidFill>
                          <a:latin typeface="Calibri"/>
                        </a:rPr>
                        <a:t>&lt;1 second — AI matching</a:t>
                      </a:r>
                    </a:p>
                  </a:txBody>
                  <a:tcPr>
                    <a:solidFill>
                      <a:srgbClr val="E8F0FA"/>
                    </a:solidFill>
                  </a:tcPr>
                </a:tc>
                <a:tc>
                  <a:txBody>
                    <a:bodyPr/>
                    <a:lstStyle/>
                    <a:p>
                      <a:pPr algn="l"/>
                      <a:r>
                        <a:rPr sz="1000" b="1" i="0">
                          <a:solidFill>
                            <a:srgbClr val="1A6A3A"/>
                          </a:solidFill>
                          <a:latin typeface="Calibri"/>
                        </a:rPr>
                        <a:t>99% faster</a:t>
                      </a:r>
                    </a:p>
                  </a:txBody>
                  <a:tcPr>
                    <a:solidFill>
                      <a:srgbClr val="E8F0FA"/>
                    </a:solidFill>
                  </a:tcPr>
                </a:tc>
              </a:tr>
              <a:tr h="744582">
                <a:tc>
                  <a:txBody>
                    <a:bodyPr/>
                    <a:lstStyle/>
                    <a:p>
                      <a:pPr algn="l"/>
                      <a:r>
                        <a:rPr sz="1000" b="0" i="0">
                          <a:solidFill>
                            <a:srgbClr val="1C1C2E"/>
                          </a:solidFill>
                          <a:latin typeface="Calibri"/>
                        </a:rPr>
                        <a:t>CCTV monitoring</a:t>
                      </a:r>
                    </a:p>
                  </a:txBody>
                  <a:tcPr>
                    <a:solidFill>
                      <a:srgbClr val="FFFFFF"/>
                    </a:solidFill>
                  </a:tcPr>
                </a:tc>
                <a:tc>
                  <a:txBody>
                    <a:bodyPr/>
                    <a:lstStyle/>
                    <a:p>
                      <a:pPr algn="l"/>
                      <a:r>
                        <a:rPr sz="1000" b="0" i="0">
                          <a:solidFill>
                            <a:srgbClr val="1C1C2E"/>
                          </a:solidFill>
                          <a:latin typeface="Calibri"/>
                        </a:rPr>
                        <a:t>Human-limited, 4–6 screens</a:t>
                      </a:r>
                    </a:p>
                  </a:txBody>
                  <a:tcPr>
                    <a:solidFill>
                      <a:srgbClr val="FFFFFF"/>
                    </a:solidFill>
                  </a:tcPr>
                </a:tc>
                <a:tc>
                  <a:txBody>
                    <a:bodyPr/>
                    <a:lstStyle/>
                    <a:p>
                      <a:pPr algn="l"/>
                      <a:r>
                        <a:rPr sz="1000" b="0" i="0">
                          <a:solidFill>
                            <a:srgbClr val="1C1C2E"/>
                          </a:solidFill>
                          <a:latin typeface="Calibri"/>
                        </a:rPr>
                        <a:t>AI-powered, all feeds 24/7</a:t>
                      </a:r>
                    </a:p>
                  </a:txBody>
                  <a:tcPr>
                    <a:solidFill>
                      <a:srgbClr val="FFFFFF"/>
                    </a:solidFill>
                  </a:tcPr>
                </a:tc>
                <a:tc>
                  <a:txBody>
                    <a:bodyPr/>
                    <a:lstStyle/>
                    <a:p>
                      <a:pPr algn="l"/>
                      <a:r>
                        <a:rPr sz="1000" b="1" i="0">
                          <a:solidFill>
                            <a:srgbClr val="1A6A3A"/>
                          </a:solidFill>
                          <a:latin typeface="Calibri"/>
                        </a:rPr>
                        <a:t>Continuous</a:t>
                      </a:r>
                    </a:p>
                  </a:txBody>
                  <a:tcPr>
                    <a:solidFill>
                      <a:srgbClr val="FFFFFF"/>
                    </a:solidFill>
                  </a:tcPr>
                </a:tc>
              </a:tr>
              <a:tr h="744588">
                <a:tc>
                  <a:txBody>
                    <a:bodyPr/>
                    <a:lstStyle/>
                    <a:p>
                      <a:pPr algn="l"/>
                      <a:r>
                        <a:rPr sz="1000" b="0" i="0">
                          <a:solidFill>
                            <a:srgbClr val="1C1C2E"/>
                          </a:solidFill>
                          <a:latin typeface="Calibri"/>
                        </a:rPr>
                        <a:t>MIS / HQ reporting</a:t>
                      </a:r>
                    </a:p>
                  </a:txBody>
                  <a:tcPr>
                    <a:solidFill>
                      <a:srgbClr val="E8F0FA"/>
                    </a:solidFill>
                  </a:tcPr>
                </a:tc>
                <a:tc>
                  <a:txBody>
                    <a:bodyPr/>
                    <a:lstStyle/>
                    <a:p>
                      <a:pPr algn="l"/>
                      <a:r>
                        <a:rPr sz="1000" b="0" i="0">
                          <a:solidFill>
                            <a:srgbClr val="1C1C2E"/>
                          </a:solidFill>
                          <a:latin typeface="Calibri"/>
                        </a:rPr>
                        <a:t>Next-day Excel — 12-48 hr delay</a:t>
                      </a:r>
                    </a:p>
                  </a:txBody>
                  <a:tcPr>
                    <a:solidFill>
                      <a:srgbClr val="E8F0FA"/>
                    </a:solidFill>
                  </a:tcPr>
                </a:tc>
                <a:tc>
                  <a:txBody>
                    <a:bodyPr/>
                    <a:lstStyle/>
                    <a:p>
                      <a:pPr algn="l"/>
                      <a:r>
                        <a:rPr sz="1000" b="0" i="0">
                          <a:solidFill>
                            <a:srgbClr val="1C1C2E"/>
                          </a:solidFill>
                          <a:latin typeface="Calibri"/>
                        </a:rPr>
                        <a:t>Real-time dashboard</a:t>
                      </a:r>
                    </a:p>
                  </a:txBody>
                  <a:tcPr>
                    <a:solidFill>
                      <a:srgbClr val="E8F0FA"/>
                    </a:solidFill>
                  </a:tcPr>
                </a:tc>
                <a:tc>
                  <a:txBody>
                    <a:bodyPr/>
                    <a:lstStyle/>
                    <a:p>
                      <a:pPr algn="l"/>
                      <a:r>
                        <a:rPr sz="1000" b="1" i="0">
                          <a:solidFill>
                            <a:srgbClr val="1A6A3A"/>
                          </a:solidFill>
                          <a:latin typeface="Calibri"/>
                        </a:rPr>
                        <a:t>Instant</a:t>
                      </a:r>
                    </a:p>
                  </a:txBody>
                  <a:tcPr>
                    <a:solidFill>
                      <a:srgbClr val="E8F0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Three-Phase Implementation Plan</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16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Three-Phase Implementation Plan</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3840480" cy="534924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3840480" cy="82296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1005840"/>
            <a:ext cx="73152" cy="53492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051560"/>
            <a:ext cx="3657600" cy="384048"/>
          </a:xfrm>
          <a:prstGeom prst="rect">
            <a:avLst/>
          </a:prstGeom>
          <a:noFill/>
        </p:spPr>
        <p:txBody>
          <a:bodyPr wrap="square">
            <a:spAutoFit/>
          </a:bodyPr>
          <a:lstStyle/>
          <a:p>
            <a:pPr algn="l"/>
            <a:r>
              <a:rPr sz="1300" b="1" i="0">
                <a:solidFill>
                  <a:srgbClr val="FFFFFF"/>
                </a:solidFill>
                <a:latin typeface="Calibri"/>
              </a:rPr>
              <a:t>Phase 1: Prototype</a:t>
            </a:r>
          </a:p>
        </p:txBody>
      </p:sp>
      <p:sp>
        <p:nvSpPr>
          <p:cNvPr id="16" name="TextBox 15"/>
          <p:cNvSpPr txBox="1"/>
          <p:nvPr/>
        </p:nvSpPr>
        <p:spPr>
          <a:xfrm>
            <a:off x="411480" y="1435608"/>
            <a:ext cx="3657600" cy="347472"/>
          </a:xfrm>
          <a:prstGeom prst="rect">
            <a:avLst/>
          </a:prstGeom>
          <a:noFill/>
        </p:spPr>
        <p:txBody>
          <a:bodyPr wrap="square">
            <a:spAutoFit/>
          </a:bodyPr>
          <a:lstStyle/>
          <a:p>
            <a:pPr algn="l"/>
            <a:r>
              <a:rPr sz="1000" b="0" i="1">
                <a:solidFill>
                  <a:srgbClr val="FFFFFF"/>
                </a:solidFill>
                <a:latin typeface="Calibri"/>
              </a:rPr>
              <a:t>Internship 2026 — Done</a:t>
            </a:r>
          </a:p>
        </p:txBody>
      </p:sp>
      <p:sp>
        <p:nvSpPr>
          <p:cNvPr id="17" name="Rectangle 16"/>
          <p:cNvSpPr/>
          <p:nvPr/>
        </p:nvSpPr>
        <p:spPr>
          <a:xfrm>
            <a:off x="731520" y="2011680"/>
            <a:ext cx="2926080" cy="36576"/>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148840"/>
            <a:ext cx="2926080" cy="347472"/>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176272"/>
            <a:ext cx="2926080" cy="274320"/>
          </a:xfrm>
          <a:prstGeom prst="rect">
            <a:avLst/>
          </a:prstGeom>
          <a:noFill/>
        </p:spPr>
        <p:txBody>
          <a:bodyPr wrap="square">
            <a:spAutoFit/>
          </a:bodyPr>
          <a:lstStyle/>
          <a:p>
            <a:pPr algn="ctr"/>
            <a:r>
              <a:rPr sz="1000" b="1" i="0">
                <a:solidFill>
                  <a:srgbClr val="FFFFFF"/>
                </a:solidFill>
                <a:latin typeface="Calibri"/>
              </a:rPr>
              <a:t>COMPLETED</a:t>
            </a:r>
          </a:p>
        </p:txBody>
      </p:sp>
      <p:sp>
        <p:nvSpPr>
          <p:cNvPr id="20" name="TextBox 19"/>
          <p:cNvSpPr txBox="1"/>
          <p:nvPr/>
        </p:nvSpPr>
        <p:spPr>
          <a:xfrm>
            <a:off x="457200" y="2606040"/>
            <a:ext cx="3566160" cy="475488"/>
          </a:xfrm>
          <a:prstGeom prst="rect">
            <a:avLst/>
          </a:prstGeom>
          <a:noFill/>
        </p:spPr>
        <p:txBody>
          <a:bodyPr wrap="square">
            <a:spAutoFit/>
          </a:bodyPr>
          <a:lstStyle/>
          <a:p>
            <a:pPr algn="l"/>
            <a:r>
              <a:rPr sz="1050" b="0" i="0">
                <a:solidFill>
                  <a:srgbClr val="1C1C2E"/>
                </a:solidFill>
                <a:latin typeface="Calibri"/>
              </a:rPr>
              <a:t>✓ 6 fully functional modules</a:t>
            </a:r>
          </a:p>
        </p:txBody>
      </p:sp>
      <p:sp>
        <p:nvSpPr>
          <p:cNvPr id="21" name="TextBox 20"/>
          <p:cNvSpPr txBox="1"/>
          <p:nvPr/>
        </p:nvSpPr>
        <p:spPr>
          <a:xfrm>
            <a:off x="457200" y="3136392"/>
            <a:ext cx="3566160" cy="475488"/>
          </a:xfrm>
          <a:prstGeom prst="rect">
            <a:avLst/>
          </a:prstGeom>
          <a:noFill/>
        </p:spPr>
        <p:txBody>
          <a:bodyPr wrap="square">
            <a:spAutoFit/>
          </a:bodyPr>
          <a:lstStyle/>
          <a:p>
            <a:pPr algn="l"/>
            <a:r>
              <a:rPr sz="1050" b="0" i="0">
                <a:solidFill>
                  <a:srgbClr val="1C1C2E"/>
                </a:solidFill>
                <a:latin typeface="Calibri"/>
              </a:rPr>
              <a:t>✓ 45-step guided walkthrough</a:t>
            </a:r>
          </a:p>
        </p:txBody>
      </p:sp>
      <p:sp>
        <p:nvSpPr>
          <p:cNvPr id="22" name="TextBox 21"/>
          <p:cNvSpPr txBox="1"/>
          <p:nvPr/>
        </p:nvSpPr>
        <p:spPr>
          <a:xfrm>
            <a:off x="457200" y="3666744"/>
            <a:ext cx="3566160" cy="475488"/>
          </a:xfrm>
          <a:prstGeom prst="rect">
            <a:avLst/>
          </a:prstGeom>
          <a:noFill/>
        </p:spPr>
        <p:txBody>
          <a:bodyPr wrap="square">
            <a:spAutoFit/>
          </a:bodyPr>
          <a:lstStyle/>
          <a:p>
            <a:pPr algn="l"/>
            <a:r>
              <a:rPr sz="1050" b="0" i="0">
                <a:solidFill>
                  <a:srgbClr val="1C1C2E"/>
                </a:solidFill>
                <a:latin typeface="Calibri"/>
              </a:rPr>
              <a:t>✓ Full technical report + PRD</a:t>
            </a:r>
          </a:p>
        </p:txBody>
      </p:sp>
      <p:sp>
        <p:nvSpPr>
          <p:cNvPr id="23" name="TextBox 22"/>
          <p:cNvSpPr txBox="1"/>
          <p:nvPr/>
        </p:nvSpPr>
        <p:spPr>
          <a:xfrm>
            <a:off x="457200" y="4197096"/>
            <a:ext cx="3566160" cy="475488"/>
          </a:xfrm>
          <a:prstGeom prst="rect">
            <a:avLst/>
          </a:prstGeom>
          <a:noFill/>
        </p:spPr>
        <p:txBody>
          <a:bodyPr wrap="square">
            <a:spAutoFit/>
          </a:bodyPr>
          <a:lstStyle/>
          <a:p>
            <a:pPr algn="l"/>
            <a:r>
              <a:rPr sz="1050" b="0" i="0">
                <a:solidFill>
                  <a:srgbClr val="1C1C2E"/>
                </a:solidFill>
                <a:latin typeface="Calibri"/>
              </a:rPr>
              <a:t>✓ Axiom AI engine integrated</a:t>
            </a:r>
          </a:p>
        </p:txBody>
      </p:sp>
      <p:sp>
        <p:nvSpPr>
          <p:cNvPr id="24" name="TextBox 23"/>
          <p:cNvSpPr txBox="1"/>
          <p:nvPr/>
        </p:nvSpPr>
        <p:spPr>
          <a:xfrm>
            <a:off x="457200" y="4727448"/>
            <a:ext cx="3566160" cy="475488"/>
          </a:xfrm>
          <a:prstGeom prst="rect">
            <a:avLst/>
          </a:prstGeom>
          <a:noFill/>
        </p:spPr>
        <p:txBody>
          <a:bodyPr wrap="square">
            <a:spAutoFit/>
          </a:bodyPr>
          <a:lstStyle/>
          <a:p>
            <a:pPr algn="l"/>
            <a:r>
              <a:rPr sz="1050" b="0" i="0">
                <a:solidFill>
                  <a:srgbClr val="1C1C2E"/>
                </a:solidFill>
                <a:latin typeface="Calibri"/>
              </a:rPr>
              <a:t>✓ This presentation</a:t>
            </a:r>
          </a:p>
        </p:txBody>
      </p:sp>
      <p:sp>
        <p:nvSpPr>
          <p:cNvPr id="25" name="Rectangle 24"/>
          <p:cNvSpPr/>
          <p:nvPr/>
        </p:nvSpPr>
        <p:spPr>
          <a:xfrm>
            <a:off x="4279392" y="1005840"/>
            <a:ext cx="3840480" cy="5349240"/>
          </a:xfrm>
          <a:prstGeom prst="rect">
            <a:avLst/>
          </a:prstGeom>
          <a:solidFill>
            <a:srgbClr val="FFF3C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79392" y="1005840"/>
            <a:ext cx="3840480" cy="822960"/>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9392" y="1005840"/>
            <a:ext cx="73152" cy="5349240"/>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6552" y="1051560"/>
            <a:ext cx="3657600" cy="384048"/>
          </a:xfrm>
          <a:prstGeom prst="rect">
            <a:avLst/>
          </a:prstGeom>
          <a:noFill/>
        </p:spPr>
        <p:txBody>
          <a:bodyPr wrap="square">
            <a:spAutoFit/>
          </a:bodyPr>
          <a:lstStyle/>
          <a:p>
            <a:pPr algn="l"/>
            <a:r>
              <a:rPr sz="1300" b="1" i="0">
                <a:solidFill>
                  <a:srgbClr val="1C1C2E"/>
                </a:solidFill>
                <a:latin typeface="Calibri"/>
              </a:rPr>
              <a:t>Phase 2: Pilot Deployment</a:t>
            </a:r>
          </a:p>
        </p:txBody>
      </p:sp>
      <p:sp>
        <p:nvSpPr>
          <p:cNvPr id="29" name="TextBox 28"/>
          <p:cNvSpPr txBox="1"/>
          <p:nvPr/>
        </p:nvSpPr>
        <p:spPr>
          <a:xfrm>
            <a:off x="4416552" y="1435608"/>
            <a:ext cx="3657600" cy="347472"/>
          </a:xfrm>
          <a:prstGeom prst="rect">
            <a:avLst/>
          </a:prstGeom>
          <a:noFill/>
        </p:spPr>
        <p:txBody>
          <a:bodyPr wrap="square">
            <a:spAutoFit/>
          </a:bodyPr>
          <a:lstStyle/>
          <a:p>
            <a:pPr algn="l"/>
            <a:r>
              <a:rPr sz="1000" b="0" i="1">
                <a:solidFill>
                  <a:srgbClr val="1C1C2E"/>
                </a:solidFill>
                <a:latin typeface="Calibri"/>
              </a:rPr>
              <a:t>Months 4–9 post approval</a:t>
            </a:r>
          </a:p>
        </p:txBody>
      </p:sp>
      <p:sp>
        <p:nvSpPr>
          <p:cNvPr id="30" name="Rectangle 29"/>
          <p:cNvSpPr/>
          <p:nvPr/>
        </p:nvSpPr>
        <p:spPr>
          <a:xfrm>
            <a:off x="4736592" y="2011680"/>
            <a:ext cx="2926080" cy="36576"/>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36592" y="2148840"/>
            <a:ext cx="2926080" cy="34747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6592" y="2176272"/>
            <a:ext cx="2926080" cy="274320"/>
          </a:xfrm>
          <a:prstGeom prst="rect">
            <a:avLst/>
          </a:prstGeom>
          <a:noFill/>
        </p:spPr>
        <p:txBody>
          <a:bodyPr wrap="square">
            <a:spAutoFit/>
          </a:bodyPr>
          <a:lstStyle/>
          <a:p>
            <a:pPr algn="ctr"/>
            <a:r>
              <a:rPr sz="1000" b="1" i="0">
                <a:solidFill>
                  <a:srgbClr val="1C1C2E"/>
                </a:solidFill>
                <a:latin typeface="Calibri"/>
              </a:rPr>
              <a:t>PROPOSED</a:t>
            </a:r>
          </a:p>
        </p:txBody>
      </p:sp>
      <p:sp>
        <p:nvSpPr>
          <p:cNvPr id="33" name="TextBox 32"/>
          <p:cNvSpPr txBox="1"/>
          <p:nvPr/>
        </p:nvSpPr>
        <p:spPr>
          <a:xfrm>
            <a:off x="4462272" y="2606040"/>
            <a:ext cx="3566160" cy="475488"/>
          </a:xfrm>
          <a:prstGeom prst="rect">
            <a:avLst/>
          </a:prstGeom>
          <a:noFill/>
        </p:spPr>
        <p:txBody>
          <a:bodyPr wrap="square">
            <a:spAutoFit/>
          </a:bodyPr>
          <a:lstStyle/>
          <a:p>
            <a:pPr algn="l"/>
            <a:r>
              <a:rPr sz="1050" b="0" i="0">
                <a:solidFill>
                  <a:srgbClr val="1C1C2E"/>
                </a:solidFill>
                <a:latin typeface="Calibri"/>
              </a:rPr>
              <a:t>• Petrapole + Attari ICPs</a:t>
            </a:r>
          </a:p>
        </p:txBody>
      </p:sp>
      <p:sp>
        <p:nvSpPr>
          <p:cNvPr id="34" name="TextBox 33"/>
          <p:cNvSpPr txBox="1"/>
          <p:nvPr/>
        </p:nvSpPr>
        <p:spPr>
          <a:xfrm>
            <a:off x="4462272" y="3136392"/>
            <a:ext cx="3566160" cy="475488"/>
          </a:xfrm>
          <a:prstGeom prst="rect">
            <a:avLst/>
          </a:prstGeom>
          <a:noFill/>
        </p:spPr>
        <p:txBody>
          <a:bodyPr wrap="square">
            <a:spAutoFit/>
          </a:bodyPr>
          <a:lstStyle/>
          <a:p>
            <a:pPr algn="l"/>
            <a:r>
              <a:rPr sz="1050" b="0" i="0">
                <a:solidFill>
                  <a:srgbClr val="1C1C2E"/>
                </a:solidFill>
                <a:latin typeface="Calibri"/>
              </a:rPr>
              <a:t>• LPMS backend integration</a:t>
            </a:r>
          </a:p>
        </p:txBody>
      </p:sp>
      <p:sp>
        <p:nvSpPr>
          <p:cNvPr id="35" name="TextBox 34"/>
          <p:cNvSpPr txBox="1"/>
          <p:nvPr/>
        </p:nvSpPr>
        <p:spPr>
          <a:xfrm>
            <a:off x="4462272" y="3666744"/>
            <a:ext cx="3566160" cy="475488"/>
          </a:xfrm>
          <a:prstGeom prst="rect">
            <a:avLst/>
          </a:prstGeom>
          <a:noFill/>
        </p:spPr>
        <p:txBody>
          <a:bodyPr wrap="square">
            <a:spAutoFit/>
          </a:bodyPr>
          <a:lstStyle/>
          <a:p>
            <a:pPr algn="l"/>
            <a:r>
              <a:rPr sz="1050" b="0" i="0">
                <a:solidFill>
                  <a:srgbClr val="1C1C2E"/>
                </a:solidFill>
                <a:latin typeface="Calibri"/>
              </a:rPr>
              <a:t>• Bureau of Immigration API</a:t>
            </a:r>
          </a:p>
        </p:txBody>
      </p:sp>
      <p:sp>
        <p:nvSpPr>
          <p:cNvPr id="36" name="TextBox 35"/>
          <p:cNvSpPr txBox="1"/>
          <p:nvPr/>
        </p:nvSpPr>
        <p:spPr>
          <a:xfrm>
            <a:off x="4462272" y="4197096"/>
            <a:ext cx="3566160" cy="475488"/>
          </a:xfrm>
          <a:prstGeom prst="rect">
            <a:avLst/>
          </a:prstGeom>
          <a:noFill/>
        </p:spPr>
        <p:txBody>
          <a:bodyPr wrap="square">
            <a:spAutoFit/>
          </a:bodyPr>
          <a:lstStyle/>
          <a:p>
            <a:pPr algn="l"/>
            <a:r>
              <a:rPr sz="1050" b="0" i="0">
                <a:solidFill>
                  <a:srgbClr val="1C1C2E"/>
                </a:solidFill>
                <a:latin typeface="Calibri"/>
              </a:rPr>
              <a:t>• Officer training programme</a:t>
            </a:r>
          </a:p>
        </p:txBody>
      </p:sp>
      <p:sp>
        <p:nvSpPr>
          <p:cNvPr id="37" name="TextBox 36"/>
          <p:cNvSpPr txBox="1"/>
          <p:nvPr/>
        </p:nvSpPr>
        <p:spPr>
          <a:xfrm>
            <a:off x="4462272" y="4727448"/>
            <a:ext cx="3566160" cy="475488"/>
          </a:xfrm>
          <a:prstGeom prst="rect">
            <a:avLst/>
          </a:prstGeom>
          <a:noFill/>
        </p:spPr>
        <p:txBody>
          <a:bodyPr wrap="square">
            <a:spAutoFit/>
          </a:bodyPr>
          <a:lstStyle/>
          <a:p>
            <a:pPr algn="l"/>
            <a:r>
              <a:rPr sz="1050" b="0" i="0">
                <a:solidFill>
                  <a:srgbClr val="1C1C2E"/>
                </a:solidFill>
                <a:latin typeface="Calibri"/>
              </a:rPr>
              <a:t>• Performance benchmarking</a:t>
            </a:r>
          </a:p>
        </p:txBody>
      </p:sp>
      <p:sp>
        <p:nvSpPr>
          <p:cNvPr id="38" name="Rectangle 37"/>
          <p:cNvSpPr/>
          <p:nvPr/>
        </p:nvSpPr>
        <p:spPr>
          <a:xfrm>
            <a:off x="8284464" y="1005840"/>
            <a:ext cx="38404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84464" y="1005840"/>
            <a:ext cx="3840480" cy="8229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84464" y="1005840"/>
            <a:ext cx="73152" cy="53492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21624" y="1051560"/>
            <a:ext cx="3657600" cy="384048"/>
          </a:xfrm>
          <a:prstGeom prst="rect">
            <a:avLst/>
          </a:prstGeom>
          <a:noFill/>
        </p:spPr>
        <p:txBody>
          <a:bodyPr wrap="square">
            <a:spAutoFit/>
          </a:bodyPr>
          <a:lstStyle/>
          <a:p>
            <a:pPr algn="l"/>
            <a:r>
              <a:rPr sz="1300" b="1" i="0">
                <a:solidFill>
                  <a:srgbClr val="FFFFFF"/>
                </a:solidFill>
                <a:latin typeface="Calibri"/>
              </a:rPr>
              <a:t>Phase 3: National Rollout</a:t>
            </a:r>
          </a:p>
        </p:txBody>
      </p:sp>
      <p:sp>
        <p:nvSpPr>
          <p:cNvPr id="42" name="TextBox 41"/>
          <p:cNvSpPr txBox="1"/>
          <p:nvPr/>
        </p:nvSpPr>
        <p:spPr>
          <a:xfrm>
            <a:off x="8421624" y="1435608"/>
            <a:ext cx="3657600" cy="347472"/>
          </a:xfrm>
          <a:prstGeom prst="rect">
            <a:avLst/>
          </a:prstGeom>
          <a:noFill/>
        </p:spPr>
        <p:txBody>
          <a:bodyPr wrap="square">
            <a:spAutoFit/>
          </a:bodyPr>
          <a:lstStyle/>
          <a:p>
            <a:pPr algn="l"/>
            <a:r>
              <a:rPr sz="1000" b="0" i="1">
                <a:solidFill>
                  <a:srgbClr val="FFFFFF"/>
                </a:solidFill>
                <a:latin typeface="Calibri"/>
              </a:rPr>
              <a:t>Months 10–24</a:t>
            </a:r>
          </a:p>
        </p:txBody>
      </p:sp>
      <p:sp>
        <p:nvSpPr>
          <p:cNvPr id="43" name="Rectangle 42"/>
          <p:cNvSpPr/>
          <p:nvPr/>
        </p:nvSpPr>
        <p:spPr>
          <a:xfrm>
            <a:off x="8741664" y="2011680"/>
            <a:ext cx="2926080" cy="36576"/>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741664" y="2148840"/>
            <a:ext cx="2926080" cy="347472"/>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41664" y="2176272"/>
            <a:ext cx="2926080" cy="274320"/>
          </a:xfrm>
          <a:prstGeom prst="rect">
            <a:avLst/>
          </a:prstGeom>
          <a:noFill/>
        </p:spPr>
        <p:txBody>
          <a:bodyPr wrap="square">
            <a:spAutoFit/>
          </a:bodyPr>
          <a:lstStyle/>
          <a:p>
            <a:pPr algn="ctr"/>
            <a:r>
              <a:rPr sz="1000" b="1" i="0">
                <a:solidFill>
                  <a:srgbClr val="FFFFFF"/>
                </a:solidFill>
                <a:latin typeface="Calibri"/>
              </a:rPr>
              <a:t>FUTURE</a:t>
            </a:r>
          </a:p>
        </p:txBody>
      </p:sp>
      <p:sp>
        <p:nvSpPr>
          <p:cNvPr id="46" name="TextBox 45"/>
          <p:cNvSpPr txBox="1"/>
          <p:nvPr/>
        </p:nvSpPr>
        <p:spPr>
          <a:xfrm>
            <a:off x="8467344" y="2606040"/>
            <a:ext cx="3566160" cy="475488"/>
          </a:xfrm>
          <a:prstGeom prst="rect">
            <a:avLst/>
          </a:prstGeom>
          <a:noFill/>
        </p:spPr>
        <p:txBody>
          <a:bodyPr wrap="square">
            <a:spAutoFit/>
          </a:bodyPr>
          <a:lstStyle/>
          <a:p>
            <a:pPr algn="l"/>
            <a:r>
              <a:rPr sz="1050" b="0" i="0">
                <a:solidFill>
                  <a:srgbClr val="1C1C2E"/>
                </a:solidFill>
                <a:latin typeface="Calibri"/>
              </a:rPr>
              <a:t>• All 12 operational ICPs</a:t>
            </a:r>
          </a:p>
        </p:txBody>
      </p:sp>
      <p:sp>
        <p:nvSpPr>
          <p:cNvPr id="47" name="TextBox 46"/>
          <p:cNvSpPr txBox="1"/>
          <p:nvPr/>
        </p:nvSpPr>
        <p:spPr>
          <a:xfrm>
            <a:off x="8467344" y="3136392"/>
            <a:ext cx="3566160" cy="475488"/>
          </a:xfrm>
          <a:prstGeom prst="rect">
            <a:avLst/>
          </a:prstGeom>
          <a:noFill/>
        </p:spPr>
        <p:txBody>
          <a:bodyPr wrap="square">
            <a:spAutoFit/>
          </a:bodyPr>
          <a:lstStyle/>
          <a:p>
            <a:pPr algn="l"/>
            <a:r>
              <a:rPr sz="1050" b="0" i="0">
                <a:solidFill>
                  <a:srgbClr val="1C1C2E"/>
                </a:solidFill>
                <a:latin typeface="Calibri"/>
              </a:rPr>
              <a:t>• 1 ICP per month rollout cadence</a:t>
            </a:r>
          </a:p>
        </p:txBody>
      </p:sp>
      <p:sp>
        <p:nvSpPr>
          <p:cNvPr id="48" name="TextBox 47"/>
          <p:cNvSpPr txBox="1"/>
          <p:nvPr/>
        </p:nvSpPr>
        <p:spPr>
          <a:xfrm>
            <a:off x="8467344" y="3666744"/>
            <a:ext cx="3566160" cy="475488"/>
          </a:xfrm>
          <a:prstGeom prst="rect">
            <a:avLst/>
          </a:prstGeom>
          <a:noFill/>
        </p:spPr>
        <p:txBody>
          <a:bodyPr wrap="square">
            <a:spAutoFit/>
          </a:bodyPr>
          <a:lstStyle/>
          <a:p>
            <a:pPr algn="l"/>
            <a:r>
              <a:rPr sz="1050" b="0" i="0">
                <a:solidFill>
                  <a:srgbClr val="1C1C2E"/>
                </a:solidFill>
                <a:latin typeface="Calibri"/>
              </a:rPr>
              <a:t>• Central command at LPAI HQ</a:t>
            </a:r>
          </a:p>
        </p:txBody>
      </p:sp>
      <p:sp>
        <p:nvSpPr>
          <p:cNvPr id="49" name="TextBox 48"/>
          <p:cNvSpPr txBox="1"/>
          <p:nvPr/>
        </p:nvSpPr>
        <p:spPr>
          <a:xfrm>
            <a:off x="8467344" y="4197096"/>
            <a:ext cx="3566160" cy="475488"/>
          </a:xfrm>
          <a:prstGeom prst="rect">
            <a:avLst/>
          </a:prstGeom>
          <a:noFill/>
        </p:spPr>
        <p:txBody>
          <a:bodyPr wrap="square">
            <a:spAutoFit/>
          </a:bodyPr>
          <a:lstStyle/>
          <a:p>
            <a:pPr algn="l"/>
            <a:r>
              <a:rPr sz="1050" b="0" i="0">
                <a:solidFill>
                  <a:srgbClr val="1C1C2E"/>
                </a:solidFill>
                <a:latin typeface="Calibri"/>
              </a:rPr>
              <a:t>• AI model training on real data</a:t>
            </a:r>
          </a:p>
        </p:txBody>
      </p:sp>
      <p:sp>
        <p:nvSpPr>
          <p:cNvPr id="50" name="TextBox 49"/>
          <p:cNvSpPr txBox="1"/>
          <p:nvPr/>
        </p:nvSpPr>
        <p:spPr>
          <a:xfrm>
            <a:off x="8467344" y="4727448"/>
            <a:ext cx="3566160" cy="475488"/>
          </a:xfrm>
          <a:prstGeom prst="rect">
            <a:avLst/>
          </a:prstGeom>
          <a:noFill/>
        </p:spPr>
        <p:txBody>
          <a:bodyPr wrap="square">
            <a:spAutoFit/>
          </a:bodyPr>
          <a:lstStyle/>
          <a:p>
            <a:pPr algn="l"/>
            <a:r>
              <a:rPr sz="1050" b="0" i="0">
                <a:solidFill>
                  <a:srgbClr val="1C1C2E"/>
                </a:solidFill>
                <a:latin typeface="Calibri"/>
              </a:rPr>
              <a:t>• NATGRID + CCTNS integration</a:t>
            </a:r>
          </a:p>
        </p:txBody>
      </p:sp>
      <p:sp>
        <p:nvSpPr>
          <p:cNvPr id="51" name="TextBox 50"/>
          <p:cNvSpPr txBox="1"/>
          <p:nvPr/>
        </p:nvSpPr>
        <p:spPr>
          <a:xfrm>
            <a:off x="4133087" y="3383280"/>
            <a:ext cx="329184" cy="457200"/>
          </a:xfrm>
          <a:prstGeom prst="rect">
            <a:avLst/>
          </a:prstGeom>
          <a:noFill/>
        </p:spPr>
        <p:txBody>
          <a:bodyPr wrap="square">
            <a:spAutoFit/>
          </a:bodyPr>
          <a:lstStyle/>
          <a:p>
            <a:pPr algn="ctr"/>
            <a:r>
              <a:rPr sz="2000" b="0" i="0">
                <a:solidFill>
                  <a:srgbClr val="1A3A6A"/>
                </a:solidFill>
                <a:latin typeface="Calibri"/>
              </a:rPr>
              <a:t>▶</a:t>
            </a:r>
          </a:p>
        </p:txBody>
      </p:sp>
      <p:sp>
        <p:nvSpPr>
          <p:cNvPr id="52" name="TextBox 51"/>
          <p:cNvSpPr txBox="1"/>
          <p:nvPr/>
        </p:nvSpPr>
        <p:spPr>
          <a:xfrm>
            <a:off x="8138160" y="3383280"/>
            <a:ext cx="329184" cy="457200"/>
          </a:xfrm>
          <a:prstGeom prst="rect">
            <a:avLst/>
          </a:prstGeom>
          <a:noFill/>
        </p:spPr>
        <p:txBody>
          <a:bodyPr wrap="square">
            <a:spAutoFit/>
          </a:bodyPr>
          <a:lstStyle/>
          <a:p>
            <a:pPr algn="ctr"/>
            <a:r>
              <a:rPr sz="2000" b="0" i="0">
                <a:solidFill>
                  <a:srgbClr val="1A3A6A"/>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LPAI Nexus — Aligned with National Priorities</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17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LPAI Nexus — Aligned with National Priorities</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38404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3840480" cy="749808"/>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3657600" cy="384048"/>
          </a:xfrm>
          <a:prstGeom prst="rect">
            <a:avLst/>
          </a:prstGeom>
          <a:noFill/>
        </p:spPr>
        <p:txBody>
          <a:bodyPr wrap="square">
            <a:spAutoFit/>
          </a:bodyPr>
          <a:lstStyle/>
          <a:p>
            <a:pPr algn="l"/>
            <a:r>
              <a:rPr sz="1200" b="1" i="0">
                <a:solidFill>
                  <a:srgbClr val="FFFFFF"/>
                </a:solidFill>
                <a:latin typeface="Calibri"/>
              </a:rPr>
              <a:t>🇮🇳  Viksit Bharat 2047</a:t>
            </a:r>
          </a:p>
        </p:txBody>
      </p:sp>
      <p:sp>
        <p:nvSpPr>
          <p:cNvPr id="15" name="TextBox 14"/>
          <p:cNvSpPr txBox="1"/>
          <p:nvPr/>
        </p:nvSpPr>
        <p:spPr>
          <a:xfrm>
            <a:off x="411480" y="1874519"/>
            <a:ext cx="3566160" cy="1828800"/>
          </a:xfrm>
          <a:prstGeom prst="rect">
            <a:avLst/>
          </a:prstGeom>
          <a:noFill/>
        </p:spPr>
        <p:txBody>
          <a:bodyPr wrap="square">
            <a:spAutoFit/>
          </a:bodyPr>
          <a:lstStyle/>
          <a:p>
            <a:pPr algn="l"/>
            <a:r>
              <a:rPr sz="1100" b="0" i="0">
                <a:solidFill>
                  <a:srgbClr val="1C1C2E"/>
                </a:solidFill>
                <a:latin typeface="Calibri"/>
              </a:rPr>
              <a:t>Digital governance as the foundation for a developed India. AI-powered border management directly supports the vision of a modern, efficient state.</a:t>
            </a:r>
          </a:p>
        </p:txBody>
      </p:sp>
      <p:sp>
        <p:nvSpPr>
          <p:cNvPr id="16" name="Rectangle 15"/>
          <p:cNvSpPr/>
          <p:nvPr/>
        </p:nvSpPr>
        <p:spPr>
          <a:xfrm>
            <a:off x="411480" y="3840480"/>
            <a:ext cx="3566160" cy="36576"/>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931920"/>
            <a:ext cx="3657600" cy="146304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005072"/>
            <a:ext cx="3474720" cy="1280160"/>
          </a:xfrm>
          <a:prstGeom prst="rect">
            <a:avLst/>
          </a:prstGeom>
          <a:noFill/>
        </p:spPr>
        <p:txBody>
          <a:bodyPr wrap="square">
            <a:spAutoFit/>
          </a:bodyPr>
          <a:lstStyle/>
          <a:p>
            <a:pPr algn="l"/>
            <a:r>
              <a:rPr sz="1000" b="0" i="0">
                <a:solidFill>
                  <a:srgbClr val="FFFFFF"/>
                </a:solidFill>
                <a:latin typeface="Calibri"/>
              </a:rPr>
              <a:t>LPAI Nexus: Real-time AI governance at every land border crossing by 2030.</a:t>
            </a:r>
          </a:p>
        </p:txBody>
      </p:sp>
      <p:sp>
        <p:nvSpPr>
          <p:cNvPr id="19" name="Rectangle 18"/>
          <p:cNvSpPr/>
          <p:nvPr/>
        </p:nvSpPr>
        <p:spPr>
          <a:xfrm>
            <a:off x="4279392" y="1005840"/>
            <a:ext cx="38404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79392" y="1005840"/>
            <a:ext cx="3840480" cy="749808"/>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0832" y="1051560"/>
            <a:ext cx="3657600" cy="384048"/>
          </a:xfrm>
          <a:prstGeom prst="rect">
            <a:avLst/>
          </a:prstGeom>
          <a:noFill/>
        </p:spPr>
        <p:txBody>
          <a:bodyPr wrap="square">
            <a:spAutoFit/>
          </a:bodyPr>
          <a:lstStyle/>
          <a:p>
            <a:pPr algn="l"/>
            <a:r>
              <a:rPr sz="1200" b="1" i="0">
                <a:solidFill>
                  <a:srgbClr val="FFFFFF"/>
                </a:solidFill>
                <a:latin typeface="Calibri"/>
              </a:rPr>
              <a:t>📋  NTFAP 2020-23 Action #44</a:t>
            </a:r>
          </a:p>
        </p:txBody>
      </p:sp>
      <p:sp>
        <p:nvSpPr>
          <p:cNvPr id="22" name="TextBox 21"/>
          <p:cNvSpPr txBox="1"/>
          <p:nvPr/>
        </p:nvSpPr>
        <p:spPr>
          <a:xfrm>
            <a:off x="4416552" y="1874519"/>
            <a:ext cx="3566160" cy="1828800"/>
          </a:xfrm>
          <a:prstGeom prst="rect">
            <a:avLst/>
          </a:prstGeom>
          <a:noFill/>
        </p:spPr>
        <p:txBody>
          <a:bodyPr wrap="square">
            <a:spAutoFit/>
          </a:bodyPr>
          <a:lstStyle/>
          <a:p>
            <a:pPr algn="l"/>
            <a:r>
              <a:rPr sz="1100" b="0" i="0">
                <a:solidFill>
                  <a:srgbClr val="1C1C2E"/>
                </a:solidFill>
                <a:latin typeface="Calibri"/>
              </a:rPr>
              <a:t>The National Trade Facilitation Action Plan mandates a Land Port Community System for paperless, coordinated border clearance.</a:t>
            </a:r>
          </a:p>
        </p:txBody>
      </p:sp>
      <p:sp>
        <p:nvSpPr>
          <p:cNvPr id="23" name="Rectangle 22"/>
          <p:cNvSpPr/>
          <p:nvPr/>
        </p:nvSpPr>
        <p:spPr>
          <a:xfrm>
            <a:off x="4416552" y="3840480"/>
            <a:ext cx="3566160" cy="36576"/>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70832" y="3931920"/>
            <a:ext cx="3657600" cy="146304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4005072"/>
            <a:ext cx="3474720" cy="1280160"/>
          </a:xfrm>
          <a:prstGeom prst="rect">
            <a:avLst/>
          </a:prstGeom>
          <a:noFill/>
        </p:spPr>
        <p:txBody>
          <a:bodyPr wrap="square">
            <a:spAutoFit/>
          </a:bodyPr>
          <a:lstStyle/>
          <a:p>
            <a:pPr algn="l"/>
            <a:r>
              <a:rPr sz="1000" b="0" i="0">
                <a:solidFill>
                  <a:srgbClr val="FFFFFF"/>
                </a:solidFill>
                <a:latin typeface="Calibri"/>
              </a:rPr>
              <a:t>LPAI Nexus: Directly implements this mandate with a unified AI intelligence layer.</a:t>
            </a:r>
          </a:p>
        </p:txBody>
      </p:sp>
      <p:sp>
        <p:nvSpPr>
          <p:cNvPr id="26" name="Rectangle 25"/>
          <p:cNvSpPr/>
          <p:nvPr/>
        </p:nvSpPr>
        <p:spPr>
          <a:xfrm>
            <a:off x="8284464" y="1005840"/>
            <a:ext cx="3840480" cy="534924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84464" y="1005840"/>
            <a:ext cx="3840480" cy="749808"/>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75904" y="1051560"/>
            <a:ext cx="3657600" cy="384048"/>
          </a:xfrm>
          <a:prstGeom prst="rect">
            <a:avLst/>
          </a:prstGeom>
          <a:noFill/>
        </p:spPr>
        <p:txBody>
          <a:bodyPr wrap="square">
            <a:spAutoFit/>
          </a:bodyPr>
          <a:lstStyle/>
          <a:p>
            <a:pPr algn="l"/>
            <a:r>
              <a:rPr sz="1200" b="1" i="0">
                <a:solidFill>
                  <a:srgbClr val="FFFFFF"/>
                </a:solidFill>
                <a:latin typeface="Calibri"/>
              </a:rPr>
              <a:t>💻  Digital India Mission</a:t>
            </a:r>
          </a:p>
        </p:txBody>
      </p:sp>
      <p:sp>
        <p:nvSpPr>
          <p:cNvPr id="29" name="TextBox 28"/>
          <p:cNvSpPr txBox="1"/>
          <p:nvPr/>
        </p:nvSpPr>
        <p:spPr>
          <a:xfrm>
            <a:off x="8421624" y="1874519"/>
            <a:ext cx="3566160" cy="1828800"/>
          </a:xfrm>
          <a:prstGeom prst="rect">
            <a:avLst/>
          </a:prstGeom>
          <a:noFill/>
        </p:spPr>
        <p:txBody>
          <a:bodyPr wrap="square">
            <a:spAutoFit/>
          </a:bodyPr>
          <a:lstStyle/>
          <a:p>
            <a:pPr algn="l"/>
            <a:r>
              <a:rPr sz="1100" b="0" i="0">
                <a:solidFill>
                  <a:srgbClr val="1C1C2E"/>
                </a:solidFill>
                <a:latin typeface="Calibri"/>
              </a:rPr>
              <a:t>Paperless, faceless, contactless government services across all citizen touchpoints — including India's 12 ICPs.</a:t>
            </a:r>
          </a:p>
        </p:txBody>
      </p:sp>
      <p:sp>
        <p:nvSpPr>
          <p:cNvPr id="30" name="Rectangle 29"/>
          <p:cNvSpPr/>
          <p:nvPr/>
        </p:nvSpPr>
        <p:spPr>
          <a:xfrm>
            <a:off x="8421624" y="3840480"/>
            <a:ext cx="3566160" cy="36576"/>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75904" y="3931920"/>
            <a:ext cx="3657600" cy="14630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67344" y="4005072"/>
            <a:ext cx="3474720" cy="1280160"/>
          </a:xfrm>
          <a:prstGeom prst="rect">
            <a:avLst/>
          </a:prstGeom>
          <a:noFill/>
        </p:spPr>
        <p:txBody>
          <a:bodyPr wrap="square">
            <a:spAutoFit/>
          </a:bodyPr>
          <a:lstStyle/>
          <a:p>
            <a:pPr algn="l"/>
            <a:r>
              <a:rPr sz="1000" b="0" i="0">
                <a:solidFill>
                  <a:srgbClr val="FFFFFF"/>
                </a:solidFill>
                <a:latin typeface="Calibri"/>
              </a:rPr>
              <a:t>LPAI Nexus: Automated clearance, digital audit trail, contactless AI-assisted processing.</a:t>
            </a:r>
          </a:p>
        </p:txBody>
      </p:sp>
      <p:sp>
        <p:nvSpPr>
          <p:cNvPr id="33" name="Rectangle 32"/>
          <p:cNvSpPr/>
          <p:nvPr/>
        </p:nvSpPr>
        <p:spPr>
          <a:xfrm>
            <a:off x="274320" y="5596128"/>
            <a:ext cx="11795760" cy="749808"/>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669280"/>
            <a:ext cx="11612880" cy="566928"/>
          </a:xfrm>
          <a:prstGeom prst="rect">
            <a:avLst/>
          </a:prstGeom>
          <a:noFill/>
        </p:spPr>
        <p:txBody>
          <a:bodyPr wrap="square">
            <a:spAutoFit/>
          </a:bodyPr>
          <a:lstStyle/>
          <a:p>
            <a:pPr algn="ctr"/>
            <a:r>
              <a:rPr sz="1100" b="0" i="0">
                <a:solidFill>
                  <a:srgbClr val="D4881A"/>
                </a:solidFill>
                <a:latin typeface="Calibri"/>
              </a:rPr>
              <a:t>LPAI Annual Report 2023-24 explicitly calls for AI/ML integration in LPMS and AI-based security at all ICPs. LPAI Nexus directly implements this stated vision.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Where India Stands — Global Smart Border Benchmarks</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18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Where India Stands — Global Smart Border Benchmarks</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274320" y="1005840"/>
          <a:ext cx="11704320" cy="4937760"/>
        </p:xfrm>
        <a:graphic>
          <a:graphicData uri="http://schemas.openxmlformats.org/drawingml/2006/table">
            <a:tbl>
              <a:tblPr firstRow="1" bandRow="1">
                <a:tableStyleId>{5C22544A-7EE6-4342-B048-85BDC9FD1C3A}</a:tableStyleId>
              </a:tblPr>
              <a:tblGrid>
                <a:gridCol w="2560320"/>
                <a:gridCol w="2286000"/>
                <a:gridCol w="3474720"/>
                <a:gridCol w="3383280"/>
              </a:tblGrid>
              <a:tr h="987552">
                <a:tc>
                  <a:txBody>
                    <a:bodyPr/>
                    <a:lstStyle/>
                    <a:p>
                      <a:pPr algn="ctr"/>
                      <a:r>
                        <a:rPr sz="1100" b="1" i="0">
                          <a:solidFill>
                            <a:srgbClr val="FFFFFF"/>
                          </a:solidFill>
                          <a:latin typeface="Calibri"/>
                        </a:rPr>
                        <a:t>Country / Port</a:t>
                      </a:r>
                    </a:p>
                  </a:txBody>
                  <a:tcPr>
                    <a:solidFill>
                      <a:srgbClr val="1A3A6A"/>
                    </a:solidFill>
                  </a:tcPr>
                </a:tc>
                <a:tc>
                  <a:txBody>
                    <a:bodyPr/>
                    <a:lstStyle/>
                    <a:p>
                      <a:pPr algn="ctr"/>
                      <a:r>
                        <a:rPr sz="1100" b="1" i="0">
                          <a:solidFill>
                            <a:srgbClr val="FFFFFF"/>
                          </a:solidFill>
                          <a:latin typeface="Calibri"/>
                        </a:rPr>
                        <a:t>System</a:t>
                      </a:r>
                    </a:p>
                  </a:txBody>
                  <a:tcPr>
                    <a:solidFill>
                      <a:srgbClr val="1A3A6A"/>
                    </a:solidFill>
                  </a:tcPr>
                </a:tc>
                <a:tc>
                  <a:txBody>
                    <a:bodyPr/>
                    <a:lstStyle/>
                    <a:p>
                      <a:pPr algn="ctr"/>
                      <a:r>
                        <a:rPr sz="1100" b="1" i="0">
                          <a:solidFill>
                            <a:srgbClr val="FFFFFF"/>
                          </a:solidFill>
                          <a:latin typeface="Calibri"/>
                        </a:rPr>
                        <a:t>Key Achievement</a:t>
                      </a:r>
                    </a:p>
                  </a:txBody>
                  <a:tcPr>
                    <a:solidFill>
                      <a:srgbClr val="1A3A6A"/>
                    </a:solidFill>
                  </a:tcPr>
                </a:tc>
                <a:tc>
                  <a:txBody>
                    <a:bodyPr/>
                    <a:lstStyle/>
                    <a:p>
                      <a:pPr algn="ctr"/>
                      <a:r>
                        <a:rPr sz="1100" b="1" i="0">
                          <a:solidFill>
                            <a:srgbClr val="FFFFFF"/>
                          </a:solidFill>
                          <a:latin typeface="Calibri"/>
                        </a:rPr>
                        <a:t>India Comparison</a:t>
                      </a:r>
                    </a:p>
                  </a:txBody>
                  <a:tcPr>
                    <a:solidFill>
                      <a:srgbClr val="1A3A6A"/>
                    </a:solidFill>
                  </a:tcPr>
                </a:tc>
              </a:tr>
              <a:tr h="987552">
                <a:tc>
                  <a:txBody>
                    <a:bodyPr/>
                    <a:lstStyle/>
                    <a:p>
                      <a:pPr algn="l"/>
                      <a:r>
                        <a:rPr sz="1000" b="0" i="0">
                          <a:solidFill>
                            <a:srgbClr val="1C1C2E"/>
                          </a:solidFill>
                          <a:latin typeface="Calibri"/>
                        </a:rPr>
                        <a:t>Singapore Ports</a:t>
                      </a:r>
                    </a:p>
                  </a:txBody>
                  <a:tcPr>
                    <a:solidFill>
                      <a:srgbClr val="E8F0FA"/>
                    </a:solidFill>
                  </a:tcPr>
                </a:tc>
                <a:tc>
                  <a:txBody>
                    <a:bodyPr/>
                    <a:lstStyle/>
                    <a:p>
                      <a:pPr algn="l"/>
                      <a:r>
                        <a:rPr sz="1000" b="0" i="0">
                          <a:solidFill>
                            <a:srgbClr val="1C1C2E"/>
                          </a:solidFill>
                          <a:latin typeface="Calibri"/>
                        </a:rPr>
                        <a:t>Portnet PCS</a:t>
                      </a:r>
                    </a:p>
                  </a:txBody>
                  <a:tcPr>
                    <a:solidFill>
                      <a:srgbClr val="E8F0FA"/>
                    </a:solidFill>
                  </a:tcPr>
                </a:tc>
                <a:tc>
                  <a:txBody>
                    <a:bodyPr/>
                    <a:lstStyle/>
                    <a:p>
                      <a:pPr algn="l"/>
                      <a:r>
                        <a:rPr sz="1000" b="0" i="0">
                          <a:solidFill>
                            <a:srgbClr val="1C1C2E"/>
                          </a:solidFill>
                          <a:latin typeface="Calibri"/>
                        </a:rPr>
                        <a:t>Full port community system</a:t>
                      </a:r>
                    </a:p>
                    <a:p>
                      <a:r>
                        <a:t>Saves $80M+ over 3 years</a:t>
                      </a:r>
                    </a:p>
                  </a:txBody>
                  <a:tcPr>
                    <a:solidFill>
                      <a:srgbClr val="E8F0FA"/>
                    </a:solidFill>
                  </a:tcPr>
                </a:tc>
                <a:tc>
                  <a:txBody>
                    <a:bodyPr/>
                    <a:lstStyle/>
                    <a:p>
                      <a:pPr algn="l"/>
                      <a:r>
                        <a:rPr sz="1000" b="0" i="0">
                          <a:solidFill>
                            <a:srgbClr val="1A6A3A"/>
                          </a:solidFill>
                          <a:latin typeface="Calibri"/>
                        </a:rPr>
                        <a:t>Planned via LPMS — LPAI Nexus adds AI layer</a:t>
                      </a:r>
                    </a:p>
                  </a:txBody>
                  <a:tcPr>
                    <a:solidFill>
                      <a:srgbClr val="E8F0FA"/>
                    </a:solidFill>
                  </a:tcPr>
                </a:tc>
              </a:tr>
              <a:tr h="987552">
                <a:tc>
                  <a:txBody>
                    <a:bodyPr/>
                    <a:lstStyle/>
                    <a:p>
                      <a:pPr algn="l"/>
                      <a:r>
                        <a:rPr sz="1000" b="0" i="0">
                          <a:solidFill>
                            <a:srgbClr val="1C1C2E"/>
                          </a:solidFill>
                          <a:latin typeface="Calibri"/>
                        </a:rPr>
                        <a:t>US–Mexico Border</a:t>
                      </a:r>
                    </a:p>
                  </a:txBody>
                  <a:tcPr>
                    <a:solidFill>
                      <a:srgbClr val="FFFFFF"/>
                    </a:solidFill>
                  </a:tcPr>
                </a:tc>
                <a:tc>
                  <a:txBody>
                    <a:bodyPr/>
                    <a:lstStyle/>
                    <a:p>
                      <a:pPr algn="l"/>
                      <a:r>
                        <a:rPr sz="1000" b="0" i="0">
                          <a:solidFill>
                            <a:srgbClr val="1C1C2E"/>
                          </a:solidFill>
                          <a:latin typeface="Calibri"/>
                        </a:rPr>
                        <a:t>CBP One + FIRST</a:t>
                      </a:r>
                    </a:p>
                  </a:txBody>
                  <a:tcPr>
                    <a:solidFill>
                      <a:srgbClr val="FFFFFF"/>
                    </a:solidFill>
                  </a:tcPr>
                </a:tc>
                <a:tc>
                  <a:txBody>
                    <a:bodyPr/>
                    <a:lstStyle/>
                    <a:p>
                      <a:pPr algn="l"/>
                      <a:r>
                        <a:rPr sz="1000" b="0" i="0">
                          <a:solidFill>
                            <a:srgbClr val="1C1C2E"/>
                          </a:solidFill>
                          <a:latin typeface="Calibri"/>
                        </a:rPr>
                        <a:t>Real-time cargo tracking</a:t>
                      </a:r>
                    </a:p>
                    <a:p>
                      <a:r>
                        <a:t>Joint inspection modules</a:t>
                      </a:r>
                    </a:p>
                  </a:txBody>
                  <a:tcPr>
                    <a:solidFill>
                      <a:srgbClr val="FFFFFF"/>
                    </a:solidFill>
                  </a:tcPr>
                </a:tc>
                <a:tc>
                  <a:txBody>
                    <a:bodyPr/>
                    <a:lstStyle/>
                    <a:p>
                      <a:pPr algn="l"/>
                      <a:r>
                        <a:rPr sz="1000" b="0" i="0">
                          <a:solidFill>
                            <a:srgbClr val="1A6A3A"/>
                          </a:solidFill>
                          <a:latin typeface="Calibri"/>
                        </a:rPr>
                        <a:t>LPAI Nexus proposes equivalent for land borders</a:t>
                      </a:r>
                    </a:p>
                  </a:txBody>
                  <a:tcPr>
                    <a:solidFill>
                      <a:srgbClr val="FFFFFF"/>
                    </a:solidFill>
                  </a:tcPr>
                </a:tc>
              </a:tr>
              <a:tr h="987552">
                <a:tc>
                  <a:txBody>
                    <a:bodyPr/>
                    <a:lstStyle/>
                    <a:p>
                      <a:pPr algn="l"/>
                      <a:r>
                        <a:rPr sz="1000" b="0" i="0">
                          <a:solidFill>
                            <a:srgbClr val="1C1C2E"/>
                          </a:solidFill>
                          <a:latin typeface="Calibri"/>
                        </a:rPr>
                        <a:t>European Union</a:t>
                      </a:r>
                    </a:p>
                  </a:txBody>
                  <a:tcPr>
                    <a:solidFill>
                      <a:srgbClr val="E8F0FA"/>
                    </a:solidFill>
                  </a:tcPr>
                </a:tc>
                <a:tc>
                  <a:txBody>
                    <a:bodyPr/>
                    <a:lstStyle/>
                    <a:p>
                      <a:pPr algn="l"/>
                      <a:r>
                        <a:rPr sz="1000" b="0" i="0">
                          <a:solidFill>
                            <a:srgbClr val="1C1C2E"/>
                          </a:solidFill>
                          <a:latin typeface="Calibri"/>
                        </a:rPr>
                        <a:t>EES + ETIAS</a:t>
                      </a:r>
                    </a:p>
                  </a:txBody>
                  <a:tcPr>
                    <a:solidFill>
                      <a:srgbClr val="E8F0FA"/>
                    </a:solidFill>
                  </a:tcPr>
                </a:tc>
                <a:tc>
                  <a:txBody>
                    <a:bodyPr/>
                    <a:lstStyle/>
                    <a:p>
                      <a:pPr algn="l"/>
                      <a:r>
                        <a:rPr sz="1000" b="0" i="0">
                          <a:solidFill>
                            <a:srgbClr val="1C1C2E"/>
                          </a:solidFill>
                          <a:latin typeface="Calibri"/>
                        </a:rPr>
                        <a:t>Automated entry/exit system</a:t>
                      </a:r>
                    </a:p>
                    <a:p>
                      <a:r>
                        <a:t>Biometric at all crossings</a:t>
                      </a:r>
                    </a:p>
                  </a:txBody>
                  <a:tcPr>
                    <a:solidFill>
                      <a:srgbClr val="E8F0FA"/>
                    </a:solidFill>
                  </a:tcPr>
                </a:tc>
                <a:tc>
                  <a:txBody>
                    <a:bodyPr/>
                    <a:lstStyle/>
                    <a:p>
                      <a:pPr algn="l"/>
                      <a:r>
                        <a:rPr sz="1000" b="0" i="0">
                          <a:solidFill>
                            <a:srgbClr val="1A6A3A"/>
                          </a:solidFill>
                          <a:latin typeface="Calibri"/>
                        </a:rPr>
                        <a:t>LPAI Nexus addresses India's land border gap</a:t>
                      </a:r>
                    </a:p>
                  </a:txBody>
                  <a:tcPr>
                    <a:solidFill>
                      <a:srgbClr val="E8F0FA"/>
                    </a:solidFill>
                  </a:tcPr>
                </a:tc>
              </a:tr>
              <a:tr h="987552">
                <a:tc>
                  <a:txBody>
                    <a:bodyPr/>
                    <a:lstStyle/>
                    <a:p>
                      <a:pPr algn="l"/>
                      <a:r>
                        <a:rPr sz="1000" b="0" i="0">
                          <a:solidFill>
                            <a:srgbClr val="1C1C2E"/>
                          </a:solidFill>
                          <a:latin typeface="Calibri"/>
                        </a:rPr>
                        <a:t>Bangladesh (BSSB)</a:t>
                      </a:r>
                    </a:p>
                  </a:txBody>
                  <a:tcPr>
                    <a:solidFill>
                      <a:srgbClr val="FFFFFF"/>
                    </a:solidFill>
                  </a:tcPr>
                </a:tc>
                <a:tc>
                  <a:txBody>
                    <a:bodyPr/>
                    <a:lstStyle/>
                    <a:p>
                      <a:pPr algn="l"/>
                      <a:r>
                        <a:rPr sz="1000" b="0" i="0">
                          <a:solidFill>
                            <a:srgbClr val="1C1C2E"/>
                          </a:solidFill>
                          <a:latin typeface="Calibri"/>
                        </a:rPr>
                        <a:t>Digital Clearance</a:t>
                      </a:r>
                    </a:p>
                  </a:txBody>
                  <a:tcPr>
                    <a:solidFill>
                      <a:srgbClr val="FFFFFF"/>
                    </a:solidFill>
                  </a:tcPr>
                </a:tc>
                <a:tc>
                  <a:txBody>
                    <a:bodyPr/>
                    <a:lstStyle/>
                    <a:p>
                      <a:pPr algn="l"/>
                      <a:r>
                        <a:rPr sz="1000" b="0" i="0">
                          <a:solidFill>
                            <a:srgbClr val="1C1C2E"/>
                          </a:solidFill>
                          <a:latin typeface="Calibri"/>
                        </a:rPr>
                        <a:t>Slot booking + digital forms</a:t>
                      </a:r>
                    </a:p>
                    <a:p>
                      <a:r>
                        <a:t>Reduced wait times 60%</a:t>
                      </a:r>
                    </a:p>
                  </a:txBody>
                  <a:tcPr>
                    <a:solidFill>
                      <a:srgbClr val="FFFFFF"/>
                    </a:solidFill>
                  </a:tcPr>
                </a:tc>
                <a:tc>
                  <a:txBody>
                    <a:bodyPr/>
                    <a:lstStyle/>
                    <a:p>
                      <a:pPr algn="l"/>
                      <a:r>
                        <a:rPr sz="1000" b="0" i="0">
                          <a:solidFill>
                            <a:srgbClr val="1A6A3A"/>
                          </a:solidFill>
                          <a:latin typeface="Calibri"/>
                        </a:rPr>
                        <a:t>India ahead via Suvidha Portal + LPAI Nexus</a:t>
                      </a:r>
                    </a:p>
                  </a:txBody>
                  <a:tcPr>
                    <a:solidFill>
                      <a:srgbClr val="FFFFFF"/>
                    </a:solidFill>
                  </a:tcPr>
                </a:tc>
              </a:tr>
            </a:tbl>
          </a:graphicData>
        </a:graphic>
      </p:graphicFrame>
      <p:sp>
        <p:nvSpPr>
          <p:cNvPr id="13" name="Rectangle 12"/>
          <p:cNvSpPr/>
          <p:nvPr/>
        </p:nvSpPr>
        <p:spPr>
          <a:xfrm>
            <a:off x="274320" y="6035040"/>
            <a:ext cx="11795760" cy="45720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80760"/>
            <a:ext cx="11612880" cy="347472"/>
          </a:xfrm>
          <a:prstGeom prst="rect">
            <a:avLst/>
          </a:prstGeom>
          <a:noFill/>
        </p:spPr>
        <p:txBody>
          <a:bodyPr wrap="square">
            <a:spAutoFit/>
          </a:bodyPr>
          <a:lstStyle/>
          <a:p>
            <a:pPr algn="ctr"/>
            <a:r>
              <a:rPr sz="1100" b="1" i="0">
                <a:solidFill>
                  <a:srgbClr val="D4881A"/>
                </a:solidFill>
                <a:latin typeface="Calibri"/>
              </a:rPr>
              <a:t>LPAI Nexus positions India's land border management at international best-practice level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Challenges — And How to Address Them</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19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Challenges — And How to Address Them</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3840480" cy="5349240"/>
          </a:xfrm>
          <a:prstGeom prst="rect">
            <a:avLst/>
          </a:prstGeom>
          <a:solidFill>
            <a:srgbClr val="FFF3C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3840480" cy="7315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115568"/>
            <a:ext cx="3566160" cy="384048"/>
          </a:xfrm>
          <a:prstGeom prst="rect">
            <a:avLst/>
          </a:prstGeom>
          <a:noFill/>
        </p:spPr>
        <p:txBody>
          <a:bodyPr wrap="square">
            <a:spAutoFit/>
          </a:bodyPr>
          <a:lstStyle/>
          <a:p>
            <a:pPr algn="l"/>
            <a:r>
              <a:rPr sz="1100" b="1" i="0">
                <a:solidFill>
                  <a:srgbClr val="856504"/>
                </a:solidFill>
                <a:latin typeface="Calibri"/>
              </a:rPr>
              <a:t>⚠  Connectivity at Remote ICPs</a:t>
            </a:r>
          </a:p>
        </p:txBody>
      </p:sp>
      <p:sp>
        <p:nvSpPr>
          <p:cNvPr id="15" name="TextBox 14"/>
          <p:cNvSpPr txBox="1"/>
          <p:nvPr/>
        </p:nvSpPr>
        <p:spPr>
          <a:xfrm>
            <a:off x="411480" y="1600200"/>
            <a:ext cx="3566160" cy="1920240"/>
          </a:xfrm>
          <a:prstGeom prst="rect">
            <a:avLst/>
          </a:prstGeom>
          <a:noFill/>
        </p:spPr>
        <p:txBody>
          <a:bodyPr wrap="square">
            <a:spAutoFit/>
          </a:bodyPr>
          <a:lstStyle/>
          <a:p>
            <a:pPr algn="l"/>
            <a:r>
              <a:rPr sz="1050" b="0" i="0">
                <a:solidFill>
                  <a:srgbClr val="1C1C2E"/>
                </a:solidFill>
                <a:latin typeface="Calibri"/>
              </a:rPr>
              <a:t>Moreh ICP (Manipur–Myanmar): 8 Mbps average connectivity. Cloud-dependent AI would fail during peak traffic.</a:t>
            </a:r>
          </a:p>
        </p:txBody>
      </p:sp>
      <p:sp>
        <p:nvSpPr>
          <p:cNvPr id="16" name="Rectangle 15"/>
          <p:cNvSpPr/>
          <p:nvPr/>
        </p:nvSpPr>
        <p:spPr>
          <a:xfrm>
            <a:off x="411480" y="3611880"/>
            <a:ext cx="3566160" cy="36576"/>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703320"/>
            <a:ext cx="3657600" cy="237744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703320"/>
            <a:ext cx="54864" cy="23774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749039"/>
            <a:ext cx="3474720" cy="320040"/>
          </a:xfrm>
          <a:prstGeom prst="rect">
            <a:avLst/>
          </a:prstGeom>
          <a:noFill/>
        </p:spPr>
        <p:txBody>
          <a:bodyPr wrap="square">
            <a:spAutoFit/>
          </a:bodyPr>
          <a:lstStyle/>
          <a:p>
            <a:pPr algn="l"/>
            <a:r>
              <a:rPr sz="1000" b="1" i="0">
                <a:solidFill>
                  <a:srgbClr val="1A6A3A"/>
                </a:solidFill>
                <a:latin typeface="Calibri"/>
              </a:rPr>
              <a:t>Solution:</a:t>
            </a:r>
          </a:p>
        </p:txBody>
      </p:sp>
      <p:sp>
        <p:nvSpPr>
          <p:cNvPr id="20" name="TextBox 19"/>
          <p:cNvSpPr txBox="1"/>
          <p:nvPr/>
        </p:nvSpPr>
        <p:spPr>
          <a:xfrm>
            <a:off x="502920" y="4096512"/>
            <a:ext cx="3474720" cy="1828800"/>
          </a:xfrm>
          <a:prstGeom prst="rect">
            <a:avLst/>
          </a:prstGeom>
          <a:noFill/>
        </p:spPr>
        <p:txBody>
          <a:bodyPr wrap="square">
            <a:spAutoFit/>
          </a:bodyPr>
          <a:lstStyle/>
          <a:p>
            <a:pPr algn="l"/>
            <a:r>
              <a:rPr sz="1000" b="0" i="0">
                <a:solidFill>
                  <a:srgbClr val="1C1C2E"/>
                </a:solidFill>
                <a:latin typeface="Calibri"/>
              </a:rPr>
              <a:t>Edge AI deployment — AI models run locally on NVIDIA Jetson Orin devices. No cloud dependency for real-time processing.</a:t>
            </a:r>
          </a:p>
        </p:txBody>
      </p:sp>
      <p:sp>
        <p:nvSpPr>
          <p:cNvPr id="21" name="Rectangle 20"/>
          <p:cNvSpPr/>
          <p:nvPr/>
        </p:nvSpPr>
        <p:spPr>
          <a:xfrm>
            <a:off x="4279392" y="1005840"/>
            <a:ext cx="3840480" cy="5349240"/>
          </a:xfrm>
          <a:prstGeom prst="rect">
            <a:avLst/>
          </a:prstGeom>
          <a:solidFill>
            <a:srgbClr val="FFF3C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9392" y="1005840"/>
            <a:ext cx="3840480" cy="7315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6552" y="1115568"/>
            <a:ext cx="3566160" cy="384048"/>
          </a:xfrm>
          <a:prstGeom prst="rect">
            <a:avLst/>
          </a:prstGeom>
          <a:noFill/>
        </p:spPr>
        <p:txBody>
          <a:bodyPr wrap="square">
            <a:spAutoFit/>
          </a:bodyPr>
          <a:lstStyle/>
          <a:p>
            <a:pPr algn="l"/>
            <a:r>
              <a:rPr sz="1100" b="1" i="0">
                <a:solidFill>
                  <a:srgbClr val="856504"/>
                </a:solidFill>
                <a:latin typeface="Calibri"/>
              </a:rPr>
              <a:t>⚠  Training Data for AI Models</a:t>
            </a:r>
          </a:p>
        </p:txBody>
      </p:sp>
      <p:sp>
        <p:nvSpPr>
          <p:cNvPr id="24" name="TextBox 23"/>
          <p:cNvSpPr txBox="1"/>
          <p:nvPr/>
        </p:nvSpPr>
        <p:spPr>
          <a:xfrm>
            <a:off x="4416552" y="1600200"/>
            <a:ext cx="3566160" cy="1920240"/>
          </a:xfrm>
          <a:prstGeom prst="rect">
            <a:avLst/>
          </a:prstGeom>
          <a:noFill/>
        </p:spPr>
        <p:txBody>
          <a:bodyPr wrap="square">
            <a:spAutoFit/>
          </a:bodyPr>
          <a:lstStyle/>
          <a:p>
            <a:pPr algn="l"/>
            <a:r>
              <a:rPr sz="1050" b="0" i="0">
                <a:solidFill>
                  <a:srgbClr val="1C1C2E"/>
                </a:solidFill>
                <a:latin typeface="Calibri"/>
              </a:rPr>
              <a:t>Axiom requires historical Bill of Entry data, footfall logs, and watchlist access to train accurate models for Indian border conditions.</a:t>
            </a:r>
          </a:p>
        </p:txBody>
      </p:sp>
      <p:sp>
        <p:nvSpPr>
          <p:cNvPr id="25" name="Rectangle 24"/>
          <p:cNvSpPr/>
          <p:nvPr/>
        </p:nvSpPr>
        <p:spPr>
          <a:xfrm>
            <a:off x="4416552" y="3611880"/>
            <a:ext cx="3566160" cy="36576"/>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70832" y="3703320"/>
            <a:ext cx="3657600" cy="237744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70832" y="3703320"/>
            <a:ext cx="54864" cy="23774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7992" y="3749039"/>
            <a:ext cx="3474720" cy="320040"/>
          </a:xfrm>
          <a:prstGeom prst="rect">
            <a:avLst/>
          </a:prstGeom>
          <a:noFill/>
        </p:spPr>
        <p:txBody>
          <a:bodyPr wrap="square">
            <a:spAutoFit/>
          </a:bodyPr>
          <a:lstStyle/>
          <a:p>
            <a:pPr algn="l"/>
            <a:r>
              <a:rPr sz="1000" b="1" i="0">
                <a:solidFill>
                  <a:srgbClr val="1A6A3A"/>
                </a:solidFill>
                <a:latin typeface="Calibri"/>
              </a:rPr>
              <a:t>Solution:</a:t>
            </a:r>
          </a:p>
        </p:txBody>
      </p:sp>
      <p:sp>
        <p:nvSpPr>
          <p:cNvPr id="29" name="TextBox 28"/>
          <p:cNvSpPr txBox="1"/>
          <p:nvPr/>
        </p:nvSpPr>
        <p:spPr>
          <a:xfrm>
            <a:off x="4507992" y="4096512"/>
            <a:ext cx="3474720" cy="1828800"/>
          </a:xfrm>
          <a:prstGeom prst="rect">
            <a:avLst/>
          </a:prstGeom>
          <a:noFill/>
        </p:spPr>
        <p:txBody>
          <a:bodyPr wrap="square">
            <a:spAutoFit/>
          </a:bodyPr>
          <a:lstStyle/>
          <a:p>
            <a:pPr algn="l"/>
            <a:r>
              <a:rPr sz="1000" b="0" i="0">
                <a:solidFill>
                  <a:srgbClr val="1C1C2E"/>
                </a:solidFill>
                <a:latin typeface="Calibri"/>
              </a:rPr>
              <a:t>Initiate inter-agency data agreements now (CBIC, VAHAN, BoI). Lead time: 12–18 months — begin immediately.</a:t>
            </a:r>
          </a:p>
        </p:txBody>
      </p:sp>
      <p:sp>
        <p:nvSpPr>
          <p:cNvPr id="30" name="Rectangle 29"/>
          <p:cNvSpPr/>
          <p:nvPr/>
        </p:nvSpPr>
        <p:spPr>
          <a:xfrm>
            <a:off x="8284464" y="1005840"/>
            <a:ext cx="3840480" cy="5349240"/>
          </a:xfrm>
          <a:prstGeom prst="rect">
            <a:avLst/>
          </a:prstGeom>
          <a:solidFill>
            <a:srgbClr val="FFF3C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84464" y="1005840"/>
            <a:ext cx="3840480" cy="73152"/>
          </a:xfrm>
          <a:prstGeom prst="rect">
            <a:avLst/>
          </a:prstGeom>
          <a:solidFill>
            <a:srgbClr val="F39C12"/>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21624" y="1115568"/>
            <a:ext cx="3566160" cy="384048"/>
          </a:xfrm>
          <a:prstGeom prst="rect">
            <a:avLst/>
          </a:prstGeom>
          <a:noFill/>
        </p:spPr>
        <p:txBody>
          <a:bodyPr wrap="square">
            <a:spAutoFit/>
          </a:bodyPr>
          <a:lstStyle/>
          <a:p>
            <a:pPr algn="l"/>
            <a:r>
              <a:rPr sz="1100" b="1" i="0">
                <a:solidFill>
                  <a:srgbClr val="856504"/>
                </a:solidFill>
                <a:latin typeface="Calibri"/>
              </a:rPr>
              <a:t>⚠  Officer Change Management</a:t>
            </a:r>
          </a:p>
        </p:txBody>
      </p:sp>
      <p:sp>
        <p:nvSpPr>
          <p:cNvPr id="33" name="TextBox 32"/>
          <p:cNvSpPr txBox="1"/>
          <p:nvPr/>
        </p:nvSpPr>
        <p:spPr>
          <a:xfrm>
            <a:off x="8421624" y="1600200"/>
            <a:ext cx="3566160" cy="1920240"/>
          </a:xfrm>
          <a:prstGeom prst="rect">
            <a:avLst/>
          </a:prstGeom>
          <a:noFill/>
        </p:spPr>
        <p:txBody>
          <a:bodyPr wrap="square">
            <a:spAutoFit/>
          </a:bodyPr>
          <a:lstStyle/>
          <a:p>
            <a:pPr algn="l"/>
            <a:r>
              <a:rPr sz="1050" b="0" i="0">
                <a:solidFill>
                  <a:srgbClr val="1C1C2E"/>
                </a:solidFill>
                <a:latin typeface="Calibri"/>
              </a:rPr>
              <a:t>Government officers accustomed to established manual workflows may be resistant to AI-assisted decision-making.</a:t>
            </a:r>
          </a:p>
        </p:txBody>
      </p:sp>
      <p:sp>
        <p:nvSpPr>
          <p:cNvPr id="34" name="Rectangle 33"/>
          <p:cNvSpPr/>
          <p:nvPr/>
        </p:nvSpPr>
        <p:spPr>
          <a:xfrm>
            <a:off x="8421624" y="3611880"/>
            <a:ext cx="3566160" cy="36576"/>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75904" y="3703320"/>
            <a:ext cx="3657600" cy="2377440"/>
          </a:xfrm>
          <a:prstGeom prst="rect">
            <a:avLst/>
          </a:prstGeom>
          <a:solidFill>
            <a:srgbClr val="D4EDD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75904" y="3703320"/>
            <a:ext cx="54864" cy="237744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13064" y="3749039"/>
            <a:ext cx="3474720" cy="320040"/>
          </a:xfrm>
          <a:prstGeom prst="rect">
            <a:avLst/>
          </a:prstGeom>
          <a:noFill/>
        </p:spPr>
        <p:txBody>
          <a:bodyPr wrap="square">
            <a:spAutoFit/>
          </a:bodyPr>
          <a:lstStyle/>
          <a:p>
            <a:pPr algn="l"/>
            <a:r>
              <a:rPr sz="1000" b="1" i="0">
                <a:solidFill>
                  <a:srgbClr val="1A6A3A"/>
                </a:solidFill>
                <a:latin typeface="Calibri"/>
              </a:rPr>
              <a:t>Solution:</a:t>
            </a:r>
          </a:p>
        </p:txBody>
      </p:sp>
      <p:sp>
        <p:nvSpPr>
          <p:cNvPr id="38" name="TextBox 37"/>
          <p:cNvSpPr txBox="1"/>
          <p:nvPr/>
        </p:nvSpPr>
        <p:spPr>
          <a:xfrm>
            <a:off x="8513064" y="4096512"/>
            <a:ext cx="3474720" cy="1828800"/>
          </a:xfrm>
          <a:prstGeom prst="rect">
            <a:avLst/>
          </a:prstGeom>
          <a:noFill/>
        </p:spPr>
        <p:txBody>
          <a:bodyPr wrap="square">
            <a:spAutoFit/>
          </a:bodyPr>
          <a:lstStyle/>
          <a:p>
            <a:pPr algn="l"/>
            <a:r>
              <a:rPr sz="1000" b="0" i="0">
                <a:solidFill>
                  <a:srgbClr val="1C1C2E"/>
                </a:solidFill>
                <a:latin typeface="Calibri"/>
              </a:rPr>
              <a:t>45-step guided walkthrough built-in. Designed specifically for non-technical government users. Plus structured training programme in Phase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Recommendations to LPAI Leadership</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20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Recommendations to LPAI Leadership</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11795760" cy="164592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005840"/>
            <a:ext cx="109728" cy="164592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078992"/>
            <a:ext cx="502920" cy="502920"/>
          </a:xfrm>
          <a:prstGeom prst="rect">
            <a:avLst/>
          </a:prstGeom>
          <a:noFill/>
        </p:spPr>
        <p:txBody>
          <a:bodyPr wrap="square">
            <a:spAutoFit/>
          </a:bodyPr>
          <a:lstStyle/>
          <a:p>
            <a:pPr algn="ctr"/>
            <a:r>
              <a:rPr sz="2400" b="1" i="0">
                <a:solidFill>
                  <a:srgbClr val="1A3A6A"/>
                </a:solidFill>
                <a:latin typeface="Calibri"/>
              </a:rPr>
              <a:t>1</a:t>
            </a:r>
          </a:p>
        </p:txBody>
      </p:sp>
      <p:sp>
        <p:nvSpPr>
          <p:cNvPr id="15" name="TextBox 14"/>
          <p:cNvSpPr txBox="1"/>
          <p:nvPr/>
        </p:nvSpPr>
        <p:spPr>
          <a:xfrm>
            <a:off x="1051560" y="1097280"/>
            <a:ext cx="10835640" cy="384048"/>
          </a:xfrm>
          <a:prstGeom prst="rect">
            <a:avLst/>
          </a:prstGeom>
          <a:noFill/>
        </p:spPr>
        <p:txBody>
          <a:bodyPr wrap="square">
            <a:spAutoFit/>
          </a:bodyPr>
          <a:lstStyle/>
          <a:p>
            <a:pPr algn="l"/>
            <a:r>
              <a:rPr sz="1200" b="1" i="0">
                <a:solidFill>
                  <a:srgbClr val="1A3A6A"/>
                </a:solidFill>
                <a:latin typeface="Calibri"/>
              </a:rPr>
              <a:t>INITIATE PHASE 2 PILOT AT PETRAPOLE AND ATTARI</a:t>
            </a:r>
          </a:p>
        </p:txBody>
      </p:sp>
      <p:sp>
        <p:nvSpPr>
          <p:cNvPr id="16" name="TextBox 15"/>
          <p:cNvSpPr txBox="1"/>
          <p:nvPr/>
        </p:nvSpPr>
        <p:spPr>
          <a:xfrm>
            <a:off x="1051560" y="1508760"/>
            <a:ext cx="10835640" cy="1005840"/>
          </a:xfrm>
          <a:prstGeom prst="rect">
            <a:avLst/>
          </a:prstGeom>
          <a:noFill/>
        </p:spPr>
        <p:txBody>
          <a:bodyPr wrap="square">
            <a:spAutoFit/>
          </a:bodyPr>
          <a:lstStyle/>
          <a:p>
            <a:pPr algn="l"/>
            <a:r>
              <a:rPr sz="1100" b="0" i="0">
                <a:solidFill>
                  <a:srgbClr val="1C1C2E"/>
                </a:solidFill>
                <a:latin typeface="Calibri"/>
              </a:rPr>
              <a:t>Approve a 6-month pilot integrating LPAI Nexus with the LPMS backend at India's two busiest ICPs. The prototype is ready. The pilot will validate AI performance on real operational data and establish officer training protocols for all ICP grades.</a:t>
            </a:r>
          </a:p>
        </p:txBody>
      </p:sp>
      <p:sp>
        <p:nvSpPr>
          <p:cNvPr id="17" name="Rectangle 16"/>
          <p:cNvSpPr/>
          <p:nvPr/>
        </p:nvSpPr>
        <p:spPr>
          <a:xfrm>
            <a:off x="274320" y="2761488"/>
            <a:ext cx="11795760" cy="164592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2761488"/>
            <a:ext cx="109728" cy="164592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34640"/>
            <a:ext cx="502920" cy="502920"/>
          </a:xfrm>
          <a:prstGeom prst="rect">
            <a:avLst/>
          </a:prstGeom>
          <a:noFill/>
        </p:spPr>
        <p:txBody>
          <a:bodyPr wrap="square">
            <a:spAutoFit/>
          </a:bodyPr>
          <a:lstStyle/>
          <a:p>
            <a:pPr algn="ctr"/>
            <a:r>
              <a:rPr sz="2400" b="1" i="0">
                <a:solidFill>
                  <a:srgbClr val="D4881A"/>
                </a:solidFill>
                <a:latin typeface="Calibri"/>
              </a:rPr>
              <a:t>2</a:t>
            </a:r>
          </a:p>
        </p:txBody>
      </p:sp>
      <p:sp>
        <p:nvSpPr>
          <p:cNvPr id="20" name="TextBox 19"/>
          <p:cNvSpPr txBox="1"/>
          <p:nvPr/>
        </p:nvSpPr>
        <p:spPr>
          <a:xfrm>
            <a:off x="1051560" y="2852928"/>
            <a:ext cx="10835640" cy="384048"/>
          </a:xfrm>
          <a:prstGeom prst="rect">
            <a:avLst/>
          </a:prstGeom>
          <a:noFill/>
        </p:spPr>
        <p:txBody>
          <a:bodyPr wrap="square">
            <a:spAutoFit/>
          </a:bodyPr>
          <a:lstStyle/>
          <a:p>
            <a:pPr algn="l"/>
            <a:r>
              <a:rPr sz="1200" b="1" i="0">
                <a:solidFill>
                  <a:srgbClr val="D4881A"/>
                </a:solidFill>
                <a:latin typeface="Calibri"/>
              </a:rPr>
              <a:t>ESTABLISH A TECHNOLOGY DIVISION AT LPAI HEADQUARTERS</a:t>
            </a:r>
          </a:p>
        </p:txBody>
      </p:sp>
      <p:sp>
        <p:nvSpPr>
          <p:cNvPr id="21" name="TextBox 20"/>
          <p:cNvSpPr txBox="1"/>
          <p:nvPr/>
        </p:nvSpPr>
        <p:spPr>
          <a:xfrm>
            <a:off x="1051560" y="3264408"/>
            <a:ext cx="10835640" cy="1005840"/>
          </a:xfrm>
          <a:prstGeom prst="rect">
            <a:avLst/>
          </a:prstGeom>
          <a:noFill/>
        </p:spPr>
        <p:txBody>
          <a:bodyPr wrap="square">
            <a:spAutoFit/>
          </a:bodyPr>
          <a:lstStyle/>
          <a:p>
            <a:pPr algn="l"/>
            <a:r>
              <a:rPr sz="1100" b="0" i="0">
                <a:solidFill>
                  <a:srgbClr val="1C1C2E"/>
                </a:solidFill>
                <a:latin typeface="Calibri"/>
              </a:rPr>
              <a:t>Create a dedicated internal team of 8–10 professionals (engineers, data scientists, cybersecurity) to own LPAI Nexus long-term. External vendor dependency for core border management technology creates operational risk and limits institutional knowledge.</a:t>
            </a:r>
          </a:p>
        </p:txBody>
      </p:sp>
      <p:sp>
        <p:nvSpPr>
          <p:cNvPr id="22" name="Rectangle 21"/>
          <p:cNvSpPr/>
          <p:nvPr/>
        </p:nvSpPr>
        <p:spPr>
          <a:xfrm>
            <a:off x="274320" y="4517136"/>
            <a:ext cx="11795760" cy="164592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517136"/>
            <a:ext cx="109728" cy="164592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502920" cy="502920"/>
          </a:xfrm>
          <a:prstGeom prst="rect">
            <a:avLst/>
          </a:prstGeom>
          <a:noFill/>
        </p:spPr>
        <p:txBody>
          <a:bodyPr wrap="square">
            <a:spAutoFit/>
          </a:bodyPr>
          <a:lstStyle/>
          <a:p>
            <a:pPr algn="ctr"/>
            <a:r>
              <a:rPr sz="2400" b="1" i="0">
                <a:solidFill>
                  <a:srgbClr val="1A6A3A"/>
                </a:solidFill>
                <a:latin typeface="Calibri"/>
              </a:rPr>
              <a:t>3</a:t>
            </a:r>
          </a:p>
        </p:txBody>
      </p:sp>
      <p:sp>
        <p:nvSpPr>
          <p:cNvPr id="25" name="TextBox 24"/>
          <p:cNvSpPr txBox="1"/>
          <p:nvPr/>
        </p:nvSpPr>
        <p:spPr>
          <a:xfrm>
            <a:off x="1051560" y="4608576"/>
            <a:ext cx="10835640" cy="384048"/>
          </a:xfrm>
          <a:prstGeom prst="rect">
            <a:avLst/>
          </a:prstGeom>
          <a:noFill/>
        </p:spPr>
        <p:txBody>
          <a:bodyPr wrap="square">
            <a:spAutoFit/>
          </a:bodyPr>
          <a:lstStyle/>
          <a:p>
            <a:pPr algn="l"/>
            <a:r>
              <a:rPr sz="1200" b="1" i="0">
                <a:solidFill>
                  <a:srgbClr val="1A6A3A"/>
                </a:solidFill>
                <a:latin typeface="Calibri"/>
              </a:rPr>
              <a:t>INITIATE DATA SHARING AGREEMENTS WITH CBIC, VAHAN, AND BUREAU OF IMMIGRATION</a:t>
            </a:r>
          </a:p>
        </p:txBody>
      </p:sp>
      <p:sp>
        <p:nvSpPr>
          <p:cNvPr id="26" name="TextBox 25"/>
          <p:cNvSpPr txBox="1"/>
          <p:nvPr/>
        </p:nvSpPr>
        <p:spPr>
          <a:xfrm>
            <a:off x="1051560" y="5020056"/>
            <a:ext cx="10835640" cy="1005840"/>
          </a:xfrm>
          <a:prstGeom prst="rect">
            <a:avLst/>
          </a:prstGeom>
          <a:noFill/>
        </p:spPr>
        <p:txBody>
          <a:bodyPr wrap="square">
            <a:spAutoFit/>
          </a:bodyPr>
          <a:lstStyle/>
          <a:p>
            <a:pPr algn="l"/>
            <a:r>
              <a:rPr sz="1100" b="0" i="0">
                <a:solidFill>
                  <a:srgbClr val="1C1C2E"/>
                </a:solidFill>
                <a:latin typeface="Calibri"/>
              </a:rPr>
              <a:t>Axiom's full capability requires historical data from these three agencies. Agreements take 12–18 months to formalise. Starting now ensures AI training data is available when Phase 2 deployment begins — any delay cascades into Phase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LPAI Nexus — The Opportunity in Numbers</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21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LPAI Nexus — The Opportunity in Numbers</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005840"/>
            <a:ext cx="3794760" cy="20116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234440"/>
            <a:ext cx="3520440" cy="822960"/>
          </a:xfrm>
          <a:prstGeom prst="rect">
            <a:avLst/>
          </a:prstGeom>
          <a:noFill/>
        </p:spPr>
        <p:txBody>
          <a:bodyPr wrap="square">
            <a:spAutoFit/>
          </a:bodyPr>
          <a:lstStyle/>
          <a:p>
            <a:pPr algn="ctr"/>
            <a:r>
              <a:rPr sz="3000" b="1" i="0">
                <a:solidFill>
                  <a:srgbClr val="FFFFFF"/>
                </a:solidFill>
                <a:latin typeface="Calibri"/>
              </a:rPr>
              <a:t>95% Faster</a:t>
            </a:r>
          </a:p>
        </p:txBody>
      </p:sp>
      <p:sp>
        <p:nvSpPr>
          <p:cNvPr id="14" name="TextBox 13"/>
          <p:cNvSpPr txBox="1"/>
          <p:nvPr/>
        </p:nvSpPr>
        <p:spPr>
          <a:xfrm>
            <a:off x="411480" y="2103120"/>
            <a:ext cx="3520440" cy="594360"/>
          </a:xfrm>
          <a:prstGeom prst="rect">
            <a:avLst/>
          </a:prstGeom>
          <a:noFill/>
        </p:spPr>
        <p:txBody>
          <a:bodyPr wrap="square">
            <a:spAutoFit/>
          </a:bodyPr>
          <a:lstStyle/>
          <a:p>
            <a:pPr algn="ctr"/>
            <a:r>
              <a:rPr sz="1300" b="0" i="0">
                <a:solidFill>
                  <a:srgbClr val="FFFFFF"/>
                </a:solidFill>
                <a:latin typeface="Calibri"/>
              </a:rPr>
              <a:t>Cargo document processing</a:t>
            </a:r>
          </a:p>
        </p:txBody>
      </p:sp>
      <p:sp>
        <p:nvSpPr>
          <p:cNvPr id="15" name="Rectangle 14"/>
          <p:cNvSpPr/>
          <p:nvPr/>
        </p:nvSpPr>
        <p:spPr>
          <a:xfrm>
            <a:off x="4251959" y="1005840"/>
            <a:ext cx="3794760" cy="201168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234440"/>
            <a:ext cx="3520440" cy="822960"/>
          </a:xfrm>
          <a:prstGeom prst="rect">
            <a:avLst/>
          </a:prstGeom>
          <a:noFill/>
        </p:spPr>
        <p:txBody>
          <a:bodyPr wrap="square">
            <a:spAutoFit/>
          </a:bodyPr>
          <a:lstStyle/>
          <a:p>
            <a:pPr algn="ctr"/>
            <a:r>
              <a:rPr sz="3000" b="1" i="0">
                <a:solidFill>
                  <a:srgbClr val="1C1C2E"/>
                </a:solidFill>
                <a:latin typeface="Calibri"/>
              </a:rPr>
              <a:t>~85% Reduction</a:t>
            </a:r>
          </a:p>
        </p:txBody>
      </p:sp>
      <p:sp>
        <p:nvSpPr>
          <p:cNvPr id="17" name="TextBox 16"/>
          <p:cNvSpPr txBox="1"/>
          <p:nvPr/>
        </p:nvSpPr>
        <p:spPr>
          <a:xfrm>
            <a:off x="4389119" y="2103120"/>
            <a:ext cx="3520440" cy="594360"/>
          </a:xfrm>
          <a:prstGeom prst="rect">
            <a:avLst/>
          </a:prstGeom>
          <a:noFill/>
        </p:spPr>
        <p:txBody>
          <a:bodyPr wrap="square">
            <a:spAutoFit/>
          </a:bodyPr>
          <a:lstStyle/>
          <a:p>
            <a:pPr algn="ctr"/>
            <a:r>
              <a:rPr sz="1300" b="0" i="0">
                <a:solidFill>
                  <a:srgbClr val="1C1C2E"/>
                </a:solidFill>
                <a:latin typeface="Calibri"/>
              </a:rPr>
              <a:t>Export clearance time target</a:t>
            </a:r>
          </a:p>
        </p:txBody>
      </p:sp>
      <p:sp>
        <p:nvSpPr>
          <p:cNvPr id="18" name="Rectangle 17"/>
          <p:cNvSpPr/>
          <p:nvPr/>
        </p:nvSpPr>
        <p:spPr>
          <a:xfrm>
            <a:off x="8229598" y="1005840"/>
            <a:ext cx="3794760" cy="20116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58" y="1234440"/>
            <a:ext cx="3520440" cy="822960"/>
          </a:xfrm>
          <a:prstGeom prst="rect">
            <a:avLst/>
          </a:prstGeom>
          <a:noFill/>
        </p:spPr>
        <p:txBody>
          <a:bodyPr wrap="square">
            <a:spAutoFit/>
          </a:bodyPr>
          <a:lstStyle/>
          <a:p>
            <a:pPr algn="ctr"/>
            <a:r>
              <a:rPr sz="3000" b="1" i="0">
                <a:solidFill>
                  <a:srgbClr val="FFFFFF"/>
                </a:solidFill>
                <a:latin typeface="Calibri"/>
              </a:rPr>
              <a:t>&lt; 1 Second</a:t>
            </a:r>
          </a:p>
        </p:txBody>
      </p:sp>
      <p:sp>
        <p:nvSpPr>
          <p:cNvPr id="20" name="TextBox 19"/>
          <p:cNvSpPr txBox="1"/>
          <p:nvPr/>
        </p:nvSpPr>
        <p:spPr>
          <a:xfrm>
            <a:off x="8366758" y="2103120"/>
            <a:ext cx="3520440" cy="594360"/>
          </a:xfrm>
          <a:prstGeom prst="rect">
            <a:avLst/>
          </a:prstGeom>
          <a:noFill/>
        </p:spPr>
        <p:txBody>
          <a:bodyPr wrap="square">
            <a:spAutoFit/>
          </a:bodyPr>
          <a:lstStyle/>
          <a:p>
            <a:pPr algn="ctr"/>
            <a:r>
              <a:rPr sz="1300" b="0" i="0">
                <a:solidFill>
                  <a:srgbClr val="FFFFFF"/>
                </a:solidFill>
                <a:latin typeface="Calibri"/>
              </a:rPr>
              <a:t>Watchlist face match check</a:t>
            </a:r>
          </a:p>
        </p:txBody>
      </p:sp>
      <p:sp>
        <p:nvSpPr>
          <p:cNvPr id="21" name="Rectangle 20"/>
          <p:cNvSpPr/>
          <p:nvPr/>
        </p:nvSpPr>
        <p:spPr>
          <a:xfrm>
            <a:off x="274320" y="3154680"/>
            <a:ext cx="3794760" cy="2011680"/>
          </a:xfrm>
          <a:prstGeom prst="rect">
            <a:avLst/>
          </a:prstGeom>
          <a:solidFill>
            <a:srgbClr val="176B8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383280"/>
            <a:ext cx="3520440" cy="822960"/>
          </a:xfrm>
          <a:prstGeom prst="rect">
            <a:avLst/>
          </a:prstGeom>
          <a:noFill/>
        </p:spPr>
        <p:txBody>
          <a:bodyPr wrap="square">
            <a:spAutoFit/>
          </a:bodyPr>
          <a:lstStyle/>
          <a:p>
            <a:pPr algn="ctr"/>
            <a:r>
              <a:rPr sz="3000" b="1" i="0">
                <a:solidFill>
                  <a:srgbClr val="FFFFFF"/>
                </a:solidFill>
                <a:latin typeface="Calibri"/>
              </a:rPr>
              <a:t>24/7 Coverage</a:t>
            </a:r>
          </a:p>
        </p:txBody>
      </p:sp>
      <p:sp>
        <p:nvSpPr>
          <p:cNvPr id="23" name="TextBox 22"/>
          <p:cNvSpPr txBox="1"/>
          <p:nvPr/>
        </p:nvSpPr>
        <p:spPr>
          <a:xfrm>
            <a:off x="411480" y="4251960"/>
            <a:ext cx="3520440" cy="594360"/>
          </a:xfrm>
          <a:prstGeom prst="rect">
            <a:avLst/>
          </a:prstGeom>
          <a:noFill/>
        </p:spPr>
        <p:txBody>
          <a:bodyPr wrap="square">
            <a:spAutoFit/>
          </a:bodyPr>
          <a:lstStyle/>
          <a:p>
            <a:pPr algn="ctr"/>
            <a:r>
              <a:rPr sz="1300" b="0" i="0">
                <a:solidFill>
                  <a:srgbClr val="FFFFFF"/>
                </a:solidFill>
                <a:latin typeface="Calibri"/>
              </a:rPr>
              <a:t>All camera feeds monitored by AI</a:t>
            </a:r>
          </a:p>
        </p:txBody>
      </p:sp>
      <p:sp>
        <p:nvSpPr>
          <p:cNvPr id="24" name="Rectangle 23"/>
          <p:cNvSpPr/>
          <p:nvPr/>
        </p:nvSpPr>
        <p:spPr>
          <a:xfrm>
            <a:off x="4251959" y="3154680"/>
            <a:ext cx="3794760" cy="20116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19" y="3383280"/>
            <a:ext cx="3520440" cy="822960"/>
          </a:xfrm>
          <a:prstGeom prst="rect">
            <a:avLst/>
          </a:prstGeom>
          <a:noFill/>
        </p:spPr>
        <p:txBody>
          <a:bodyPr wrap="square">
            <a:spAutoFit/>
          </a:bodyPr>
          <a:lstStyle/>
          <a:p>
            <a:pPr algn="ctr"/>
            <a:r>
              <a:rPr sz="3000" b="1" i="0">
                <a:solidFill>
                  <a:srgbClr val="FFFFFF"/>
                </a:solidFill>
                <a:latin typeface="Calibri"/>
              </a:rPr>
              <a:t>12 ICPs</a:t>
            </a:r>
          </a:p>
        </p:txBody>
      </p:sp>
      <p:sp>
        <p:nvSpPr>
          <p:cNvPr id="26" name="TextBox 25"/>
          <p:cNvSpPr txBox="1"/>
          <p:nvPr/>
        </p:nvSpPr>
        <p:spPr>
          <a:xfrm>
            <a:off x="4389119" y="4251960"/>
            <a:ext cx="3520440" cy="594360"/>
          </a:xfrm>
          <a:prstGeom prst="rect">
            <a:avLst/>
          </a:prstGeom>
          <a:noFill/>
        </p:spPr>
        <p:txBody>
          <a:bodyPr wrap="square">
            <a:spAutoFit/>
          </a:bodyPr>
          <a:lstStyle/>
          <a:p>
            <a:pPr algn="ctr"/>
            <a:r>
              <a:rPr sz="1300" b="0" i="0">
                <a:solidFill>
                  <a:srgbClr val="FFFFFF"/>
                </a:solidFill>
                <a:latin typeface="Calibri"/>
              </a:rPr>
              <a:t>Unified in one command view</a:t>
            </a:r>
          </a:p>
        </p:txBody>
      </p:sp>
      <p:sp>
        <p:nvSpPr>
          <p:cNvPr id="27" name="Rectangle 26"/>
          <p:cNvSpPr/>
          <p:nvPr/>
        </p:nvSpPr>
        <p:spPr>
          <a:xfrm>
            <a:off x="8229598" y="3154680"/>
            <a:ext cx="3794760" cy="201168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58" y="3383280"/>
            <a:ext cx="3520440" cy="822960"/>
          </a:xfrm>
          <a:prstGeom prst="rect">
            <a:avLst/>
          </a:prstGeom>
          <a:noFill/>
        </p:spPr>
        <p:txBody>
          <a:bodyPr wrap="square">
            <a:spAutoFit/>
          </a:bodyPr>
          <a:lstStyle/>
          <a:p>
            <a:pPr algn="ctr"/>
            <a:r>
              <a:rPr sz="3000" b="1" i="0">
                <a:solidFill>
                  <a:srgbClr val="1C1C2E"/>
                </a:solidFill>
                <a:latin typeface="Calibri"/>
              </a:rPr>
              <a:t>₹70,952 Cr</a:t>
            </a:r>
          </a:p>
        </p:txBody>
      </p:sp>
      <p:sp>
        <p:nvSpPr>
          <p:cNvPr id="29" name="TextBox 28"/>
          <p:cNvSpPr txBox="1"/>
          <p:nvPr/>
        </p:nvSpPr>
        <p:spPr>
          <a:xfrm>
            <a:off x="8366758" y="4251960"/>
            <a:ext cx="3520440" cy="594360"/>
          </a:xfrm>
          <a:prstGeom prst="rect">
            <a:avLst/>
          </a:prstGeom>
          <a:noFill/>
        </p:spPr>
        <p:txBody>
          <a:bodyPr wrap="square">
            <a:spAutoFit/>
          </a:bodyPr>
          <a:lstStyle/>
          <a:p>
            <a:pPr algn="ctr"/>
            <a:r>
              <a:rPr sz="1300" b="0" i="0">
                <a:solidFill>
                  <a:srgbClr val="1C1C2E"/>
                </a:solidFill>
                <a:latin typeface="Calibri"/>
              </a:rPr>
              <a:t>Annual trade — all visible in real time</a:t>
            </a:r>
          </a:p>
        </p:txBody>
      </p:sp>
      <p:sp>
        <p:nvSpPr>
          <p:cNvPr id="30" name="Rectangle 29"/>
          <p:cNvSpPr/>
          <p:nvPr/>
        </p:nvSpPr>
        <p:spPr>
          <a:xfrm>
            <a:off x="274320" y="5166360"/>
            <a:ext cx="11795760" cy="123444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257800"/>
            <a:ext cx="11612880" cy="457200"/>
          </a:xfrm>
          <a:prstGeom prst="rect">
            <a:avLst/>
          </a:prstGeom>
          <a:noFill/>
        </p:spPr>
        <p:txBody>
          <a:bodyPr wrap="square">
            <a:spAutoFit/>
          </a:bodyPr>
          <a:lstStyle/>
          <a:p>
            <a:pPr algn="ctr"/>
            <a:r>
              <a:rPr sz="1500" b="1" i="0">
                <a:solidFill>
                  <a:srgbClr val="D4881A"/>
                </a:solidFill>
                <a:latin typeface="Calibri"/>
              </a:rPr>
              <a:t>LPAI Nexus is not a concept. It is a working prototype — ready for pilot deployment today.</a:t>
            </a:r>
          </a:p>
        </p:txBody>
      </p:sp>
      <p:sp>
        <p:nvSpPr>
          <p:cNvPr id="32" name="TextBox 31"/>
          <p:cNvSpPr txBox="1"/>
          <p:nvPr/>
        </p:nvSpPr>
        <p:spPr>
          <a:xfrm>
            <a:off x="457200" y="5742432"/>
            <a:ext cx="11612880" cy="457200"/>
          </a:xfrm>
          <a:prstGeom prst="rect">
            <a:avLst/>
          </a:prstGeom>
          <a:noFill/>
        </p:spPr>
        <p:txBody>
          <a:bodyPr wrap="square">
            <a:spAutoFit/>
          </a:bodyPr>
          <a:lstStyle/>
          <a:p>
            <a:pPr algn="ctr"/>
            <a:r>
              <a:rPr sz="1200" b="0" i="0">
                <a:solidFill>
                  <a:srgbClr val="FFFFFF"/>
                </a:solidFill>
                <a:latin typeface="Calibri"/>
              </a:rPr>
              <a:t>A live demonstration can be arranged at any time for senior leadership.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6576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7772400" cy="274320"/>
          </a:xfrm>
          <a:prstGeom prst="rect">
            <a:avLst/>
          </a:prstGeom>
          <a:noFill/>
        </p:spPr>
        <p:txBody>
          <a:bodyPr wrap="none">
            <a:spAutoFit/>
          </a:bodyPr>
          <a:lstStyle/>
          <a:p>
            <a:pPr algn="l"/>
            <a:r>
              <a:rPr sz="1100" b="1" i="0">
                <a:solidFill>
                  <a:srgbClr val="FFFFFF"/>
                </a:solidFill>
                <a:latin typeface="Calibri"/>
              </a:rPr>
              <a:t>LPAI Nexus — Smart Border Command Platform</a:t>
            </a:r>
          </a:p>
        </p:txBody>
      </p:sp>
      <p:sp>
        <p:nvSpPr>
          <p:cNvPr id="5" name="TextBox 4"/>
          <p:cNvSpPr txBox="1"/>
          <p:nvPr/>
        </p:nvSpPr>
        <p:spPr>
          <a:xfrm>
            <a:off x="8229600" y="64008"/>
            <a:ext cx="3749039" cy="274320"/>
          </a:xfrm>
          <a:prstGeom prst="rect">
            <a:avLst/>
          </a:prstGeom>
          <a:noFill/>
        </p:spPr>
        <p:txBody>
          <a:bodyPr wrap="none">
            <a:spAutoFit/>
          </a:bodyPr>
          <a:lstStyle/>
          <a:p>
            <a:pPr algn="r"/>
            <a:r>
              <a:rPr sz="1000" b="0" i="0">
                <a:solidFill>
                  <a:srgbClr val="FFFFFF"/>
                </a:solidFill>
                <a:latin typeface="Calibri"/>
              </a:rPr>
              <a:t>Ministry of Home Affairs | Government of India</a:t>
            </a:r>
          </a:p>
        </p:txBody>
      </p:sp>
      <p:sp>
        <p:nvSpPr>
          <p:cNvPr id="6" name="Rectangle 5"/>
          <p:cNvSpPr/>
          <p:nvPr/>
        </p:nvSpPr>
        <p:spPr>
          <a:xfrm>
            <a:off x="0" y="6583680"/>
            <a:ext cx="12188952" cy="274320"/>
          </a:xfrm>
          <a:prstGeom prst="rect">
            <a:avLst/>
          </a:prstGeom>
          <a:solidFill>
            <a:srgbClr val="F0F0F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6620256"/>
            <a:ext cx="3657600" cy="201168"/>
          </a:xfrm>
          <a:prstGeom prst="rect">
            <a:avLst/>
          </a:prstGeom>
          <a:noFill/>
        </p:spPr>
        <p:txBody>
          <a:bodyPr wrap="none">
            <a:spAutoFit/>
          </a:bodyPr>
          <a:lstStyle/>
          <a:p>
            <a:pPr algn="l"/>
            <a:r>
              <a:rPr sz="900" b="1" i="0">
                <a:solidFill>
                  <a:srgbClr val="C0392B"/>
                </a:solidFill>
                <a:latin typeface="Calibri"/>
              </a:rPr>
              <a:t>RESTRICTED — For Internal Use Only</a:t>
            </a:r>
          </a:p>
        </p:txBody>
      </p:sp>
      <p:sp>
        <p:nvSpPr>
          <p:cNvPr id="8" name="TextBox 7"/>
          <p:cNvSpPr txBox="1"/>
          <p:nvPr/>
        </p:nvSpPr>
        <p:spPr>
          <a:xfrm>
            <a:off x="4114800" y="6620256"/>
            <a:ext cx="4114800" cy="201168"/>
          </a:xfrm>
          <a:prstGeom prst="rect">
            <a:avLst/>
          </a:prstGeom>
          <a:noFill/>
        </p:spPr>
        <p:txBody>
          <a:bodyPr wrap="none">
            <a:spAutoFit/>
          </a:bodyPr>
          <a:lstStyle/>
          <a:p>
            <a:pPr algn="ctr"/>
            <a:r>
              <a:rPr sz="900" b="0" i="0">
                <a:solidFill>
                  <a:srgbClr val="666666"/>
                </a:solidFill>
                <a:latin typeface="Calibri"/>
              </a:rPr>
              <a:t>Conclusion</a:t>
            </a:r>
          </a:p>
        </p:txBody>
      </p:sp>
      <p:sp>
        <p:nvSpPr>
          <p:cNvPr id="9" name="TextBox 8"/>
          <p:cNvSpPr txBox="1"/>
          <p:nvPr/>
        </p:nvSpPr>
        <p:spPr>
          <a:xfrm>
            <a:off x="9326880" y="6620256"/>
            <a:ext cx="2743200" cy="201168"/>
          </a:xfrm>
          <a:prstGeom prst="rect">
            <a:avLst/>
          </a:prstGeom>
          <a:noFill/>
        </p:spPr>
        <p:txBody>
          <a:bodyPr wrap="none">
            <a:spAutoFit/>
          </a:bodyPr>
          <a:lstStyle/>
          <a:p>
            <a:pPr algn="r"/>
            <a:r>
              <a:rPr sz="900" b="1" i="0">
                <a:solidFill>
                  <a:srgbClr val="1A3A6A"/>
                </a:solidFill>
                <a:latin typeface="Calibri"/>
              </a:rPr>
              <a:t>22 / 23</a:t>
            </a:r>
          </a:p>
        </p:txBody>
      </p:sp>
      <p:sp>
        <p:nvSpPr>
          <p:cNvPr id="10" name="TextBox 9"/>
          <p:cNvSpPr txBox="1"/>
          <p:nvPr/>
        </p:nvSpPr>
        <p:spPr>
          <a:xfrm>
            <a:off x="274320" y="402336"/>
            <a:ext cx="11704320" cy="457200"/>
          </a:xfrm>
          <a:prstGeom prst="rect">
            <a:avLst/>
          </a:prstGeom>
          <a:noFill/>
        </p:spPr>
        <p:txBody>
          <a:bodyPr wrap="square">
            <a:spAutoFit/>
          </a:bodyPr>
          <a:lstStyle/>
          <a:p>
            <a:pPr algn="l"/>
            <a:r>
              <a:rPr sz="2500" b="1" i="0">
                <a:solidFill>
                  <a:srgbClr val="1A3A6A"/>
                </a:solidFill>
                <a:latin typeface="Calibri"/>
              </a:rPr>
              <a:t>Conclusion</a:t>
            </a:r>
          </a:p>
        </p:txBody>
      </p:sp>
      <p:sp>
        <p:nvSpPr>
          <p:cNvPr id="11" name="Rectangle 10"/>
          <p:cNvSpPr/>
          <p:nvPr/>
        </p:nvSpPr>
        <p:spPr>
          <a:xfrm>
            <a:off x="274320" y="868680"/>
            <a:ext cx="11704320"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051560"/>
            <a:ext cx="11247120" cy="2926080"/>
          </a:xfrm>
          <a:prstGeom prst="rect">
            <a:avLst/>
          </a:prstGeom>
          <a:solidFill>
            <a:srgbClr val="E8F0F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051560"/>
            <a:ext cx="91440" cy="29260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612880" y="1051560"/>
            <a:ext cx="91440" cy="29260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170432"/>
            <a:ext cx="10972800" cy="2606040"/>
          </a:xfrm>
          <a:prstGeom prst="rect">
            <a:avLst/>
          </a:prstGeom>
          <a:noFill/>
        </p:spPr>
        <p:txBody>
          <a:bodyPr wrap="square">
            <a:spAutoFit/>
          </a:bodyPr>
          <a:lstStyle/>
          <a:p>
            <a:pPr algn="ctr"/>
            <a:r>
              <a:rPr sz="1300" b="1" i="0">
                <a:solidFill>
                  <a:srgbClr val="1A3A6A"/>
                </a:solidFill>
                <a:latin typeface="Calibri"/>
              </a:rPr>
              <a:t>"India manages 15,200 km of international land border across 7 countries.</a:t>
            </a:r>
          </a:p>
          <a:p>
            <a:pPr algn="ctr">
              <a:spcBef>
                <a:spcPts val="800"/>
              </a:spcBef>
            </a:pPr>
            <a:r>
              <a:rPr sz="1200" b="0" i="0">
                <a:solidFill>
                  <a:srgbClr val="1C1C2E"/>
                </a:solidFill>
                <a:latin typeface="Calibri"/>
              </a:rPr>
              <a:t>In FY 2023-24, ₹70,952 crore in trade and 30.46 lakh passenger crossings were
processed — a 15-fold increase from a decade ago.</a:t>
            </a:r>
          </a:p>
          <a:p>
            <a:pPr algn="ctr">
              <a:spcBef>
                <a:spcPts val="1200"/>
              </a:spcBef>
            </a:pPr>
            <a:r>
              <a:rPr sz="1300" b="1" i="0">
                <a:solidFill>
                  <a:srgbClr val="1A3A6A"/>
                </a:solidFill>
                <a:latin typeface="Calibri"/>
              </a:rPr>
              <a:t>LPAI Nexus demonstrates that the next 15-fold improvement will come
not from more infrastructure, but from intelligence."</a:t>
            </a:r>
          </a:p>
        </p:txBody>
      </p:sp>
      <p:sp>
        <p:nvSpPr>
          <p:cNvPr id="16" name="TextBox 15"/>
          <p:cNvSpPr txBox="1"/>
          <p:nvPr/>
        </p:nvSpPr>
        <p:spPr>
          <a:xfrm>
            <a:off x="457200" y="4114800"/>
            <a:ext cx="11247120" cy="365760"/>
          </a:xfrm>
          <a:prstGeom prst="rect">
            <a:avLst/>
          </a:prstGeom>
          <a:noFill/>
        </p:spPr>
        <p:txBody>
          <a:bodyPr wrap="square">
            <a:spAutoFit/>
          </a:bodyPr>
          <a:lstStyle/>
          <a:p>
            <a:pPr algn="ctr"/>
            <a:r>
              <a:rPr sz="1200" b="1" i="0">
                <a:solidFill>
                  <a:srgbClr val="1A3A6A"/>
                </a:solidFill>
                <a:latin typeface="Calibri"/>
              </a:rPr>
              <a:t>Delivered during this internship:</a:t>
            </a:r>
          </a:p>
        </p:txBody>
      </p:sp>
      <p:sp>
        <p:nvSpPr>
          <p:cNvPr id="17" name="Rectangle 16"/>
          <p:cNvSpPr/>
          <p:nvPr/>
        </p:nvSpPr>
        <p:spPr>
          <a:xfrm>
            <a:off x="457200" y="4572000"/>
            <a:ext cx="3611880" cy="178308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754880"/>
            <a:ext cx="3429000" cy="1371600"/>
          </a:xfrm>
          <a:prstGeom prst="rect">
            <a:avLst/>
          </a:prstGeom>
          <a:noFill/>
        </p:spPr>
        <p:txBody>
          <a:bodyPr wrap="square">
            <a:spAutoFit/>
          </a:bodyPr>
          <a:lstStyle/>
          <a:p>
            <a:pPr algn="ctr"/>
            <a:r>
              <a:rPr sz="1600" b="1" i="0">
                <a:solidFill>
                  <a:srgbClr val="FFFFFF"/>
                </a:solidFill>
                <a:latin typeface="Calibri"/>
              </a:rPr>
              <a:t>6 Fully Functional
Modules</a:t>
            </a:r>
          </a:p>
        </p:txBody>
      </p:sp>
      <p:sp>
        <p:nvSpPr>
          <p:cNvPr id="19" name="Rectangle 18"/>
          <p:cNvSpPr/>
          <p:nvPr/>
        </p:nvSpPr>
        <p:spPr>
          <a:xfrm>
            <a:off x="4251960" y="4572000"/>
            <a:ext cx="3611880" cy="1783080"/>
          </a:xfrm>
          <a:prstGeom prst="rect">
            <a:avLst/>
          </a:prstGeom>
          <a:solidFill>
            <a:srgbClr val="1A6A3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4754880"/>
            <a:ext cx="3429000" cy="1371600"/>
          </a:xfrm>
          <a:prstGeom prst="rect">
            <a:avLst/>
          </a:prstGeom>
          <a:noFill/>
        </p:spPr>
        <p:txBody>
          <a:bodyPr wrap="square">
            <a:spAutoFit/>
          </a:bodyPr>
          <a:lstStyle/>
          <a:p>
            <a:pPr algn="ctr"/>
            <a:r>
              <a:rPr sz="1600" b="1" i="0">
                <a:solidFill>
                  <a:srgbClr val="FFFFFF"/>
                </a:solidFill>
                <a:latin typeface="Calibri"/>
              </a:rPr>
              <a:t>45-Step Guided
Walkthrough</a:t>
            </a:r>
          </a:p>
        </p:txBody>
      </p:sp>
      <p:sp>
        <p:nvSpPr>
          <p:cNvPr id="21" name="Rectangle 20"/>
          <p:cNvSpPr/>
          <p:nvPr/>
        </p:nvSpPr>
        <p:spPr>
          <a:xfrm>
            <a:off x="8046720" y="4572000"/>
            <a:ext cx="3611880" cy="178308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754880"/>
            <a:ext cx="3429000" cy="1371600"/>
          </a:xfrm>
          <a:prstGeom prst="rect">
            <a:avLst/>
          </a:prstGeom>
          <a:noFill/>
        </p:spPr>
        <p:txBody>
          <a:bodyPr wrap="square">
            <a:spAutoFit/>
          </a:bodyPr>
          <a:lstStyle/>
          <a:p>
            <a:pPr algn="ctr"/>
            <a:r>
              <a:rPr sz="1600" b="1" i="0">
                <a:solidFill>
                  <a:srgbClr val="1C1C2E"/>
                </a:solidFill>
                <a:latin typeface="Calibri"/>
              </a:rPr>
              <a:t>Technical Report
+ PRD Document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6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88952" cy="548640"/>
          </a:xfrm>
          <a:prstGeom prst="rect">
            <a:avLst/>
          </a:prstGeom>
          <a:solidFill>
            <a:srgbClr val="0D2040"/>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0" y="3200400"/>
            <a:ext cx="5788152"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74552" cy="594360"/>
          </a:xfrm>
          <a:prstGeom prst="rect">
            <a:avLst/>
          </a:prstGeom>
          <a:noFill/>
        </p:spPr>
        <p:txBody>
          <a:bodyPr wrap="square">
            <a:spAutoFit/>
          </a:bodyPr>
          <a:lstStyle/>
          <a:p>
            <a:pPr algn="ctr"/>
            <a:r>
              <a:rPr sz="3600" b="1" i="0">
                <a:solidFill>
                  <a:srgbClr val="FFFFFF"/>
                </a:solidFill>
                <a:latin typeface="Calibri"/>
              </a:rPr>
              <a:t>LPAI Nexus</a:t>
            </a:r>
          </a:p>
        </p:txBody>
      </p:sp>
      <p:sp>
        <p:nvSpPr>
          <p:cNvPr id="7" name="TextBox 6"/>
          <p:cNvSpPr txBox="1"/>
          <p:nvPr/>
        </p:nvSpPr>
        <p:spPr>
          <a:xfrm>
            <a:off x="457200" y="1737360"/>
            <a:ext cx="11274552" cy="457200"/>
          </a:xfrm>
          <a:prstGeom prst="rect">
            <a:avLst/>
          </a:prstGeom>
          <a:noFill/>
        </p:spPr>
        <p:txBody>
          <a:bodyPr wrap="square">
            <a:spAutoFit/>
          </a:bodyPr>
          <a:lstStyle/>
          <a:p>
            <a:pPr algn="ctr"/>
            <a:r>
              <a:rPr sz="2000" b="0" i="0">
                <a:solidFill>
                  <a:srgbClr val="D4881A"/>
                </a:solidFill>
                <a:latin typeface="Calibri"/>
              </a:rPr>
              <a:t>Smart Border Command Platform</a:t>
            </a:r>
          </a:p>
        </p:txBody>
      </p:sp>
      <p:sp>
        <p:nvSpPr>
          <p:cNvPr id="8" name="Rectangle 7"/>
          <p:cNvSpPr/>
          <p:nvPr/>
        </p:nvSpPr>
        <p:spPr>
          <a:xfrm>
            <a:off x="3200400" y="2286000"/>
            <a:ext cx="5788152" cy="36576"/>
          </a:xfrm>
          <a:prstGeom prst="rect">
            <a:avLst/>
          </a:prstGeom>
          <a:solidFill>
            <a:srgbClr val="D4881A"/>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68880"/>
            <a:ext cx="11274552" cy="365760"/>
          </a:xfrm>
          <a:prstGeom prst="rect">
            <a:avLst/>
          </a:prstGeom>
          <a:noFill/>
        </p:spPr>
        <p:txBody>
          <a:bodyPr wrap="square">
            <a:spAutoFit/>
          </a:bodyPr>
          <a:lstStyle/>
          <a:p>
            <a:pPr algn="ctr"/>
            <a:r>
              <a:rPr sz="1200" b="0" i="1">
                <a:solidFill>
                  <a:srgbClr val="CCDDFF"/>
                </a:solidFill>
                <a:latin typeface="Calibri"/>
              </a:rPr>
              <a:t>Presented by:</a:t>
            </a:r>
          </a:p>
        </p:txBody>
      </p:sp>
      <p:sp>
        <p:nvSpPr>
          <p:cNvPr id="10" name="TextBox 9"/>
          <p:cNvSpPr txBox="1"/>
          <p:nvPr/>
        </p:nvSpPr>
        <p:spPr>
          <a:xfrm>
            <a:off x="457200" y="2880360"/>
            <a:ext cx="11274552" cy="502920"/>
          </a:xfrm>
          <a:prstGeom prst="rect">
            <a:avLst/>
          </a:prstGeom>
          <a:noFill/>
        </p:spPr>
        <p:txBody>
          <a:bodyPr wrap="square">
            <a:spAutoFit/>
          </a:bodyPr>
          <a:lstStyle/>
          <a:p>
            <a:pPr algn="ctr"/>
            <a:r>
              <a:rPr sz="2200" b="1" i="0">
                <a:solidFill>
                  <a:srgbClr val="FFFFFF"/>
                </a:solidFill>
                <a:latin typeface="Calibri"/>
              </a:rPr>
              <a:t>Himanshu</a:t>
            </a:r>
          </a:p>
        </p:txBody>
      </p:sp>
      <p:sp>
        <p:nvSpPr>
          <p:cNvPr id="11" name="TextBox 10"/>
          <p:cNvSpPr txBox="1"/>
          <p:nvPr/>
        </p:nvSpPr>
        <p:spPr>
          <a:xfrm>
            <a:off x="457200" y="3429000"/>
            <a:ext cx="11274552" cy="365760"/>
          </a:xfrm>
          <a:prstGeom prst="rect">
            <a:avLst/>
          </a:prstGeom>
          <a:noFill/>
        </p:spPr>
        <p:txBody>
          <a:bodyPr wrap="square">
            <a:spAutoFit/>
          </a:bodyPr>
          <a:lstStyle/>
          <a:p>
            <a:pPr algn="ctr"/>
            <a:r>
              <a:rPr sz="1300" b="0" i="0">
                <a:solidFill>
                  <a:srgbClr val="CCDDFF"/>
                </a:solidFill>
                <a:latin typeface="Calibri"/>
              </a:rPr>
              <a:t>AI &amp; Software Engineering Intern  |  LPAI, MHA  |  2026</a:t>
            </a:r>
          </a:p>
        </p:txBody>
      </p:sp>
      <p:sp>
        <p:nvSpPr>
          <p:cNvPr id="12" name="TextBox 11"/>
          <p:cNvSpPr txBox="1"/>
          <p:nvPr/>
        </p:nvSpPr>
        <p:spPr>
          <a:xfrm>
            <a:off x="457200" y="3931920"/>
            <a:ext cx="11274552" cy="320040"/>
          </a:xfrm>
          <a:prstGeom prst="rect">
            <a:avLst/>
          </a:prstGeom>
          <a:noFill/>
        </p:spPr>
        <p:txBody>
          <a:bodyPr wrap="square">
            <a:spAutoFit/>
          </a:bodyPr>
          <a:lstStyle/>
          <a:p>
            <a:pPr algn="ctr"/>
            <a:r>
              <a:rPr sz="1100" b="0" i="1">
                <a:solidFill>
                  <a:srgbClr val="CCDDFF"/>
                </a:solidFill>
                <a:latin typeface="Calibri"/>
              </a:rPr>
              <a:t>Under the guidance of:</a:t>
            </a:r>
          </a:p>
        </p:txBody>
      </p:sp>
      <p:sp>
        <p:nvSpPr>
          <p:cNvPr id="13" name="TextBox 12"/>
          <p:cNvSpPr txBox="1"/>
          <p:nvPr/>
        </p:nvSpPr>
        <p:spPr>
          <a:xfrm>
            <a:off x="457200" y="4279392"/>
            <a:ext cx="11274552" cy="411480"/>
          </a:xfrm>
          <a:prstGeom prst="rect">
            <a:avLst/>
          </a:prstGeom>
          <a:noFill/>
        </p:spPr>
        <p:txBody>
          <a:bodyPr wrap="square">
            <a:spAutoFit/>
          </a:bodyPr>
          <a:lstStyle/>
          <a:p>
            <a:pPr algn="ctr"/>
            <a:r>
              <a:rPr sz="1400" b="1" i="0">
                <a:solidFill>
                  <a:srgbClr val="D4881A"/>
                </a:solidFill>
                <a:latin typeface="Calibri"/>
              </a:rPr>
              <a:t>[Reporting Officer Name]</a:t>
            </a:r>
          </a:p>
        </p:txBody>
      </p:sp>
      <p:sp>
        <p:nvSpPr>
          <p:cNvPr id="14" name="TextBox 13"/>
          <p:cNvSpPr txBox="1"/>
          <p:nvPr/>
        </p:nvSpPr>
        <p:spPr>
          <a:xfrm>
            <a:off x="457200" y="4736592"/>
            <a:ext cx="11274552" cy="320040"/>
          </a:xfrm>
          <a:prstGeom prst="rect">
            <a:avLst/>
          </a:prstGeom>
          <a:noFill/>
        </p:spPr>
        <p:txBody>
          <a:bodyPr wrap="square">
            <a:spAutoFit/>
          </a:bodyPr>
          <a:lstStyle/>
          <a:p>
            <a:pPr algn="ctr"/>
            <a:r>
              <a:rPr sz="1100" b="0" i="0">
                <a:solidFill>
                  <a:srgbClr val="CCDDFF"/>
                </a:solidFill>
                <a:latin typeface="Calibri"/>
              </a:rPr>
              <a:t>Senior Officer (Administration), Land Port Authority of India</a:t>
            </a:r>
          </a:p>
        </p:txBody>
      </p:sp>
      <p:sp>
        <p:nvSpPr>
          <p:cNvPr id="15" name="TextBox 14"/>
          <p:cNvSpPr txBox="1"/>
          <p:nvPr/>
        </p:nvSpPr>
        <p:spPr>
          <a:xfrm>
            <a:off x="274320" y="6355080"/>
            <a:ext cx="11612880" cy="365760"/>
          </a:xfrm>
          <a:prstGeom prst="rect">
            <a:avLst/>
          </a:prstGeom>
          <a:noFill/>
        </p:spPr>
        <p:txBody>
          <a:bodyPr wrap="square">
            <a:spAutoFit/>
          </a:bodyPr>
          <a:lstStyle/>
          <a:p>
            <a:pPr algn="ctr"/>
            <a:r>
              <a:rPr sz="900" b="0" i="0">
                <a:solidFill>
                  <a:srgbClr val="8899BB"/>
                </a:solidFill>
                <a:latin typeface="Calibri"/>
              </a:rPr>
              <a:t>Land Port Authority of India  |  Ministry of Home Affairs  |  Government of India
1st Floor, Lok Nayak Bhawan, Khan Market, New Delhi - 110003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